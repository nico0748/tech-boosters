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93"/>
  </p:normalViewPr>
  <p:slideViewPr>
    <p:cSldViewPr snapToGrid="0" snapToObjects="1">
      <p:cViewPr>
        <p:scale>
          <a:sx n="91" d="100"/>
          <a:sy n="91" d="100"/>
        </p:scale>
        <p:origin x="144" y="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14400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D9433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17804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39312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0E7C72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39312" y="717804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Webアプリ（サーバ）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64224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64224" y="717804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被害者のブラウザの中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9136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F08A24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89136" y="717804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被害者に見えていること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5499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5499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293876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1293876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掲示板に、スクリプトを</a:t>
            </a:r>
          </a:p>
          <a:p>
            <a:pPr algn="ctr"/>
            <a:r>
              <a:rPr sz="12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含む文字列を投稿する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9312" y="1293876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30752" y="1293876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投稿をそのまま</a:t>
            </a:r>
          </a:p>
          <a:p>
            <a:pPr algn="ctr"/>
            <a:r>
              <a:rPr sz="12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DBに保存する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1293876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089136" y="1293876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11480" y="25374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5374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2281428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2281428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あとは待つだけ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2281428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64224" y="2281428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089136" y="2281428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80576" y="2281428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いつもの掲示板を</a:t>
            </a:r>
          </a:p>
          <a:p>
            <a:pPr algn="ctr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開く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52501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35250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3268980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639312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30752" y="3268980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保存された投稿を</a:t>
            </a:r>
          </a:p>
          <a:p>
            <a:pPr algn="ctr"/>
            <a:r>
              <a:rPr sz="12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エスケープせずに</a:t>
            </a:r>
          </a:p>
          <a:p>
            <a:pPr algn="ctr"/>
            <a:r>
              <a:rPr sz="12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HTMLへ埋め込んで返す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55664" y="3268980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トークナイザが生の &lt; を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読み、script要素ができる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80576" y="3268980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いつも通りのページ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5125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5125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256532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639312" y="4256532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364224" y="4256532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55664" y="4256532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スクリプトが「そのサイトの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ページの一部」として動き、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Cookieや画面の情報を読む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9136" y="4256532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80576" y="4256532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何も起きていない</a:t>
            </a:r>
          </a:p>
          <a:p>
            <a:pPr algn="ctr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ように見える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550011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11480" y="550011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05840" y="5244084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受け取った情報で</a:t>
            </a:r>
          </a:p>
          <a:p>
            <a:pPr algn="ctr"/>
            <a:r>
              <a:rPr sz="12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被害者になりすます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39312" y="5244084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364224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55664" y="5244084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読んだ情報を、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攻撃者のサーバへ送る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89136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180576" y="5244084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気づかない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996696"/>
            <a:ext cx="16824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96696"/>
            <a:ext cx="16824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種類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996696"/>
            <a:ext cx="29626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94560" y="996696"/>
            <a:ext cx="29626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罠を仕込む場所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79" y="996696"/>
            <a:ext cx="305409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79" y="996696"/>
            <a:ext cx="305409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文字列をHTMLに入れるのは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996696"/>
            <a:ext cx="335584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996696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被害者が踏むきっかけ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4533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1682495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反射型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154533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31720" y="1545336"/>
            <a:ext cx="268833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罠URLのクエリ（? 以降）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79" y="154533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49240" y="1545336"/>
            <a:ext cx="277977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サーバ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リクエストの値を、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そのまま応答のHTMLに入れる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54533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1545336"/>
            <a:ext cx="3081528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攻撃者が送った罠URLを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被害者がクリックする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77977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779776"/>
            <a:ext cx="1682495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格納型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277977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31720" y="2779776"/>
            <a:ext cx="268833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掲示板の投稿など、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サーバに保存されるデータ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9" y="277977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49240" y="2779776"/>
            <a:ext cx="277977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サーバ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保存したデータを、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ページのHTMLに入れる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277977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58200" y="2779776"/>
            <a:ext cx="3081528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いつものページを開くだけ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（罠URLすら要らない）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01421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4014216"/>
            <a:ext cx="1682495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DOM型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401421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31720" y="4014216"/>
            <a:ext cx="268833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URLの # 以降など、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ページ内のJSが読む場所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9" y="401421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9240" y="4014216"/>
            <a:ext cx="277977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ブラウザ上のJavaScript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読んだ値を、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innerHTML などでDOMに入れる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401421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58200" y="4014216"/>
            <a:ext cx="3081528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罠URLをクリックする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（# 以降はサーバに送られない）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29400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254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29400" y="777240"/>
            <a:ext cx="1188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6040" y="4343400"/>
            <a:ext cx="5349239" cy="36576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</p:cNvCxnSpPr>
          <p:nvPr/>
        </p:nvCxnSpPr>
        <p:spPr>
          <a:xfrm flipH="1" flipV="1">
            <a:off x="2971800" y="6080760"/>
            <a:ext cx="4983479" cy="308751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④ HTMLパーサがscript要素を作り実行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届いたHTMLの中に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script要素ができてしまう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3577" y="4250835"/>
            <a:ext cx="3108960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86729" y="4250835"/>
            <a:ext cx="2962656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罠URL（?q=スクリプト）を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メールやSNSで送る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1256" y="2443482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14408" y="2443482"/>
            <a:ext cx="29626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罠URLでアクセス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6311" y="214714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449463" y="2147148"/>
            <a:ext cx="351129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クエリの値をそのまま応答のHTMLに入れて返す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6086973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096512" y="6086973"/>
            <a:ext cx="29626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dirty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⑤ </a:t>
            </a:r>
            <a:r>
              <a:rPr sz="1200" b="0" dirty="0" err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盗んだ情報を攻撃者へ送信</a:t>
            </a:r>
            <a:endParaRPr sz="1100" b="0" dirty="0">
              <a:solidFill>
                <a:srgbClr val="24404D"/>
              </a:solidFill>
              <a:latin typeface="Hiragino Sans"/>
              <a:ea typeface="Hiragino Sans"/>
              <a:cs typeface="Hiragin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74382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74382" y="777240"/>
            <a:ext cx="1188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  <a:endParaRPr sz="1400" b="1" dirty="0">
              <a:solidFill>
                <a:srgbClr val="24404D"/>
              </a:solidFill>
              <a:latin typeface="Hiragino Sans"/>
              <a:ea typeface="Hiragino Sans"/>
              <a:cs typeface="Hiragino Sans"/>
            </a:endParaRPr>
          </a:p>
        </p:txBody>
      </p:sp>
      <p:cxnSp>
        <p:nvCxnSpPr>
          <p:cNvPr id="12" name="Connector 11"/>
          <p:cNvCxnSpPr/>
          <p:nvPr/>
        </p:nvCxnSpPr>
        <p:spPr>
          <a:xfrm flipV="1">
            <a:off x="2606040" y="1737360"/>
            <a:ext cx="1965960" cy="23317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</p:cNvCxnSpPr>
          <p:nvPr/>
        </p:nvCxnSpPr>
        <p:spPr>
          <a:xfrm>
            <a:off x="5669280" y="1244600"/>
            <a:ext cx="2405102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cxnSpLocks/>
          </p:cNvCxnSpPr>
          <p:nvPr/>
        </p:nvCxnSpPr>
        <p:spPr>
          <a:xfrm flipH="1" flipV="1">
            <a:off x="2971800" y="6080760"/>
            <a:ext cx="4983479" cy="18288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⑤ HTMLパーサがscript要素を作り実行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保存された投稿が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script要素になる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8258" y="3035808"/>
            <a:ext cx="1783644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61410" y="3177427"/>
            <a:ext cx="168851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スクリプトを含む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投稿を送る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6421" y="1068724"/>
            <a:ext cx="192024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19573" y="1068724"/>
            <a:ext cx="17739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dirty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</a:t>
            </a:r>
            <a:r>
              <a:rPr sz="1200" b="0" dirty="0" err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そのまま保存</a:t>
            </a:r>
            <a:endParaRPr sz="1100" b="0" dirty="0">
              <a:solidFill>
                <a:srgbClr val="24404D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089986" y="2196197"/>
            <a:ext cx="1822027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63138" y="2303582"/>
            <a:ext cx="173628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いつものページを開く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8876" y="2499699"/>
            <a:ext cx="2596896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2028" y="2607084"/>
            <a:ext cx="2497967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④ 保存データをHTMLに入れて応答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96360" y="6071616"/>
            <a:ext cx="2208107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69512" y="6179001"/>
            <a:ext cx="2104196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⑥ 盗んだ情報を攻撃者へ送信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29400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254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29400" y="777240"/>
            <a:ext cx="1188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6040" y="4343400"/>
            <a:ext cx="5349239" cy="36576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</p:cNvCxnSpPr>
          <p:nvPr/>
        </p:nvCxnSpPr>
        <p:spPr>
          <a:xfrm flipH="1" flipV="1">
            <a:off x="2971800" y="6080760"/>
            <a:ext cx="4983479" cy="32004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④ ページ内のJSが # を読み、innerHTML でDOMに入れて実行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文字列をHTMLに入れるのは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サーバではなくブラウザ上のJS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60614" y="4191352"/>
            <a:ext cx="2322124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766" y="4332971"/>
            <a:ext cx="221284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罠URL（#スクリプト）を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メールやSNSで送る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532888"/>
            <a:ext cx="2711302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91272" y="2640273"/>
            <a:ext cx="25908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ページを取得（# 以降は送らない）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88080" y="2191688"/>
            <a:ext cx="259080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61232" y="2299073"/>
            <a:ext cx="2487168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普通のページ（JS入り）を応答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33766" y="6001864"/>
            <a:ext cx="2436797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06918" y="6109249"/>
            <a:ext cx="232212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⑤ 盗んだ情報を攻撃者へ送信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1280160"/>
            <a:ext cx="2185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バイト列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09928"/>
            <a:ext cx="218541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サーバからの応答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2606040"/>
            <a:ext cx="2002536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3C 70 3E E3 81 93 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08376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55848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20440" y="1280160"/>
            <a:ext cx="2185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① デコード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09928"/>
            <a:ext cx="218541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文字コードに従って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文字の並びにする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2606040"/>
            <a:ext cx="2002536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 p &gt; こ ん 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07024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280160"/>
            <a:ext cx="2185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② トークナイザ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218541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字句解析。1文字ずつ読み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「タグ」か「文字」かを決める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2606040"/>
            <a:ext cx="2002536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StartTag(p)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Character(こ) 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53144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17736" y="1280160"/>
            <a:ext cx="2185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③ ツリー構築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1709928"/>
            <a:ext cx="218541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トークンを積み上げて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DOMツリーを作る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17736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09176" y="2606040"/>
            <a:ext cx="2002536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html &gt; body &gt; p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└ "こんにちは"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10444" y="3493007"/>
            <a:ext cx="0" cy="393193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07424" y="39319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53144" y="3931920"/>
            <a:ext cx="2514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④ 描画（レイアウト・ペイント）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7424" y="46177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53144" y="4617720"/>
            <a:ext cx="2514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script要素ならJSエンジンで実行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1796" y="3493007"/>
            <a:ext cx="0" cy="393193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57200" y="3931920"/>
            <a:ext cx="8311896" cy="868680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041648"/>
            <a:ext cx="785469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「どこからどこまでがタグか」はトークナイザで決まる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0287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&lt;b&gt;太字&lt;/b&gt;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（生の &lt; が来た場合）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0477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7053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60477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タグ開始状態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7053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open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60477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タグ名状態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7053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name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8590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0" y="1595627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StartTag(b) を出力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961388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ツリーに b 要素ができる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8775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60320" y="153162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22392" y="1920240"/>
            <a:ext cx="676656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94960" y="1531620"/>
            <a:ext cx="7315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5703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0" y="153162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76606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&amp;lt;b&amp;gt;太字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（エスケープされて来た場合）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34213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789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91840" y="334213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文字参照状態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70789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Character reference 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26480" y="333298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Character(&lt;) を出力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698748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ただの「文字」として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322326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0" y="333298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データ状態に戻る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698748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画面に「&lt;b&gt;太字」と表示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8775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560320" y="32689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22392" y="3657600"/>
            <a:ext cx="676656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394960" y="3268980"/>
            <a:ext cx="7315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lt;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5703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5720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47598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トークナイザは「今どの状態か」と「次の1文字」だけで動く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47598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タグ開始状態に入れるのは、生の「&lt;」だけ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97890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&amp;lt; は文字参照状態を通り、「&lt;」という文字として出てくる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97890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&lt;script&gt; の中身は専用の状態（Script data state）で読まれる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898648" y="585216"/>
            <a:ext cx="6400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98648" y="585216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サーバのテンプレート　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500" b="1">
                <a:solidFill>
                  <a:srgbClr val="F08A24"/>
                </a:solidFill>
                <a:latin typeface="Menlo"/>
                <a:ea typeface="Menlo"/>
                <a:cs typeface="Menlo"/>
              </a:rPr>
              <a:t>{name}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エスケープしない場合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56816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&lt;b&gt;Nico&lt;/b&gt;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829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642616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&lt;/b&gt;</a:t>
            </a:r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5112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40480"/>
            <a:ext cx="1481328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9664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StartTag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98848"/>
            <a:ext cx="1261872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498848"/>
            <a:ext cx="12618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Nico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280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1521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EndTag 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57216"/>
            <a:ext cx="1042415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157216"/>
            <a:ext cx="10424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さん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1521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8979" y="3236976"/>
            <a:ext cx="24917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8979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06139" y="3621024"/>
            <a:ext cx="221742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"こんにちは、"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│ └ "Nico"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"さん"</a:t>
            </a:r>
          </a:p>
          <a:p>
            <a:pPr algn="l"/>
            <a:endParaRPr sz="1100" b="0">
              <a:solidFill>
                <a:srgbClr val="24404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要素が1つ増えた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28232" y="1517904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エスケープした場合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1956816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&amp;lt;b&amp;gt;Nico&amp;lt;/b&amp;gt;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236829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8232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19672" y="2642616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2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</a:t>
            </a:r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2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&amp;lt;/b&amp;gt;</a:t>
            </a:r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323697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8232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28232" y="35112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8232" y="3840480"/>
            <a:ext cx="1700784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232" y="3840480"/>
            <a:ext cx="17007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&lt;b&gt;Nico&lt;/b&gt;さん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8232" y="43708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28232" y="4370832"/>
            <a:ext cx="11521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1412" y="3236976"/>
            <a:ext cx="24917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1412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8572" y="3621024"/>
            <a:ext cx="221742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"こんにちは、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 &lt;b&gt;Nico&lt;/b&gt;さん"</a:t>
            </a:r>
          </a:p>
          <a:p>
            <a:pPr algn="l"/>
            <a:endParaRPr sz="1100" b="0">
              <a:solidFill>
                <a:srgbClr val="24404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テキスト1つのまま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html.escape() が置き換える5文字（上から順に実行）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444752" y="1883664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103120" y="1600200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3120" y="160020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&amp;amp;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600200"/>
            <a:ext cx="2194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必ず最初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13432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31343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444752" y="2596895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03120" y="2313432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03120" y="2313432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26664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26664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44752" y="3310128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103120" y="3026664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103120" y="3026664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39896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3739896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44752" y="4023360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03120" y="3739896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03120" y="3739896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&amp;quot;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739896"/>
            <a:ext cx="2194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53128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4453128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'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444752" y="4736592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103120" y="4453128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03120" y="4453128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&amp;#x27;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4453128"/>
            <a:ext cx="2194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097280"/>
            <a:ext cx="5330952" cy="25146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0" y="1207008"/>
            <a:ext cx="48737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なぜ「&amp;」を最初に置き換えるのか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664208"/>
            <a:ext cx="48737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順番を逆にすると（&lt; を先に置き換えると）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65960"/>
            <a:ext cx="4873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&amp;amp;lt;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423159"/>
            <a:ext cx="48737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自分が作った &amp; まで置き換えてしまい、画面に「&amp;lt;」と出る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834640"/>
            <a:ext cx="48737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&amp; を先に置き換えれば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3108960"/>
            <a:ext cx="4873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2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　画面には「&lt;」と出る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794760"/>
            <a:ext cx="533095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400" y="3931920"/>
            <a:ext cx="487375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 ＝ 文字を消すことではない</a:t>
            </a:r>
          </a:p>
          <a:p>
            <a:pPr algn="l"/>
            <a:endParaRPr sz="1400" b="1">
              <a:solidFill>
                <a:srgbClr val="0E7C72"/>
              </a:solidFill>
              <a:latin typeface="Hiragino Sans"/>
              <a:ea typeface="Hiragino Sans"/>
              <a:cs typeface="Hiragino Sans"/>
            </a:endParaRP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トークナイザが特別扱いする文字を、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文字参照（</a:t>
            </a:r>
            <a:r>
              <a:rPr sz="12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など）に言い換えるだけ。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822960"/>
            <a:ext cx="245973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24597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埋め込む場所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822960"/>
            <a:ext cx="2276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71800" y="822960"/>
            <a:ext cx="2276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トークナイザの状態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822960"/>
            <a:ext cx="19110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0" y="822960"/>
            <a:ext cx="19110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そこから抜け出す文字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79" y="822960"/>
            <a:ext cx="1133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69479" y="82296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文字参照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822960"/>
            <a:ext cx="321868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58200" y="822960"/>
            <a:ext cx="3218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必要な対策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971800" y="1371600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303520" y="1371600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69479" y="1371600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458200" y="1371600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1499615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本文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8745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&lt;p&gt;{v}&lt;/p&gt;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371600"/>
            <a:ext cx="209397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371600"/>
            <a:ext cx="1911095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1371600"/>
            <a:ext cx="113385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1371600"/>
            <a:ext cx="2944368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450592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971800" y="2450592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303520" y="2450592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269479" y="2450592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458200" y="2450592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2578608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属性値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953511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title="{v}"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450592"/>
            <a:ext cx="209397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(double-quoted)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450592"/>
            <a:ext cx="1911095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79" y="2450592"/>
            <a:ext cx="113385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450592"/>
            <a:ext cx="2944368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HTMLエスケープ（" を含む）</a:t>
            </a:r>
          </a:p>
          <a:p>
            <a:pPr algn="l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＋ 属性値は必ず " で囲む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529584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971800" y="3529584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303520" y="3529584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269479" y="3529584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8458200" y="3529584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365760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script要素の中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3250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&lt;script&gt;…{v}…&lt;/script&gt;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3529584"/>
            <a:ext cx="209397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 data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3529584"/>
            <a:ext cx="1911095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&lt;/script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79" y="3529584"/>
            <a:ext cx="113385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解釈されない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529584"/>
            <a:ext cx="2944368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HTMLエスケープは効かない</a:t>
            </a:r>
          </a:p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JSONにして &lt; を \u003c にする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608576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2971800" y="4608576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303520" y="4608576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269479" y="4608576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8458200" y="4608576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6928" y="47365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URLを入れる属性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111496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href="{v}"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3240" y="4608576"/>
            <a:ext cx="209397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 state</a:t>
            </a:r>
          </a:p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その後URLとして解釈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4608576"/>
            <a:ext cx="1911095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（抜け出さない）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79" y="4608576"/>
            <a:ext cx="113385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4608576"/>
            <a:ext cx="2944368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HTMLエスケープだけでは足りない</a:t>
            </a:r>
          </a:p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スキームを http / https に限定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1053</Words>
  <Application>Microsoft Macintosh PowerPoint</Application>
  <PresentationFormat>ワイド画面</PresentationFormat>
  <Paragraphs>262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Hiragino Sans</vt:lpstr>
      <vt:lpstr>Arial</vt:lpstr>
      <vt:lpstr>Calibri</vt:lpstr>
      <vt:lpstr>Menlo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細澤　悠真</cp:lastModifiedBy>
  <cp:revision>3</cp:revision>
  <dcterms:created xsi:type="dcterms:W3CDTF">2013-01-27T09:14:16Z</dcterms:created>
  <dcterms:modified xsi:type="dcterms:W3CDTF">2026-10-12T16:39:49Z</dcterms:modified>
  <cp:category/>
</cp:coreProperties>
</file>