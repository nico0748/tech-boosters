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56" r:id="rId7"/>
    <p:sldId id="257" r:id="rId8"/>
    <p:sldId id="258" r:id="rId9"/>
    <p:sldId id="259" r:id="rId10"/>
    <p:sldId id="260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08"/>
    <p:restoredTop sz="94693"/>
  </p:normalViewPr>
  <p:slideViewPr>
    <p:cSldViewPr snapToGrid="0" snapToObjects="1">
      <p:cViewPr>
        <p:scale>
          <a:sx n="91" d="100"/>
          <a:sy n="91" d="100"/>
        </p:scale>
        <p:origin x="144" y="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14400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17804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39312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0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39312" y="717804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Webアプリ（サーバ）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64224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64224" y="717804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被害者のブラウザの中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9136" y="717804"/>
            <a:ext cx="2633472" cy="457200"/>
          </a:xfrm>
          <a:prstGeom prst="roundRect">
            <a:avLst>
              <a:gd name="adj" fmla="val 15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89136" y="717804"/>
            <a:ext cx="263347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被害者に見えていること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54990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5499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293876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1293876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掲示板に、スクリプトを</a:t>
            </a:r>
          </a:p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含む文字列を投稿する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39312" y="1293876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30752" y="1293876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投稿をそのまま</a:t>
            </a:r>
          </a:p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DBに保存する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64224" y="1293876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089136" y="1293876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11480" y="253746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25374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2281428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2281428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あとは待つだけ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39312" y="2281428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364224" y="2281428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089136" y="2281428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80576" y="2281428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いつもの掲示板を</a:t>
            </a:r>
          </a:p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開く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52501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" y="352501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3268980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639312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30752" y="3268980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保存された投稿を</a:t>
            </a:r>
          </a:p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エスケープせずに</a:t>
            </a:r>
          </a:p>
          <a:p>
            <a:pPr algn="ctr"/>
            <a:r>
              <a:rPr sz="115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HTMLへ埋め込んで返す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55664" y="3268980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トークナイザが生の &lt; を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読み、script要素ができる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9136" y="3268980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80576" y="3268980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いつも通りのページ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451256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451256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4256532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639312" y="4256532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6364224" y="4256532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55664" y="4256532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スクリプトが「そのサイトの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ページの一部」として動き、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Cookieや画面の情報を読む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89136" y="4256532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80576" y="4256532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何も起きていない</a:t>
            </a:r>
          </a:p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ように見える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5500116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11480" y="550011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05840" y="5244084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受け取った情報で</a:t>
            </a:r>
          </a:p>
          <a:p>
            <a:pPr algn="ctr"/>
            <a:r>
              <a:rPr sz="115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被害者になりすます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39312" y="5244084"/>
            <a:ext cx="2633472" cy="896112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4E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364224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55664" y="5244084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読んだ情報を、</a:t>
            </a:r>
          </a:p>
          <a:p>
            <a:pPr algn="ctr"/>
            <a:r>
              <a:rPr sz="115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攻撃者のサーバへ送る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89136" y="5244084"/>
            <a:ext cx="2633472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180576" y="5244084"/>
            <a:ext cx="2450591" cy="8961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気づかない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996696"/>
            <a:ext cx="1682495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96696"/>
            <a:ext cx="16824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種類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194560" y="996696"/>
            <a:ext cx="29626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94560" y="996696"/>
            <a:ext cx="29626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罠を仕込む場所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79" y="996696"/>
            <a:ext cx="305409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212079" y="996696"/>
            <a:ext cx="305409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文字列をHTMLに入れるのは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996696"/>
            <a:ext cx="3355848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21040" y="996696"/>
            <a:ext cx="335584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被害者が踏むきっかけ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54533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545336"/>
            <a:ext cx="1682495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反射型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154533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31720" y="1545336"/>
            <a:ext cx="268833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罠URLのクエリ（? 以降）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79" y="154533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49240" y="1545336"/>
            <a:ext cx="277977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サーバ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リクエストの値を、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そのまま応答のHTMLに入れる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54533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1545336"/>
            <a:ext cx="3081528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攻撃者が送った罠URLを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被害者がクリックする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77977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779776"/>
            <a:ext cx="1682495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格納型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94560" y="277977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331720" y="2779776"/>
            <a:ext cx="268833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掲示板の投稿など、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サーバに保存されるデータ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9" y="277977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49240" y="2779776"/>
            <a:ext cx="277977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サーバ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保存したデータを、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ページのHTMLに入れる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21040" y="277977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58200" y="2779776"/>
            <a:ext cx="3081528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いつものページを開くだけ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（罠URLすら要らない）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014216"/>
            <a:ext cx="1682495" cy="114300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4014216"/>
            <a:ext cx="1682495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DOM型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4014216"/>
            <a:ext cx="2962656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331720" y="4014216"/>
            <a:ext cx="268833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URLの # 以降など、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ページ内のJSが読む場所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9" y="4014216"/>
            <a:ext cx="3054096" cy="114300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49240" y="4014216"/>
            <a:ext cx="2779776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ブラウザ上のJavaScript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読んだ値を、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innerHTML などでDOMに入れる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4014216"/>
            <a:ext cx="3355848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58200" y="4014216"/>
            <a:ext cx="3081528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罠URLをクリックする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（# 以降はサーバに送られない）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294376"/>
            <a:ext cx="11247120" cy="56692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0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85800" y="5294376"/>
            <a:ext cx="107899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どの型でも、最後にスクリプトが動くのは被害者のブラウザの中。違うのは「罠の置き場所」と「誰がHTMLに入れるか」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931920" y="777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931920" y="777240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Webサーバ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29400" y="777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 w="254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29400" y="777240"/>
            <a:ext cx="1188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77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55778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攻撃者の回収サーバ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154680"/>
            <a:ext cx="3749039" cy="3337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2540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06040" y="4343400"/>
            <a:ext cx="5349239" cy="36576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5394960" y="1737360"/>
            <a:ext cx="329184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0" y="1737360"/>
            <a:ext cx="3108960" cy="141732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</p:cNvCxnSpPr>
          <p:nvPr/>
        </p:nvCxnSpPr>
        <p:spPr>
          <a:xfrm flipH="1" flipV="1">
            <a:off x="2971800" y="6080760"/>
            <a:ext cx="4983479" cy="308751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83879" y="3840480"/>
            <a:ext cx="3291840" cy="141732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2286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393192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④ HTMLパーサがscript要素を作り実行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590288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届いたHTMLの中に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script要素ができてしまう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5440680"/>
            <a:ext cx="36575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Cookie・画面の情報を読み、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  攻撃者の回収サーバへ送る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3577" y="4250835"/>
            <a:ext cx="3108960" cy="6217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86729" y="4250835"/>
            <a:ext cx="2962656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① 罠URL（?q=スクリプト）を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メールやSNSで送る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1256" y="2443482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14408" y="2443482"/>
            <a:ext cx="29626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② 罠URLでアクセス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6311" y="2147148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449463" y="2147148"/>
            <a:ext cx="351129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③ クエリの値をそのまま応答のHTMLに入れて返す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6086973"/>
            <a:ext cx="310896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096512" y="6086973"/>
            <a:ext cx="296265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⑤ </a:t>
            </a:r>
            <a:r>
              <a:rPr sz="1100" b="0" dirty="0" err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盗んだ情報を攻撃者へ送信</a:t>
            </a:r>
            <a:endParaRPr sz="1100" b="0" dirty="0">
              <a:solidFill>
                <a:srgbClr val="24404D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点線の DB はこの型では使われない。罠の文字列はサーバを素通りして（保存されず）すぐ応答に反射される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931920" y="777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931920" y="777240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Webサーバ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074382" y="777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74382" y="777240"/>
            <a:ext cx="1188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77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55778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攻撃者の回収サーバ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154680"/>
            <a:ext cx="3749039" cy="3337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2540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</a:t>
            </a:r>
            <a:endParaRPr sz="1400" b="1" dirty="0">
              <a:solidFill>
                <a:srgbClr val="24404D"/>
              </a:solidFill>
              <a:latin typeface="Hiragino Sans"/>
              <a:ea typeface="Hiragino Sans"/>
              <a:cs typeface="Hiragino Sans"/>
            </a:endParaRPr>
          </a:p>
        </p:txBody>
      </p:sp>
      <p:cxnSp>
        <p:nvCxnSpPr>
          <p:cNvPr id="12" name="Connector 11"/>
          <p:cNvCxnSpPr/>
          <p:nvPr/>
        </p:nvCxnSpPr>
        <p:spPr>
          <a:xfrm flipV="1">
            <a:off x="2606040" y="1737360"/>
            <a:ext cx="1965960" cy="233172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</p:cNvCxnSpPr>
          <p:nvPr/>
        </p:nvCxnSpPr>
        <p:spPr>
          <a:xfrm>
            <a:off x="5669280" y="1244600"/>
            <a:ext cx="2405102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5394960" y="1737360"/>
            <a:ext cx="329184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120640" y="1737360"/>
            <a:ext cx="3108960" cy="141732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cxnSpLocks/>
          </p:cNvCxnSpPr>
          <p:nvPr/>
        </p:nvCxnSpPr>
        <p:spPr>
          <a:xfrm flipH="1" flipV="1">
            <a:off x="2971800" y="6080760"/>
            <a:ext cx="4983479" cy="18288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83879" y="3840480"/>
            <a:ext cx="3291840" cy="141732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2286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393192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⑤ HTMLパーサがscript要素を作り実行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90288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保存された投稿が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script要素になる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440680"/>
            <a:ext cx="36575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Cookie・画面の情報を読み、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  攻撃者の回収サーバへ送る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8258" y="3035808"/>
            <a:ext cx="1783644" cy="6217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61410" y="3177427"/>
            <a:ext cx="168851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① スクリプトを含む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投稿を送る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6421" y="1068724"/>
            <a:ext cx="192024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19573" y="1068724"/>
            <a:ext cx="1773936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② </a:t>
            </a:r>
            <a:r>
              <a:rPr sz="1100" b="0" dirty="0" err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そのまま保存</a:t>
            </a:r>
            <a:endParaRPr sz="1100" b="0" dirty="0">
              <a:solidFill>
                <a:srgbClr val="24404D"/>
              </a:solidFill>
              <a:latin typeface="Hiragino Sans"/>
              <a:ea typeface="Hiragino Sans"/>
              <a:cs typeface="Hiragino San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089986" y="2196197"/>
            <a:ext cx="1822027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63138" y="2303582"/>
            <a:ext cx="1736285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③ いつものページを開く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8876" y="2499699"/>
            <a:ext cx="2596896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2028" y="2607084"/>
            <a:ext cx="2497967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④ 保存データをHTMLに入れて応答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96360" y="6071616"/>
            <a:ext cx="2208107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69512" y="6179001"/>
            <a:ext cx="2104196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⑥ 盗んだ情報を攻撃者へ送信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罠は DB に保存される。被害者は罠URLすら踏まず、普通にページを開くだけで発動する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931920" y="777240"/>
            <a:ext cx="1737360" cy="960120"/>
          </a:xfrm>
          <a:prstGeom prst="roundRect">
            <a:avLst>
              <a:gd name="adj" fmla="val 12000"/>
            </a:avLst>
          </a:prstGeom>
          <a:solidFill>
            <a:srgbClr val="E6F5F2"/>
          </a:solidFill>
          <a:ln w="254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931920" y="777240"/>
            <a:ext cx="17373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Webサーバ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29400" y="777240"/>
            <a:ext cx="1188720" cy="960120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 w="254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29400" y="777240"/>
            <a:ext cx="11887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931920"/>
            <a:ext cx="2103120" cy="96012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577840"/>
            <a:ext cx="2468880" cy="914400"/>
          </a:xfrm>
          <a:prstGeom prst="roundRect">
            <a:avLst>
              <a:gd name="adj" fmla="val 12000"/>
            </a:avLst>
          </a:prstGeom>
          <a:solidFill>
            <a:srgbClr val="FBEBEA"/>
          </a:solidFill>
          <a:ln w="254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5577840"/>
            <a:ext cx="24688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攻撃者の回収サーバ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154680"/>
            <a:ext cx="3749039" cy="333756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25400">
            <a:solidFill>
              <a:srgbClr val="244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79" y="3291840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06040" y="4343400"/>
            <a:ext cx="5349239" cy="36576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5394960" y="1737360"/>
            <a:ext cx="329184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20640" y="1737360"/>
            <a:ext cx="3108960" cy="141732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cxnSpLocks/>
          </p:cNvCxnSpPr>
          <p:nvPr/>
        </p:nvCxnSpPr>
        <p:spPr>
          <a:xfrm flipH="1" flipV="1">
            <a:off x="2971800" y="6080760"/>
            <a:ext cx="4983479" cy="32004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83879" y="3840480"/>
            <a:ext cx="3291840" cy="1417320"/>
          </a:xfrm>
          <a:prstGeom prst="roundRect">
            <a:avLst>
              <a:gd name="adj" fmla="val 10000"/>
            </a:avLst>
          </a:prstGeom>
          <a:solidFill>
            <a:srgbClr val="FBEBEA"/>
          </a:solidFill>
          <a:ln w="2286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3931920"/>
            <a:ext cx="3017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④ ページ内のJSが # を読み、innerHTML でDOMに入れて実行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590288"/>
            <a:ext cx="301752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文字列をHTMLに入れるのは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サーバではなくブラウザ上のJS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5440680"/>
            <a:ext cx="365759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Cookie・画面の情報を読み、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  攻撃者の回収サーバへ送る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60614" y="4191352"/>
            <a:ext cx="2322124" cy="62179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33766" y="4332971"/>
            <a:ext cx="221284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① 罠URL（#スクリプト）を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メールやSNSで送る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532888"/>
            <a:ext cx="2711302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91272" y="2640273"/>
            <a:ext cx="25908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② ページを取得（# 以降は送らない）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88080" y="2191688"/>
            <a:ext cx="259080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5E76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61232" y="2299073"/>
            <a:ext cx="2487168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③ 普通のページ（JS入り）を応答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33766" y="6001864"/>
            <a:ext cx="2436797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06918" y="6109249"/>
            <a:ext cx="2322124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⑤ 盗んだ情報を攻撃者へ送信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文字列をHTMLに入れるのはサーバではなくブラウザ上のJavaScript。# 以降はサーバに届かない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1280160"/>
            <a:ext cx="21854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バイト列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709928"/>
            <a:ext cx="218541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サーバからの応答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2606040"/>
            <a:ext cx="2002536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3C 70 3E E3 81 93 …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08376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55848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20440" y="1280160"/>
            <a:ext cx="21854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① デコード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709928"/>
            <a:ext cx="218541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文字コードに従って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文字の並びにする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11880" y="2606040"/>
            <a:ext cx="2002536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 p &gt; こ ん 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07024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19088" y="1280160"/>
            <a:ext cx="21854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② トークナイザ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709928"/>
            <a:ext cx="218541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字句解析。1文字ずつ読み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「タグ」か「文字」かを決める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19088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2606040"/>
            <a:ext cx="2002536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StartTag(p)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Character(こ) 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05672" y="2308860"/>
            <a:ext cx="31089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53144" y="1143000"/>
            <a:ext cx="2514600" cy="2331720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17736" y="1280160"/>
            <a:ext cx="218541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③ ツリー構築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1709928"/>
            <a:ext cx="2185416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トークンを積み上げて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DOMツリーを作る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17736" y="2532888"/>
            <a:ext cx="218541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09176" y="2606040"/>
            <a:ext cx="2002536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html &gt; body &gt; p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└ "こんにちは"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10444" y="3493007"/>
            <a:ext cx="0" cy="393193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107424" y="39319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53144" y="3931920"/>
            <a:ext cx="25146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④ 描画（レイアウト・ペイント）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07424" y="4617720"/>
            <a:ext cx="2606040" cy="56692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53144" y="4617720"/>
            <a:ext cx="25146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script要素ならJSエンジンで実行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511796" y="3493007"/>
            <a:ext cx="0" cy="393193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57200" y="3931920"/>
            <a:ext cx="8311896" cy="1252728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041648"/>
            <a:ext cx="7854696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「どこからどこまでがタグか」はトークナイザで決まる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サーバは文字列を埋め込んだだけ。それを「文字」と読むか「タグ」と読むかは、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被害者のブラウザのトークナイザが、</a:t>
            </a:r>
            <a:r>
              <a:rPr sz="1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を見た瞬間に決めている（SQLiでいう字句解析と同じ役割）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44068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13.2「Parsing HTML documents」（13.2.3 入力バイトストリーム / 13.2.5 トークン化 / 13.2.6 ツリー構築）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0287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&lt;b&gt;太字&lt;/b&gt;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（生の &lt; が来た場合）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04772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7053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0" y="1604772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タグ開始状態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97053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open state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48590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6480" y="1604772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タグ名状態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97053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Tag name state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148590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961120" y="1595627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StartTag(b) を出力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961388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ツリーに b 要素ができる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8775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560320" y="153162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22392" y="1920240"/>
            <a:ext cx="676656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394960" y="1531620"/>
            <a:ext cx="7315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b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57031" y="1920240"/>
            <a:ext cx="676657" cy="0"/>
          </a:xfrm>
          <a:prstGeom prst="line">
            <a:avLst/>
          </a:prstGeom>
          <a:ln w="25400">
            <a:solidFill>
              <a:srgbClr val="D943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0" y="153162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76606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入力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&amp;lt;b&amp;gt;太字</a:t>
            </a:r>
            <a:r>
              <a:rPr sz="13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　（エスケープされて来た場合）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342132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0789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91840" y="3342132"/>
            <a:ext cx="210312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文字参照状態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70789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Character reference state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223260"/>
            <a:ext cx="210312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126480" y="3332988"/>
            <a:ext cx="2103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Character(&lt;) を出力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698748"/>
            <a:ext cx="2103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ただの「文字」として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61120" y="3223260"/>
            <a:ext cx="2697480" cy="8686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0" y="3332988"/>
            <a:ext cx="2697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データ状態に戻る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3698748"/>
            <a:ext cx="2697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画面に「&lt;b&gt;太字」と表示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8775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560320" y="326898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22392" y="3657600"/>
            <a:ext cx="676656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394960" y="3268980"/>
            <a:ext cx="7315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lt;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257031" y="3657600"/>
            <a:ext cx="676657" cy="0"/>
          </a:xfrm>
          <a:prstGeom prst="line">
            <a:avLst/>
          </a:prstGeom>
          <a:ln w="25400">
            <a:solidFill>
              <a:srgbClr val="0E7C7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5720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4475988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トークナイザは「今どの状態か」と「次の1文字」だけで動く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445770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4475988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タグ開始状態に入れるのは、生の「&lt;」だけ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4978908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&amp;lt; は文字参照状態を通り、「&lt;」という文字として出てくる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126480" y="4960620"/>
            <a:ext cx="384048" cy="384048"/>
          </a:xfrm>
          <a:prstGeom prst="roundRect">
            <a:avLst>
              <a:gd name="adj" fmla="val 12000"/>
            </a:avLst>
          </a:prstGeom>
          <a:solidFill>
            <a:srgbClr val="F0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Hiragino Sans"/>
              </a:rP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4978908"/>
            <a:ext cx="475488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&lt;script&gt; の中身は専用の状態（Script data state）で読まれる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554980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13.2.5「Tokenization」（13.2.5.1 Data state / 13.2.5.6 Tag open state / 13.2.5.77 Character reference state）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898648" y="585216"/>
            <a:ext cx="640080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98648" y="585216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サーバのテンプレート　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500" b="1">
                <a:solidFill>
                  <a:srgbClr val="F08A24"/>
                </a:solidFill>
                <a:latin typeface="Menlo"/>
                <a:ea typeface="Menlo"/>
                <a:cs typeface="Menlo"/>
              </a:rPr>
              <a:t>{name}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17904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エスケープしない場合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56816"/>
            <a:ext cx="5074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&lt;b&gt;Nico&lt;/b&gt;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68296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642616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15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15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&lt;/b&gt;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36976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5112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40480"/>
            <a:ext cx="1481328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69664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696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StartTag 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498848"/>
            <a:ext cx="1261872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498848"/>
            <a:ext cx="126187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Nico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8280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D94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4828032"/>
            <a:ext cx="11521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EndTag 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57216"/>
            <a:ext cx="1042415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157216"/>
            <a:ext cx="10424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さん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486400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5486400"/>
            <a:ext cx="11521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8979" y="3236976"/>
            <a:ext cx="24917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68979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06139" y="3621024"/>
            <a:ext cx="221742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"こんにちは、"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├ </a:t>
            </a:r>
            <a:r>
              <a:rPr sz="11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&lt;b&gt;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│ └ "Nico"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"さん"</a:t>
            </a:r>
          </a:p>
          <a:p>
            <a:pPr algn="l"/>
            <a:endParaRPr sz="1100" b="0">
              <a:solidFill>
                <a:srgbClr val="24404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1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要素が1つ増えた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1408176"/>
            <a:ext cx="5532120" cy="4617720"/>
          </a:xfrm>
          <a:prstGeom prst="roundRect">
            <a:avLst>
              <a:gd name="adj" fmla="val 4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28232" y="1517904"/>
            <a:ext cx="5074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エスケープした場合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28232" y="1956816"/>
            <a:ext cx="5074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name = </a:t>
            </a:r>
            <a:r>
              <a:rPr sz="13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&amp;lt;b&amp;gt;Nico&amp;lt;/b&amp;gt;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8232" y="2368296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埋め込み後のHTML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28232" y="2642616"/>
            <a:ext cx="50749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19672" y="2642616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&lt;p&gt;こんにちは、</a:t>
            </a:r>
            <a:r>
              <a:rPr sz="115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&amp;lt;b&amp;gt;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Nico</a:t>
            </a:r>
            <a:r>
              <a:rPr sz="115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&amp;lt;/b&amp;gt;</a:t>
            </a:r>
            <a:r>
              <a:rPr sz="11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さん&lt;/p&gt;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3236976"/>
            <a:ext cx="5074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② トークナイザが出すトークン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28232" y="3511296"/>
            <a:ext cx="1371600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28232" y="351129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StartTag 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28232" y="3840480"/>
            <a:ext cx="1700784" cy="475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28232" y="3840480"/>
            <a:ext cx="1700784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Char こんにちは、</a:t>
            </a:r>
          </a:p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&lt;b&gt;Nico&lt;/b&gt;さん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28232" y="4370832"/>
            <a:ext cx="1152144" cy="2743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28232" y="4370832"/>
            <a:ext cx="11521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EndTag 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11412" y="3236976"/>
            <a:ext cx="24917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③ できるDOMツリー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11412" y="3511296"/>
            <a:ext cx="249174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8572" y="3621024"/>
            <a:ext cx="221742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└ "こんにちは、</a:t>
            </a:r>
          </a:p>
          <a:p>
            <a:pPr algn="l"/>
            <a:r>
              <a:rPr sz="11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   &lt;b&gt;Nico&lt;/b&gt;さん"</a:t>
            </a:r>
          </a:p>
          <a:p>
            <a:pPr algn="l"/>
            <a:endParaRPr sz="1100" b="0">
              <a:solidFill>
                <a:srgbClr val="24404D"/>
              </a:solidFill>
              <a:latin typeface="Menlo"/>
              <a:ea typeface="Menlo"/>
              <a:cs typeface="Menlo"/>
            </a:endParaRPr>
          </a:p>
          <a:p>
            <a:pPr algn="l"/>
            <a:r>
              <a:rPr sz="11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テキスト1つのまま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097280"/>
            <a:ext cx="5669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html.escape() が置き換える5文字（上から順に実行）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00200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&amp;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444752" y="1883664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103120" y="1600200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03120" y="1600200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&amp;amp;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600200"/>
            <a:ext cx="2194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F08A24"/>
                </a:solidFill>
                <a:latin typeface="Hiragino Sans"/>
                <a:ea typeface="Hiragino Sans"/>
                <a:cs typeface="Hiragino Sans"/>
              </a:rPr>
              <a:t>必ず最初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313432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313432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444752" y="2596895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03120" y="2313432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03120" y="2313432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26664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026664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&gt;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1444752" y="3310128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103120" y="3026664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103120" y="3026664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&amp;gt;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39896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3739896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444752" y="4023360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103120" y="3739896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103120" y="3739896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&amp;quot;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3739896"/>
            <a:ext cx="2194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quote=True のとき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453128"/>
            <a:ext cx="914400" cy="566928"/>
          </a:xfrm>
          <a:prstGeom prst="roundRect">
            <a:avLst>
              <a:gd name="adj" fmla="val 20000"/>
            </a:avLst>
          </a:prstGeom>
          <a:solidFill>
            <a:srgbClr val="FBEBEA"/>
          </a:solidFill>
          <a:ln w="1905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4453128"/>
            <a:ext cx="9144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'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1444752" y="4736592"/>
            <a:ext cx="585216" cy="0"/>
          </a:xfrm>
          <a:prstGeom prst="line">
            <a:avLst/>
          </a:prstGeom>
          <a:ln w="25400">
            <a:solidFill>
              <a:srgbClr val="5E76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2103120" y="4453128"/>
            <a:ext cx="1737360" cy="566928"/>
          </a:xfrm>
          <a:prstGeom prst="roundRect">
            <a:avLst>
              <a:gd name="adj" fmla="val 20000"/>
            </a:avLst>
          </a:prstGeom>
          <a:solidFill>
            <a:srgbClr val="E6F5F2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03120" y="4453128"/>
            <a:ext cx="1737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&amp;#x27;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4453128"/>
            <a:ext cx="21945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quote=True のとき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1097280"/>
            <a:ext cx="5330952" cy="2514600"/>
          </a:xfrm>
          <a:prstGeom prst="roundRect">
            <a:avLst>
              <a:gd name="adj" fmla="val 6000"/>
            </a:avLst>
          </a:prstGeom>
          <a:solidFill>
            <a:srgbClr val="F1F3F4"/>
          </a:solidFill>
          <a:ln w="1905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29400" y="1207008"/>
            <a:ext cx="48737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なぜ「&amp;」を最初に置き換えるのか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664208"/>
            <a:ext cx="48737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順番を逆にすると（&lt; を先に置き換えると）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65960"/>
            <a:ext cx="4873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&amp;amp;lt;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423159"/>
            <a:ext cx="48737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自分が作った &amp; まで置き換えてしまい、画面に「&amp;lt;」と出る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834640"/>
            <a:ext cx="48737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&amp; を先に置き換えれば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3108960"/>
            <a:ext cx="487375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</a:t>
            </a:r>
            <a:r>
              <a:rPr sz="15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  →  </a:t>
            </a:r>
            <a:r>
              <a:rPr sz="1500" b="1">
                <a:solidFill>
                  <a:srgbClr val="0E7C72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100" b="0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　画面には「&lt;」と出る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00800" y="3794760"/>
            <a:ext cx="5330952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29400" y="3931920"/>
            <a:ext cx="487375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エスケープ ＝ 文字を消すことではない</a:t>
            </a:r>
          </a:p>
          <a:p>
            <a:pPr algn="l"/>
            <a:endParaRPr sz="1400" b="1">
              <a:solidFill>
                <a:srgbClr val="0E7C72"/>
              </a:solidFill>
              <a:latin typeface="Hiragino Sans"/>
              <a:ea typeface="Hiragino Sans"/>
              <a:cs typeface="Hiragino Sans"/>
            </a:endParaRP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トークナイザが特別扱いする文字を、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文字参照（</a:t>
            </a:r>
            <a:r>
              <a:rPr sz="1200" b="1">
                <a:solidFill>
                  <a:srgbClr val="24404D"/>
                </a:solidFill>
                <a:latin typeface="Menlo"/>
                <a:ea typeface="Menlo"/>
                <a:cs typeface="Menlo"/>
              </a:rPr>
              <a:t>&amp;lt;</a:t>
            </a:r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 など）に言い換えるだけ。</a:t>
            </a:r>
          </a:p>
          <a:p>
            <a:pPr algn="l"/>
            <a:endParaRPr sz="1200" b="0">
              <a:solidFill>
                <a:srgbClr val="24404D"/>
              </a:solidFill>
              <a:latin typeface="Hiragino Sans"/>
              <a:ea typeface="Hiragino Sans"/>
              <a:cs typeface="Hiragino Sans"/>
            </a:endParaRP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文字参照はトークナイザの中で「ただの文字」に戻るので、</a:t>
            </a:r>
          </a:p>
          <a:p>
            <a:pPr algn="l"/>
            <a:r>
              <a:rPr sz="12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画面には元の文字がそのまま表示される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57200" y="822960"/>
            <a:ext cx="245973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24597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埋め込む場所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71800" y="822960"/>
            <a:ext cx="22768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971800" y="822960"/>
            <a:ext cx="2276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トークナイザの状態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822960"/>
            <a:ext cx="1911095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303520" y="822960"/>
            <a:ext cx="19110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そこから抜け出す文字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9479" y="822960"/>
            <a:ext cx="1133856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69479" y="822960"/>
            <a:ext cx="1133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文字参照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58200" y="822960"/>
            <a:ext cx="3218688" cy="457200"/>
          </a:xfrm>
          <a:prstGeom prst="roundRect">
            <a:avLst>
              <a:gd name="adj" fmla="val 12000"/>
            </a:avLst>
          </a:prstGeom>
          <a:solidFill>
            <a:srgbClr val="244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58200" y="822960"/>
            <a:ext cx="321868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必要な対策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371600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971800" y="1371600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303520" y="1371600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269479" y="1371600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458200" y="1371600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1499615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本文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874520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&lt;p&gt;{v}&lt;/p&gt;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1371600"/>
            <a:ext cx="209397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Data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1371600"/>
            <a:ext cx="1911095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1371600"/>
            <a:ext cx="113385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1371600"/>
            <a:ext cx="2944368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HTMLエスケープ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450592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971800" y="2450592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303520" y="2450592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269479" y="2450592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458200" y="2450592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E6F5F2"/>
          </a:solidFill>
          <a:ln w="12700">
            <a:solidFill>
              <a:srgbClr val="1AA6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2578608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属性値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953511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title="{v}"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3240" y="2450592"/>
            <a:ext cx="209397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Attribute value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(double-quoted) state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450592"/>
            <a:ext cx="1911095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79" y="2450592"/>
            <a:ext cx="113385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450592"/>
            <a:ext cx="2944368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HTMLエスケープ（" を含む）</a:t>
            </a:r>
          </a:p>
          <a:p>
            <a:pPr algn="l"/>
            <a:r>
              <a:rPr sz="1150" b="1">
                <a:solidFill>
                  <a:srgbClr val="0E7C72"/>
                </a:solidFill>
                <a:latin typeface="Hiragino Sans"/>
                <a:ea typeface="Hiragino Sans"/>
                <a:cs typeface="Hiragino Sans"/>
              </a:rPr>
              <a:t>＋ 属性値は必ず " で囲む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529584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971800" y="3529584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303520" y="3529584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7269479" y="3529584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8458200" y="3529584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3657600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script要素の中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032504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&lt;script&gt;…{v}…&lt;/script&gt;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3240" y="3529584"/>
            <a:ext cx="209397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Script data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3529584"/>
            <a:ext cx="1911095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Menlo"/>
                <a:ea typeface="Menlo"/>
                <a:cs typeface="Menlo"/>
              </a:rPr>
              <a:t>&lt;/script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79" y="3529584"/>
            <a:ext cx="113385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解釈されない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529584"/>
            <a:ext cx="2944368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HTMLエスケープは効かない</a:t>
            </a:r>
          </a:p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JSONにして &lt; を \u003c にする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4608576"/>
            <a:ext cx="2459736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2971800" y="4608576"/>
            <a:ext cx="2276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303520" y="4608576"/>
            <a:ext cx="1911095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7269479" y="4608576"/>
            <a:ext cx="1133856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2CB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8458200" y="4608576"/>
            <a:ext cx="3218688" cy="987552"/>
          </a:xfrm>
          <a:prstGeom prst="roundRect">
            <a:avLst>
              <a:gd name="adj" fmla="val 8000"/>
            </a:avLst>
          </a:prstGeom>
          <a:solidFill>
            <a:srgbClr val="FBEBEA"/>
          </a:solidFill>
          <a:ln w="12700">
            <a:solidFill>
              <a:srgbClr val="D943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66928" y="4736592"/>
            <a:ext cx="2240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URLを入れる属性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5111496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24404D"/>
                </a:solidFill>
                <a:latin typeface="Menlo"/>
                <a:ea typeface="Menlo"/>
                <a:cs typeface="Menlo"/>
              </a:rPr>
              <a:t>href="{v}"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63240" y="4608576"/>
            <a:ext cx="209397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Attribute value state</a:t>
            </a:r>
          </a:p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→ その後URLとして解釈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0" y="4608576"/>
            <a:ext cx="1911095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（抜け出さない）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9479" y="4608576"/>
            <a:ext cx="1133856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>
                <a:solidFill>
                  <a:srgbClr val="24404D"/>
                </a:solidFill>
                <a:latin typeface="Hiragino Sans"/>
                <a:ea typeface="Hiragino Sans"/>
                <a:cs typeface="Hiragino Sans"/>
              </a:rPr>
              <a:t>解釈される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4608576"/>
            <a:ext cx="2944368" cy="9875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HTMLエスケープだけでは足りない</a:t>
            </a:r>
          </a:p>
          <a:p>
            <a:pPr algn="l"/>
            <a:r>
              <a:rPr sz="1150" b="1">
                <a:solidFill>
                  <a:srgbClr val="D9433B"/>
                </a:solidFill>
                <a:latin typeface="Hiragino Sans"/>
                <a:ea typeface="Hiragino Sans"/>
                <a:cs typeface="Hiragino Sans"/>
              </a:rPr>
              <a:t>スキームを http / https に限定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760720"/>
            <a:ext cx="11247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5E7682"/>
                </a:solidFill>
                <a:latin typeface="Hiragino Sans"/>
                <a:ea typeface="Hiragino Sans"/>
                <a:cs typeface="Hiragino Sans"/>
              </a:rPr>
              <a:t>参考：HTML Living Standard 13.2.5.1 Data state / 13.2.5.4 Script data state / 13.2.5.36 Attribute value (double-quoted) state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1053</Words>
  <Application>Microsoft Macintosh PowerPoint</Application>
  <PresentationFormat>ワイド画面</PresentationFormat>
  <Paragraphs>262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Hiragino Sans</vt:lpstr>
      <vt:lpstr>Arial</vt:lpstr>
      <vt:lpstr>Calibri</vt:lpstr>
      <vt:lpstr>Menlo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/>
  <cp:keywords/>
  <dc:description>generated using python-pptx</dc:description>
  <cp:lastModifiedBy>細澤　悠真</cp:lastModifiedBy>
  <cp:revision>3</cp:revision>
  <dcterms:created xsi:type="dcterms:W3CDTF">2013-01-27T09:14:16Z</dcterms:created>
  <dcterms:modified xsi:type="dcterms:W3CDTF">2026-10-12T16:39:49Z</dcterms:modified>
  <cp:category/>
</cp:coreProperties>
</file>