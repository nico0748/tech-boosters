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12"/>
    <p:sldId id="262" r:id="rId13"/>
    <p:sldId id="263" r:id="rId14"/>
    <p:sldId id="264" r:id="rId15"/>
    <p:sldId id="265" r:id="rId16"/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143000"/>
            <a:ext cx="2514600" cy="233172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9050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1280160"/>
            <a:ext cx="2185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バイト列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709928"/>
            <a:ext cx="218541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サーバからの応答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2532888"/>
            <a:ext cx="2185416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606040"/>
            <a:ext cx="20025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24404D"/>
                </a:solidFill>
                <a:latin typeface="Menlo"/>
                <a:ea typeface="Menlo"/>
                <a:cs typeface="Menlo"/>
              </a:rPr>
              <a:t>3C 70 3E E3 81 93 …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08376" y="2308860"/>
            <a:ext cx="310896" cy="0"/>
          </a:xfrm>
          <a:prstGeom prst="line">
            <a:avLst/>
          </a:prstGeom>
          <a:ln w="25400">
            <a:solidFill>
              <a:srgbClr val="5E76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355848" y="1143000"/>
            <a:ext cx="2514600" cy="233172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9050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280160"/>
            <a:ext cx="2185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① デコード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709928"/>
            <a:ext cx="218541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文字コードに従って</a:t>
            </a:r>
          </a:p>
          <a:p>
            <a:pPr algn="l"/>
            <a:r>
              <a:rPr sz="12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文字の並びにする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2532888"/>
            <a:ext cx="2185416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606040"/>
            <a:ext cx="20025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24404D"/>
                </a:solidFill>
                <a:latin typeface="Menlo"/>
                <a:ea typeface="Menlo"/>
                <a:cs typeface="Menlo"/>
              </a:rPr>
              <a:t>&lt; p &gt; こ ん 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07024" y="2308860"/>
            <a:ext cx="310896" cy="0"/>
          </a:xfrm>
          <a:prstGeom prst="line">
            <a:avLst/>
          </a:prstGeom>
          <a:ln w="25400">
            <a:solidFill>
              <a:srgbClr val="5E76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54496" y="1143000"/>
            <a:ext cx="2514600" cy="2331720"/>
          </a:xfrm>
          <a:prstGeom prst="roundRect">
            <a:avLst>
              <a:gd name="adj" fmla="val 8000"/>
            </a:avLst>
          </a:prstGeom>
          <a:solidFill>
            <a:srgbClr val="FBEBEA"/>
          </a:solidFill>
          <a:ln w="1905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280160"/>
            <a:ext cx="2185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② トークナイザ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709928"/>
            <a:ext cx="218541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字句解析。1文字ずつ読み</a:t>
            </a:r>
          </a:p>
          <a:p>
            <a:pPr algn="l"/>
            <a:r>
              <a:rPr sz="12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「タグ」か「文字」かを決める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19088" y="2532888"/>
            <a:ext cx="2185416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2606040"/>
            <a:ext cx="20025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24404D"/>
                </a:solidFill>
                <a:latin typeface="Menlo"/>
                <a:ea typeface="Menlo"/>
                <a:cs typeface="Menlo"/>
              </a:rPr>
              <a:t>StartTag(p)</a:t>
            </a:r>
          </a:p>
          <a:p>
            <a:pPr algn="l"/>
            <a:r>
              <a:rPr sz="1100" b="0">
                <a:solidFill>
                  <a:srgbClr val="24404D"/>
                </a:solidFill>
                <a:latin typeface="Menlo"/>
                <a:ea typeface="Menlo"/>
                <a:cs typeface="Menlo"/>
              </a:rPr>
              <a:t>Character(こ) …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05672" y="2308860"/>
            <a:ext cx="310896" cy="0"/>
          </a:xfrm>
          <a:prstGeom prst="line">
            <a:avLst/>
          </a:prstGeom>
          <a:ln w="25400">
            <a:solidFill>
              <a:srgbClr val="5E76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53144" y="1143000"/>
            <a:ext cx="2514600" cy="2331720"/>
          </a:xfrm>
          <a:prstGeom prst="roundRect">
            <a:avLst>
              <a:gd name="adj" fmla="val 8000"/>
            </a:avLst>
          </a:prstGeom>
          <a:solidFill>
            <a:srgbClr val="E6F5F2"/>
          </a:solidFill>
          <a:ln w="19050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17736" y="1280160"/>
            <a:ext cx="2185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③ ツリー構築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7736" y="1709928"/>
            <a:ext cx="218541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トークンを積み上げて</a:t>
            </a:r>
          </a:p>
          <a:p>
            <a:pPr algn="l"/>
            <a:r>
              <a:rPr sz="12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DOMツリーを作る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17736" y="2532888"/>
            <a:ext cx="2185416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09176" y="2606040"/>
            <a:ext cx="20025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24404D"/>
                </a:solidFill>
                <a:latin typeface="Menlo"/>
                <a:ea typeface="Menlo"/>
                <a:cs typeface="Menlo"/>
              </a:rPr>
              <a:t>html &gt; body &gt; p</a:t>
            </a:r>
          </a:p>
          <a:p>
            <a:pPr algn="l"/>
            <a:r>
              <a:rPr sz="1100" b="0">
                <a:solidFill>
                  <a:srgbClr val="24404D"/>
                </a:solidFill>
                <a:latin typeface="Menlo"/>
                <a:ea typeface="Menlo"/>
                <a:cs typeface="Menlo"/>
              </a:rPr>
              <a:t>  └ "こんにちは"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410444" y="3493007"/>
            <a:ext cx="0" cy="393193"/>
          </a:xfrm>
          <a:prstGeom prst="line">
            <a:avLst/>
          </a:prstGeom>
          <a:ln w="25400">
            <a:solidFill>
              <a:srgbClr val="0E7C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07424" y="3931920"/>
            <a:ext cx="2606040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53144" y="3931920"/>
            <a:ext cx="2514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④ 描画（レイアウト・ペイント）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07424" y="4617720"/>
            <a:ext cx="2606040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53144" y="4617720"/>
            <a:ext cx="2514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script要素ならJSエンジンで実行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511796" y="3493007"/>
            <a:ext cx="0" cy="393193"/>
          </a:xfrm>
          <a:prstGeom prst="line">
            <a:avLst/>
          </a:prstGeom>
          <a:ln w="25400">
            <a:solidFill>
              <a:srgbClr val="D943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57200" y="3931920"/>
            <a:ext cx="8311896" cy="1252728"/>
          </a:xfrm>
          <a:prstGeom prst="roundRect">
            <a:avLst>
              <a:gd name="adj" fmla="val 8000"/>
            </a:avLst>
          </a:prstGeom>
          <a:solidFill>
            <a:srgbClr val="FBEBEA"/>
          </a:solidFill>
          <a:ln w="1905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041648"/>
            <a:ext cx="785469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「どこからどこまでがタグか」はトークナイザで決まる</a:t>
            </a:r>
          </a:p>
          <a:p>
            <a:pPr algn="l"/>
            <a:r>
              <a:rPr sz="12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サーバは文字列を埋め込んだだけ。それを「文字」と読むか「タグ」と読むかは、</a:t>
            </a:r>
          </a:p>
          <a:p>
            <a:pPr algn="l"/>
            <a:r>
              <a:rPr sz="12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被害者のブラウザのトークナイザが、</a:t>
            </a:r>
            <a:r>
              <a:rPr sz="1200" b="1">
                <a:solidFill>
                  <a:srgbClr val="D9433B"/>
                </a:solidFill>
                <a:latin typeface="Menlo"/>
                <a:ea typeface="Menlo"/>
                <a:cs typeface="Menlo"/>
              </a:rPr>
              <a:t>&lt;</a:t>
            </a:r>
            <a:r>
              <a:rPr sz="12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を見た瞬間に決めている（SQLiでいう字句解析と同じ役割）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44068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参考：HTML Living Standard 13.2「Parsing HTML documents」（13.2.3 入力バイトストリーム / 13.2.5 トークン化 / 13.2.6 ツリー構築）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287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入力 </a:t>
            </a:r>
            <a:r>
              <a:rPr sz="1300" b="1">
                <a:solidFill>
                  <a:srgbClr val="D9433B"/>
                </a:solidFill>
                <a:latin typeface="Menlo"/>
                <a:ea typeface="Menlo"/>
                <a:cs typeface="Menlo"/>
              </a:rPr>
              <a:t>&lt;b&gt;太字&lt;/b&gt;</a:t>
            </a:r>
            <a:r>
              <a:rPr sz="1300" b="1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　（生の &lt; が来た場合）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85900"/>
            <a:ext cx="2103120" cy="868680"/>
          </a:xfrm>
          <a:prstGeom prst="roundRect">
            <a:avLst>
              <a:gd name="adj" fmla="val 20000"/>
            </a:avLst>
          </a:prstGeom>
          <a:solidFill>
            <a:srgbClr val="E6F5F2"/>
          </a:solidFill>
          <a:ln w="19050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04772"/>
            <a:ext cx="2103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データ状態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7053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Data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485900"/>
            <a:ext cx="2103120" cy="868680"/>
          </a:xfrm>
          <a:prstGeom prst="roundRect">
            <a:avLst>
              <a:gd name="adj" fmla="val 20000"/>
            </a:avLst>
          </a:prstGeom>
          <a:solidFill>
            <a:srgbClr val="FBEBEA"/>
          </a:solidFill>
          <a:ln w="1905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604772"/>
            <a:ext cx="2103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タグ開始状態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97053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Tag open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85900"/>
            <a:ext cx="2103120" cy="868680"/>
          </a:xfrm>
          <a:prstGeom prst="roundRect">
            <a:avLst>
              <a:gd name="adj" fmla="val 20000"/>
            </a:avLst>
          </a:prstGeom>
          <a:solidFill>
            <a:srgbClr val="FBEBEA"/>
          </a:solidFill>
          <a:ln w="1905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604772"/>
            <a:ext cx="2103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タグ名状態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97053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Tag name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485900"/>
            <a:ext cx="2697480" cy="8686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595627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StartTag(b) を出力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1961388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→ ツリーに b 要素ができる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87751" y="1920240"/>
            <a:ext cx="676657" cy="0"/>
          </a:xfrm>
          <a:prstGeom prst="line">
            <a:avLst/>
          </a:prstGeom>
          <a:ln w="25400">
            <a:solidFill>
              <a:srgbClr val="D943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560320" y="15316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D9433B"/>
                </a:solidFill>
                <a:latin typeface="Menlo"/>
                <a:ea typeface="Menlo"/>
                <a:cs typeface="Menlo"/>
              </a:rPr>
              <a:t>&lt;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22392" y="1920240"/>
            <a:ext cx="676656" cy="0"/>
          </a:xfrm>
          <a:prstGeom prst="line">
            <a:avLst/>
          </a:prstGeom>
          <a:ln w="25400">
            <a:solidFill>
              <a:srgbClr val="D943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394960" y="153162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D9433B"/>
                </a:solidFill>
                <a:latin typeface="Menlo"/>
                <a:ea typeface="Menlo"/>
                <a:cs typeface="Menlo"/>
              </a:rPr>
              <a:t>b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57031" y="1920240"/>
            <a:ext cx="676657" cy="0"/>
          </a:xfrm>
          <a:prstGeom prst="line">
            <a:avLst/>
          </a:prstGeom>
          <a:ln w="25400">
            <a:solidFill>
              <a:srgbClr val="D943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229600" y="15316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D9433B"/>
                </a:solidFill>
                <a:latin typeface="Menlo"/>
                <a:ea typeface="Menlo"/>
                <a:cs typeface="Menlo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76606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入力 </a:t>
            </a:r>
            <a:r>
              <a:rPr sz="1300" b="1">
                <a:solidFill>
                  <a:srgbClr val="0E7C72"/>
                </a:solidFill>
                <a:latin typeface="Menlo"/>
                <a:ea typeface="Menlo"/>
                <a:cs typeface="Menlo"/>
              </a:rPr>
              <a:t>&amp;lt;b&amp;gt;太字</a:t>
            </a:r>
            <a:r>
              <a:rPr sz="1300" b="1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　（エスケープされて来た場合）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223260"/>
            <a:ext cx="2103120" cy="868680"/>
          </a:xfrm>
          <a:prstGeom prst="roundRect">
            <a:avLst>
              <a:gd name="adj" fmla="val 20000"/>
            </a:avLst>
          </a:prstGeom>
          <a:solidFill>
            <a:srgbClr val="E6F5F2"/>
          </a:solidFill>
          <a:ln w="19050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342132"/>
            <a:ext cx="2103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データ状態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70789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Data state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3223260"/>
            <a:ext cx="2103120" cy="868680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 w="19050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3342132"/>
            <a:ext cx="2103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文字参照状態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370789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Character reference state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223260"/>
            <a:ext cx="2103120" cy="8686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333298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Character(&lt;) を出力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369874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ただの「文字」として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1120" y="3223260"/>
            <a:ext cx="2697480" cy="8686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0" y="3332988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データ状態に戻る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3698748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→ 画面に「&lt;b&gt;太字」と表示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87751" y="3657600"/>
            <a:ext cx="676657" cy="0"/>
          </a:xfrm>
          <a:prstGeom prst="line">
            <a:avLst/>
          </a:prstGeom>
          <a:ln w="25400">
            <a:solidFill>
              <a:srgbClr val="0E7C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560320" y="32689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E7C72"/>
                </a:solidFill>
                <a:latin typeface="Menlo"/>
                <a:ea typeface="Menlo"/>
                <a:cs typeface="Menlo"/>
              </a:rPr>
              <a:t>&amp;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22392" y="3657600"/>
            <a:ext cx="676656" cy="0"/>
          </a:xfrm>
          <a:prstGeom prst="line">
            <a:avLst/>
          </a:prstGeom>
          <a:ln w="25400">
            <a:solidFill>
              <a:srgbClr val="0E7C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394960" y="326898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E7C72"/>
                </a:solidFill>
                <a:latin typeface="Menlo"/>
                <a:ea typeface="Menlo"/>
                <a:cs typeface="Menlo"/>
              </a:rPr>
              <a:t>lt;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257031" y="3657600"/>
            <a:ext cx="676657" cy="0"/>
          </a:xfrm>
          <a:prstGeom prst="line">
            <a:avLst/>
          </a:prstGeom>
          <a:ln w="25400">
            <a:solidFill>
              <a:srgbClr val="0E7C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457200" y="445770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Hiragino Sans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4475988"/>
            <a:ext cx="4754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トークナイザは「今どの状態か」と「次の1文字」だけで動く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26480" y="445770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Hiragino Sans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4475988"/>
            <a:ext cx="4754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タグ開始状態に入れるのは、生の「&lt;」だけ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96062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Hiragino Sans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" y="4978908"/>
            <a:ext cx="4754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&amp;lt; は文字参照状態を通り、「&lt;」という文字として出てくる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26480" y="496062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Hiragino Sans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29400" y="4978908"/>
            <a:ext cx="4754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&lt;script&gt; の中身は専用の状態（Script data state）で読まれる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55498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参考：HTML Living Standard 13.2.5「Tokenization」（13.2.5.1 Data state / 13.2.5.6 Tag open state / 13.2.5.77 Character reference state）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898648" y="585216"/>
            <a:ext cx="64008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98648" y="585216"/>
            <a:ext cx="6400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サーバのテンプレート　</a:t>
            </a:r>
            <a:r>
              <a:rPr sz="1500" b="0">
                <a:solidFill>
                  <a:srgbClr val="24404D"/>
                </a:solidFill>
                <a:latin typeface="Menlo"/>
                <a:ea typeface="Menlo"/>
                <a:cs typeface="Menlo"/>
              </a:rPr>
              <a:t>&lt;p&gt;こんにちは、</a:t>
            </a:r>
            <a:r>
              <a:rPr sz="1500" b="1">
                <a:solidFill>
                  <a:srgbClr val="F08A24"/>
                </a:solidFill>
                <a:latin typeface="Menlo"/>
                <a:ea typeface="Menlo"/>
                <a:cs typeface="Menlo"/>
              </a:rPr>
              <a:t>{name}</a:t>
            </a:r>
            <a:r>
              <a:rPr sz="1500" b="0">
                <a:solidFill>
                  <a:srgbClr val="24404D"/>
                </a:solidFill>
                <a:latin typeface="Menlo"/>
                <a:ea typeface="Menlo"/>
                <a:cs typeface="Menlo"/>
              </a:rPr>
              <a:t>さん&lt;/p&gt;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08176"/>
            <a:ext cx="5532120" cy="4617720"/>
          </a:xfrm>
          <a:prstGeom prst="roundRect">
            <a:avLst>
              <a:gd name="adj" fmla="val 4000"/>
            </a:avLst>
          </a:prstGeom>
          <a:solidFill>
            <a:srgbClr val="FBEBEA"/>
          </a:solidFill>
          <a:ln w="1905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17904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エスケープしない場合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56816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4404D"/>
                </a:solidFill>
                <a:latin typeface="Menlo"/>
                <a:ea typeface="Menlo"/>
                <a:cs typeface="Menlo"/>
              </a:rPr>
              <a:t>name = </a:t>
            </a:r>
            <a:r>
              <a:rPr sz="1300" b="1">
                <a:solidFill>
                  <a:srgbClr val="D9433B"/>
                </a:solidFill>
                <a:latin typeface="Menlo"/>
                <a:ea typeface="Menlo"/>
                <a:cs typeface="Menlo"/>
              </a:rPr>
              <a:t>&lt;b&gt;Nico&lt;/b&gt;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68296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埋め込み後のHTML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42616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42616"/>
            <a:ext cx="4892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24404D"/>
                </a:solidFill>
                <a:latin typeface="Menlo"/>
                <a:ea typeface="Menlo"/>
                <a:cs typeface="Menlo"/>
              </a:rPr>
              <a:t>&lt;p&gt;こんにちは、</a:t>
            </a:r>
            <a:r>
              <a:rPr sz="1150" b="1">
                <a:solidFill>
                  <a:srgbClr val="D9433B"/>
                </a:solidFill>
                <a:latin typeface="Menlo"/>
                <a:ea typeface="Menlo"/>
                <a:cs typeface="Menlo"/>
              </a:rPr>
              <a:t>&lt;b&gt;</a:t>
            </a:r>
            <a:r>
              <a:rPr sz="1150" b="0">
                <a:solidFill>
                  <a:srgbClr val="24404D"/>
                </a:solidFill>
                <a:latin typeface="Menlo"/>
                <a:ea typeface="Menlo"/>
                <a:cs typeface="Menlo"/>
              </a:rPr>
              <a:t>Nico</a:t>
            </a:r>
            <a:r>
              <a:rPr sz="1150" b="1">
                <a:solidFill>
                  <a:srgbClr val="D9433B"/>
                </a:solidFill>
                <a:latin typeface="Menlo"/>
                <a:ea typeface="Menlo"/>
                <a:cs typeface="Menlo"/>
              </a:rPr>
              <a:t>&lt;/b&gt;</a:t>
            </a:r>
            <a:r>
              <a:rPr sz="1150" b="0">
                <a:solidFill>
                  <a:srgbClr val="24404D"/>
                </a:solidFill>
                <a:latin typeface="Menlo"/>
                <a:ea typeface="Menlo"/>
                <a:cs typeface="Menlo"/>
              </a:rPr>
              <a:t>さん&lt;/p&gt;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36976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② トークナイザが出すトークン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511296"/>
            <a:ext cx="1371600" cy="2743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511296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24404D"/>
                </a:solidFill>
                <a:latin typeface="Menlo"/>
                <a:ea typeface="Menlo"/>
                <a:cs typeface="Menlo"/>
              </a:rPr>
              <a:t>StartTag 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840480"/>
            <a:ext cx="1481328" cy="2743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840480"/>
            <a:ext cx="14813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24404D"/>
                </a:solidFill>
                <a:latin typeface="Menlo"/>
                <a:ea typeface="Menlo"/>
                <a:cs typeface="Menlo"/>
              </a:rPr>
              <a:t>Char こんにちは、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169664"/>
            <a:ext cx="1371600" cy="274320"/>
          </a:xfrm>
          <a:prstGeom prst="roundRect">
            <a:avLst>
              <a:gd name="adj" fmla="val 25000"/>
            </a:avLst>
          </a:prstGeom>
          <a:solidFill>
            <a:srgbClr val="D94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169664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StartTag 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498848"/>
            <a:ext cx="1261872" cy="2743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98848"/>
            <a:ext cx="12618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24404D"/>
                </a:solidFill>
                <a:latin typeface="Menlo"/>
                <a:ea typeface="Menlo"/>
                <a:cs typeface="Menlo"/>
              </a:rPr>
              <a:t>Char Nico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828032"/>
            <a:ext cx="1152144" cy="274320"/>
          </a:xfrm>
          <a:prstGeom prst="roundRect">
            <a:avLst>
              <a:gd name="adj" fmla="val 25000"/>
            </a:avLst>
          </a:prstGeom>
          <a:solidFill>
            <a:srgbClr val="D94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828032"/>
            <a:ext cx="1152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EndTag 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157216"/>
            <a:ext cx="1042415" cy="2743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157216"/>
            <a:ext cx="104241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24404D"/>
                </a:solidFill>
                <a:latin typeface="Menlo"/>
                <a:ea typeface="Menlo"/>
                <a:cs typeface="Menlo"/>
              </a:rPr>
              <a:t>Char さん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486400"/>
            <a:ext cx="1152144" cy="2743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486400"/>
            <a:ext cx="1152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24404D"/>
                </a:solidFill>
                <a:latin typeface="Menlo"/>
                <a:ea typeface="Menlo"/>
                <a:cs typeface="Menlo"/>
              </a:rPr>
              <a:t>EndTag 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68979" y="3236976"/>
            <a:ext cx="24917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③ できるDOMツリー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68979" y="3511296"/>
            <a:ext cx="24917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06139" y="3621024"/>
            <a:ext cx="221742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4404D"/>
                </a:solidFill>
                <a:latin typeface="Menlo"/>
                <a:ea typeface="Menlo"/>
                <a:cs typeface="Menlo"/>
              </a:rPr>
              <a:t>&lt;p&gt;</a:t>
            </a:r>
          </a:p>
          <a:p>
            <a:pPr algn="l"/>
            <a:r>
              <a:rPr sz="1100" b="0">
                <a:solidFill>
                  <a:srgbClr val="24404D"/>
                </a:solidFill>
                <a:latin typeface="Menlo"/>
                <a:ea typeface="Menlo"/>
                <a:cs typeface="Menlo"/>
              </a:rPr>
              <a:t>├ "こんにちは、"</a:t>
            </a:r>
          </a:p>
          <a:p>
            <a:pPr algn="l"/>
            <a:r>
              <a:rPr sz="1100" b="0">
                <a:solidFill>
                  <a:srgbClr val="24404D"/>
                </a:solidFill>
                <a:latin typeface="Menlo"/>
                <a:ea typeface="Menlo"/>
                <a:cs typeface="Menlo"/>
              </a:rPr>
              <a:t>├ </a:t>
            </a:r>
            <a:r>
              <a:rPr sz="1100" b="1">
                <a:solidFill>
                  <a:srgbClr val="D9433B"/>
                </a:solidFill>
                <a:latin typeface="Menlo"/>
                <a:ea typeface="Menlo"/>
                <a:cs typeface="Menlo"/>
              </a:rPr>
              <a:t>&lt;b&gt;</a:t>
            </a:r>
          </a:p>
          <a:p>
            <a:pPr algn="l"/>
            <a:r>
              <a:rPr sz="1100" b="0">
                <a:solidFill>
                  <a:srgbClr val="24404D"/>
                </a:solidFill>
                <a:latin typeface="Menlo"/>
                <a:ea typeface="Menlo"/>
                <a:cs typeface="Menlo"/>
              </a:rPr>
              <a:t>│ └ "Nico"</a:t>
            </a:r>
          </a:p>
          <a:p>
            <a:pPr algn="l"/>
            <a:r>
              <a:rPr sz="1100" b="0">
                <a:solidFill>
                  <a:srgbClr val="24404D"/>
                </a:solidFill>
                <a:latin typeface="Menlo"/>
                <a:ea typeface="Menlo"/>
                <a:cs typeface="Menlo"/>
              </a:rPr>
              <a:t>└ "さん"</a:t>
            </a:r>
          </a:p>
          <a:p>
            <a:pPr algn="l"/>
            <a:r>
              <a:rPr sz="1100" b="0">
                <a:solidFill>
                  <a:srgbClr val="24404D"/>
                </a:solidFill>
                <a:latin typeface="Menlo"/>
                <a:ea typeface="Menlo"/>
                <a:cs typeface="Menlo"/>
              </a:rPr>
              <a:t/>
            </a:r>
          </a:p>
          <a:p>
            <a:pPr algn="l"/>
            <a:r>
              <a:rPr sz="1100" b="1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要素が1つ増えた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9632" y="1408176"/>
            <a:ext cx="5532120" cy="4617720"/>
          </a:xfrm>
          <a:prstGeom prst="roundRect">
            <a:avLst>
              <a:gd name="adj" fmla="val 4000"/>
            </a:avLst>
          </a:prstGeom>
          <a:solidFill>
            <a:srgbClr val="E6F5F2"/>
          </a:solidFill>
          <a:ln w="19050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8232" y="1517904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エスケープした場合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2" y="1956816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4404D"/>
                </a:solidFill>
                <a:latin typeface="Menlo"/>
                <a:ea typeface="Menlo"/>
                <a:cs typeface="Menlo"/>
              </a:rPr>
              <a:t>name = </a:t>
            </a:r>
            <a:r>
              <a:rPr sz="1300" b="1">
                <a:solidFill>
                  <a:srgbClr val="0E7C72"/>
                </a:solidFill>
                <a:latin typeface="Menlo"/>
                <a:ea typeface="Menlo"/>
                <a:cs typeface="Menlo"/>
              </a:rPr>
              <a:t>&amp;lt;b&amp;gt;Nico&amp;lt;/b&amp;gt;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2" y="2368296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埋め込み後のHTML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28232" y="2642616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9672" y="2642616"/>
            <a:ext cx="4892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24404D"/>
                </a:solidFill>
                <a:latin typeface="Menlo"/>
                <a:ea typeface="Menlo"/>
                <a:cs typeface="Menlo"/>
              </a:rPr>
              <a:t>&lt;p&gt;こんにちは、</a:t>
            </a:r>
            <a:r>
              <a:rPr sz="1150" b="1">
                <a:solidFill>
                  <a:srgbClr val="0E7C72"/>
                </a:solidFill>
                <a:latin typeface="Menlo"/>
                <a:ea typeface="Menlo"/>
                <a:cs typeface="Menlo"/>
              </a:rPr>
              <a:t>&amp;lt;b&amp;gt;</a:t>
            </a:r>
            <a:r>
              <a:rPr sz="1150" b="0">
                <a:solidFill>
                  <a:srgbClr val="24404D"/>
                </a:solidFill>
                <a:latin typeface="Menlo"/>
                <a:ea typeface="Menlo"/>
                <a:cs typeface="Menlo"/>
              </a:rPr>
              <a:t>Nico</a:t>
            </a:r>
            <a:r>
              <a:rPr sz="1150" b="1">
                <a:solidFill>
                  <a:srgbClr val="0E7C72"/>
                </a:solidFill>
                <a:latin typeface="Menlo"/>
                <a:ea typeface="Menlo"/>
                <a:cs typeface="Menlo"/>
              </a:rPr>
              <a:t>&amp;lt;/b&amp;gt;</a:t>
            </a:r>
            <a:r>
              <a:rPr sz="1150" b="0">
                <a:solidFill>
                  <a:srgbClr val="24404D"/>
                </a:solidFill>
                <a:latin typeface="Menlo"/>
                <a:ea typeface="Menlo"/>
                <a:cs typeface="Menlo"/>
              </a:rPr>
              <a:t>さん&lt;/p&gt;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8232" y="3236976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② トークナイザが出すトークン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28232" y="3511296"/>
            <a:ext cx="1371600" cy="2743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28232" y="3511296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24404D"/>
                </a:solidFill>
                <a:latin typeface="Menlo"/>
                <a:ea typeface="Menlo"/>
                <a:cs typeface="Menlo"/>
              </a:rPr>
              <a:t>StartTag 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28232" y="3840480"/>
            <a:ext cx="1700784" cy="4754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28232" y="3840480"/>
            <a:ext cx="17007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24404D"/>
                </a:solidFill>
                <a:latin typeface="Menlo"/>
                <a:ea typeface="Menlo"/>
                <a:cs typeface="Menlo"/>
              </a:rPr>
              <a:t>Char こんにちは、</a:t>
            </a:r>
          </a:p>
          <a:p>
            <a:pPr algn="ctr"/>
            <a:r>
              <a:rPr sz="1000" b="0">
                <a:solidFill>
                  <a:srgbClr val="24404D"/>
                </a:solidFill>
                <a:latin typeface="Menlo"/>
                <a:ea typeface="Menlo"/>
                <a:cs typeface="Menlo"/>
              </a:rPr>
              <a:t>&lt;b&gt;Nico&lt;/b&gt;さん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28232" y="4370832"/>
            <a:ext cx="1152144" cy="2743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28232" y="4370832"/>
            <a:ext cx="11521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24404D"/>
                </a:solidFill>
                <a:latin typeface="Menlo"/>
                <a:ea typeface="Menlo"/>
                <a:cs typeface="Menlo"/>
              </a:rPr>
              <a:t>EndTag 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11412" y="3236976"/>
            <a:ext cx="24917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③ できるDOMツリー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11412" y="3511296"/>
            <a:ext cx="24917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8572" y="3621024"/>
            <a:ext cx="221742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4404D"/>
                </a:solidFill>
                <a:latin typeface="Menlo"/>
                <a:ea typeface="Menlo"/>
                <a:cs typeface="Menlo"/>
              </a:rPr>
              <a:t>&lt;p&gt;</a:t>
            </a:r>
          </a:p>
          <a:p>
            <a:pPr algn="l"/>
            <a:r>
              <a:rPr sz="1100" b="0">
                <a:solidFill>
                  <a:srgbClr val="24404D"/>
                </a:solidFill>
                <a:latin typeface="Menlo"/>
                <a:ea typeface="Menlo"/>
                <a:cs typeface="Menlo"/>
              </a:rPr>
              <a:t>└ "こんにちは、</a:t>
            </a:r>
          </a:p>
          <a:p>
            <a:pPr algn="l"/>
            <a:r>
              <a:rPr sz="1100" b="0">
                <a:solidFill>
                  <a:srgbClr val="24404D"/>
                </a:solidFill>
                <a:latin typeface="Menlo"/>
                <a:ea typeface="Menlo"/>
                <a:cs typeface="Menlo"/>
              </a:rPr>
              <a:t>   &lt;b&gt;Nico&lt;/b&gt;さん"</a:t>
            </a:r>
          </a:p>
          <a:p>
            <a:pPr algn="l"/>
            <a:r>
              <a:rPr sz="1100" b="0">
                <a:solidFill>
                  <a:srgbClr val="24404D"/>
                </a:solidFill>
                <a:latin typeface="Menlo"/>
                <a:ea typeface="Menlo"/>
                <a:cs typeface="Menlo"/>
              </a:rPr>
              <a:t/>
            </a:r>
          </a:p>
          <a:p>
            <a:pPr algn="l"/>
            <a:r>
              <a:rPr sz="110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テキスト1つのまま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html.escape() が置き換える5文字（上から順に実行）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00200"/>
            <a:ext cx="914400" cy="566928"/>
          </a:xfrm>
          <a:prstGeom prst="roundRect">
            <a:avLst>
              <a:gd name="adj" fmla="val 20000"/>
            </a:avLst>
          </a:prstGeom>
          <a:solidFill>
            <a:srgbClr val="FBEBEA"/>
          </a:solidFill>
          <a:ln w="1905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914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D9433B"/>
                </a:solidFill>
                <a:latin typeface="Menlo"/>
                <a:ea typeface="Menlo"/>
                <a:cs typeface="Menlo"/>
              </a:rPr>
              <a:t>&amp;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444752" y="1883664"/>
            <a:ext cx="585216" cy="0"/>
          </a:xfrm>
          <a:prstGeom prst="line">
            <a:avLst/>
          </a:prstGeom>
          <a:ln w="25400">
            <a:solidFill>
              <a:srgbClr val="5E76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103120" y="1600200"/>
            <a:ext cx="1737360" cy="566928"/>
          </a:xfrm>
          <a:prstGeom prst="roundRect">
            <a:avLst>
              <a:gd name="adj" fmla="val 20000"/>
            </a:avLst>
          </a:prstGeom>
          <a:solidFill>
            <a:srgbClr val="E6F5F2"/>
          </a:solidFill>
          <a:ln w="19050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1600200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E7C72"/>
                </a:solidFill>
                <a:latin typeface="Menlo"/>
                <a:ea typeface="Menlo"/>
                <a:cs typeface="Menlo"/>
              </a:rPr>
              <a:t>&amp;amp;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1600200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08A24"/>
                </a:solidFill>
                <a:latin typeface="Hiragino Sans"/>
                <a:ea typeface="Hiragino Sans"/>
                <a:cs typeface="Hiragino Sans"/>
              </a:rPr>
              <a:t>必ず最初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13432"/>
            <a:ext cx="914400" cy="566928"/>
          </a:xfrm>
          <a:prstGeom prst="roundRect">
            <a:avLst>
              <a:gd name="adj" fmla="val 20000"/>
            </a:avLst>
          </a:prstGeom>
          <a:solidFill>
            <a:srgbClr val="FBEBEA"/>
          </a:solidFill>
          <a:ln w="1905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13432"/>
            <a:ext cx="914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D9433B"/>
                </a:solidFill>
                <a:latin typeface="Menlo"/>
                <a:ea typeface="Menlo"/>
                <a:cs typeface="Menlo"/>
              </a:rPr>
              <a:t>&lt;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1444752" y="2596895"/>
            <a:ext cx="585216" cy="0"/>
          </a:xfrm>
          <a:prstGeom prst="line">
            <a:avLst/>
          </a:prstGeom>
          <a:ln w="25400">
            <a:solidFill>
              <a:srgbClr val="5E76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103120" y="2313432"/>
            <a:ext cx="1737360" cy="566928"/>
          </a:xfrm>
          <a:prstGeom prst="roundRect">
            <a:avLst>
              <a:gd name="adj" fmla="val 20000"/>
            </a:avLst>
          </a:prstGeom>
          <a:solidFill>
            <a:srgbClr val="E6F5F2"/>
          </a:solidFill>
          <a:ln w="19050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0" y="2313432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E7C72"/>
                </a:solidFill>
                <a:latin typeface="Menlo"/>
                <a:ea typeface="Menlo"/>
                <a:cs typeface="Menlo"/>
              </a:rPr>
              <a:t>&amp;lt;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26664"/>
            <a:ext cx="914400" cy="566928"/>
          </a:xfrm>
          <a:prstGeom prst="roundRect">
            <a:avLst>
              <a:gd name="adj" fmla="val 20000"/>
            </a:avLst>
          </a:prstGeom>
          <a:solidFill>
            <a:srgbClr val="FBEBEA"/>
          </a:solidFill>
          <a:ln w="1905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026664"/>
            <a:ext cx="914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D9433B"/>
                </a:solidFill>
                <a:latin typeface="Menlo"/>
                <a:ea typeface="Menlo"/>
                <a:cs typeface="Menlo"/>
              </a:rPr>
              <a:t>&gt;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44752" y="3310128"/>
            <a:ext cx="585216" cy="0"/>
          </a:xfrm>
          <a:prstGeom prst="line">
            <a:avLst/>
          </a:prstGeom>
          <a:ln w="25400">
            <a:solidFill>
              <a:srgbClr val="5E76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103120" y="3026664"/>
            <a:ext cx="1737360" cy="566928"/>
          </a:xfrm>
          <a:prstGeom prst="roundRect">
            <a:avLst>
              <a:gd name="adj" fmla="val 20000"/>
            </a:avLst>
          </a:prstGeom>
          <a:solidFill>
            <a:srgbClr val="E6F5F2"/>
          </a:solidFill>
          <a:ln w="19050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0" y="3026664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E7C72"/>
                </a:solidFill>
                <a:latin typeface="Menlo"/>
                <a:ea typeface="Menlo"/>
                <a:cs typeface="Menlo"/>
              </a:rPr>
              <a:t>&amp;gt;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39896"/>
            <a:ext cx="914400" cy="566928"/>
          </a:xfrm>
          <a:prstGeom prst="roundRect">
            <a:avLst>
              <a:gd name="adj" fmla="val 20000"/>
            </a:avLst>
          </a:prstGeom>
          <a:solidFill>
            <a:srgbClr val="FBEBEA"/>
          </a:solidFill>
          <a:ln w="1905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739896"/>
            <a:ext cx="914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D9433B"/>
                </a:solidFill>
                <a:latin typeface="Menlo"/>
                <a:ea typeface="Menlo"/>
                <a:cs typeface="Menlo"/>
              </a:rPr>
              <a:t>"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1444752" y="4023360"/>
            <a:ext cx="585216" cy="0"/>
          </a:xfrm>
          <a:prstGeom prst="line">
            <a:avLst/>
          </a:prstGeom>
          <a:ln w="25400">
            <a:solidFill>
              <a:srgbClr val="5E76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103120" y="3739896"/>
            <a:ext cx="1737360" cy="566928"/>
          </a:xfrm>
          <a:prstGeom prst="roundRect">
            <a:avLst>
              <a:gd name="adj" fmla="val 20000"/>
            </a:avLst>
          </a:prstGeom>
          <a:solidFill>
            <a:srgbClr val="E6F5F2"/>
          </a:solidFill>
          <a:ln w="19050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0" y="3739896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E7C72"/>
                </a:solidFill>
                <a:latin typeface="Menlo"/>
                <a:ea typeface="Menlo"/>
                <a:cs typeface="Menlo"/>
              </a:rPr>
              <a:t>&amp;quot;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3739896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quote=True のとき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453128"/>
            <a:ext cx="914400" cy="566928"/>
          </a:xfrm>
          <a:prstGeom prst="roundRect">
            <a:avLst>
              <a:gd name="adj" fmla="val 20000"/>
            </a:avLst>
          </a:prstGeom>
          <a:solidFill>
            <a:srgbClr val="FBEBEA"/>
          </a:solidFill>
          <a:ln w="1905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453128"/>
            <a:ext cx="914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D9433B"/>
                </a:solidFill>
                <a:latin typeface="Menlo"/>
                <a:ea typeface="Menlo"/>
                <a:cs typeface="Menlo"/>
              </a:rPr>
              <a:t>'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1444752" y="4736592"/>
            <a:ext cx="585216" cy="0"/>
          </a:xfrm>
          <a:prstGeom prst="line">
            <a:avLst/>
          </a:prstGeom>
          <a:ln w="25400">
            <a:solidFill>
              <a:srgbClr val="5E76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103120" y="4453128"/>
            <a:ext cx="1737360" cy="566928"/>
          </a:xfrm>
          <a:prstGeom prst="roundRect">
            <a:avLst>
              <a:gd name="adj" fmla="val 20000"/>
            </a:avLst>
          </a:prstGeom>
          <a:solidFill>
            <a:srgbClr val="E6F5F2"/>
          </a:solidFill>
          <a:ln w="19050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0" y="4453128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E7C72"/>
                </a:solidFill>
                <a:latin typeface="Menlo"/>
                <a:ea typeface="Menlo"/>
                <a:cs typeface="Menlo"/>
              </a:rPr>
              <a:t>&amp;#x27;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4453128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quote=True のとき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1097280"/>
            <a:ext cx="5330952" cy="25146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 w="19050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1207008"/>
            <a:ext cx="4873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なぜ「&amp;」を最初に置き換えるのか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1664208"/>
            <a:ext cx="4873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順番を逆にすると（&lt; を先に置き換えると）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1965960"/>
            <a:ext cx="48737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D9433B"/>
                </a:solidFill>
                <a:latin typeface="Menlo"/>
                <a:ea typeface="Menlo"/>
                <a:cs typeface="Menlo"/>
              </a:rPr>
              <a:t>&lt;</a:t>
            </a:r>
            <a:r>
              <a:rPr sz="15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  →  </a:t>
            </a:r>
            <a:r>
              <a:rPr sz="1500" b="0">
                <a:solidFill>
                  <a:srgbClr val="24404D"/>
                </a:solidFill>
                <a:latin typeface="Menlo"/>
                <a:ea typeface="Menlo"/>
                <a:cs typeface="Menlo"/>
              </a:rPr>
              <a:t>&amp;lt;</a:t>
            </a:r>
            <a:r>
              <a:rPr sz="15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  →  </a:t>
            </a:r>
            <a:r>
              <a:rPr sz="1500" b="1">
                <a:solidFill>
                  <a:srgbClr val="D9433B"/>
                </a:solidFill>
                <a:latin typeface="Menlo"/>
                <a:ea typeface="Menlo"/>
                <a:cs typeface="Menlo"/>
              </a:rPr>
              <a:t>&amp;amp;lt;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2423159"/>
            <a:ext cx="4873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自分が作った &amp; まで置き換えてしまい、画面に「&amp;lt;」と出る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2834640"/>
            <a:ext cx="4873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&amp; を先に置き換えれば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3108960"/>
            <a:ext cx="48737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4404D"/>
                </a:solidFill>
                <a:latin typeface="Menlo"/>
                <a:ea typeface="Menlo"/>
                <a:cs typeface="Menlo"/>
              </a:rPr>
              <a:t>&lt;</a:t>
            </a:r>
            <a:r>
              <a:rPr sz="15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  →  </a:t>
            </a:r>
            <a:r>
              <a:rPr sz="1500" b="1">
                <a:solidFill>
                  <a:srgbClr val="0E7C72"/>
                </a:solidFill>
                <a:latin typeface="Menlo"/>
                <a:ea typeface="Menlo"/>
                <a:cs typeface="Menlo"/>
              </a:rPr>
              <a:t>&amp;lt;</a:t>
            </a:r>
            <a:r>
              <a:rPr sz="1100" b="0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　画面には「&lt;」と出る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3794760"/>
            <a:ext cx="5330952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3931920"/>
            <a:ext cx="487375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エスケープ ＝ 文字を消すことではない</a:t>
            </a:r>
          </a:p>
          <a:p>
            <a:pPr algn="l"/>
            <a:r>
              <a:rPr sz="6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/>
            </a:r>
          </a:p>
          <a:p>
            <a:pPr algn="l"/>
            <a:r>
              <a:rPr sz="12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トークナイザが特別扱いする文字を、</a:t>
            </a:r>
          </a:p>
          <a:p>
            <a:pPr algn="l"/>
            <a:r>
              <a:rPr sz="12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文字参照（</a:t>
            </a:r>
            <a:r>
              <a:rPr sz="1200" b="1">
                <a:solidFill>
                  <a:srgbClr val="24404D"/>
                </a:solidFill>
                <a:latin typeface="Menlo"/>
                <a:ea typeface="Menlo"/>
                <a:cs typeface="Menlo"/>
              </a:rPr>
              <a:t>&amp;lt;</a:t>
            </a:r>
            <a:r>
              <a:rPr sz="12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 など）に言い換えるだけ。</a:t>
            </a:r>
          </a:p>
          <a:p>
            <a:pPr algn="l"/>
            <a:r>
              <a:rPr sz="6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/>
            </a:r>
          </a:p>
          <a:p>
            <a:pPr algn="l"/>
            <a:r>
              <a:rPr sz="12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文字参照はトークナイザの中で「ただの文字」に戻るので、</a:t>
            </a:r>
          </a:p>
          <a:p>
            <a:pPr algn="l"/>
            <a:r>
              <a:rPr sz="12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画面には元の文字がそのまま表示される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822960"/>
            <a:ext cx="2459736" cy="457200"/>
          </a:xfrm>
          <a:prstGeom prst="roundRect">
            <a:avLst>
              <a:gd name="adj" fmla="val 12000"/>
            </a:avLst>
          </a:prstGeom>
          <a:solidFill>
            <a:srgbClr val="244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245973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埋め込む場所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71800" y="822960"/>
            <a:ext cx="2276856" cy="457200"/>
          </a:xfrm>
          <a:prstGeom prst="roundRect">
            <a:avLst>
              <a:gd name="adj" fmla="val 12000"/>
            </a:avLst>
          </a:prstGeom>
          <a:solidFill>
            <a:srgbClr val="244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71800" y="822960"/>
            <a:ext cx="22768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トークナイザの状態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822960"/>
            <a:ext cx="1911095" cy="457200"/>
          </a:xfrm>
          <a:prstGeom prst="roundRect">
            <a:avLst>
              <a:gd name="adj" fmla="val 12000"/>
            </a:avLst>
          </a:prstGeom>
          <a:solidFill>
            <a:srgbClr val="244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0" y="822960"/>
            <a:ext cx="19110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そこから抜け出す文字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79" y="822960"/>
            <a:ext cx="1133856" cy="457200"/>
          </a:xfrm>
          <a:prstGeom prst="roundRect">
            <a:avLst>
              <a:gd name="adj" fmla="val 12000"/>
            </a:avLst>
          </a:prstGeom>
          <a:solidFill>
            <a:srgbClr val="244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69479" y="822960"/>
            <a:ext cx="11338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文字参照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822960"/>
            <a:ext cx="3218688" cy="457200"/>
          </a:xfrm>
          <a:prstGeom prst="roundRect">
            <a:avLst>
              <a:gd name="adj" fmla="val 12000"/>
            </a:avLst>
          </a:prstGeom>
          <a:solidFill>
            <a:srgbClr val="244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822960"/>
            <a:ext cx="32186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必要な対策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371600"/>
            <a:ext cx="2459736" cy="987552"/>
          </a:xfrm>
          <a:prstGeom prst="roundRect">
            <a:avLst>
              <a:gd name="adj" fmla="val 8000"/>
            </a:avLst>
          </a:prstGeom>
          <a:solidFill>
            <a:srgbClr val="E6F5F2"/>
          </a:solidFill>
          <a:ln w="12700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371600"/>
            <a:ext cx="2276856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03520" y="1371600"/>
            <a:ext cx="1911095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269479" y="1371600"/>
            <a:ext cx="1133856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58200" y="1371600"/>
            <a:ext cx="3218688" cy="987552"/>
          </a:xfrm>
          <a:prstGeom prst="roundRect">
            <a:avLst>
              <a:gd name="adj" fmla="val 8000"/>
            </a:avLst>
          </a:prstGeom>
          <a:solidFill>
            <a:srgbClr val="E6F5F2"/>
          </a:solidFill>
          <a:ln w="12700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1499615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本文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187452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24404D"/>
                </a:solidFill>
                <a:latin typeface="Menlo"/>
                <a:ea typeface="Menlo"/>
                <a:cs typeface="Menlo"/>
              </a:rPr>
              <a:t>&lt;p&gt;{v}&lt;/p&gt;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1371600"/>
            <a:ext cx="2093976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Data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1371600"/>
            <a:ext cx="1911095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D9433B"/>
                </a:solidFill>
                <a:latin typeface="Menlo"/>
                <a:ea typeface="Menlo"/>
                <a:cs typeface="Menlo"/>
              </a:rPr>
              <a:t>&lt;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79" y="1371600"/>
            <a:ext cx="1133856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解釈される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1371600"/>
            <a:ext cx="2944368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HTMLエスケープ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450592"/>
            <a:ext cx="2459736" cy="987552"/>
          </a:xfrm>
          <a:prstGeom prst="roundRect">
            <a:avLst>
              <a:gd name="adj" fmla="val 8000"/>
            </a:avLst>
          </a:prstGeom>
          <a:solidFill>
            <a:srgbClr val="E6F5F2"/>
          </a:solidFill>
          <a:ln w="12700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971800" y="2450592"/>
            <a:ext cx="2276856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303520" y="2450592"/>
            <a:ext cx="1911095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269479" y="2450592"/>
            <a:ext cx="1133856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58200" y="2450592"/>
            <a:ext cx="3218688" cy="987552"/>
          </a:xfrm>
          <a:prstGeom prst="roundRect">
            <a:avLst>
              <a:gd name="adj" fmla="val 8000"/>
            </a:avLst>
          </a:prstGeom>
          <a:solidFill>
            <a:srgbClr val="E6F5F2"/>
          </a:solidFill>
          <a:ln w="12700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2578608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属性値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953511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24404D"/>
                </a:solidFill>
                <a:latin typeface="Menlo"/>
                <a:ea typeface="Menlo"/>
                <a:cs typeface="Menlo"/>
              </a:rPr>
              <a:t>title="{v}"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40" y="2450592"/>
            <a:ext cx="2093976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Attribute value</a:t>
            </a:r>
          </a:p>
          <a:p>
            <a:pPr algn="ctr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(double-quoted) state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2450592"/>
            <a:ext cx="1911095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D9433B"/>
                </a:solidFill>
                <a:latin typeface="Menlo"/>
                <a:ea typeface="Menlo"/>
                <a:cs typeface="Menlo"/>
              </a:rPr>
              <a:t>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79" y="2450592"/>
            <a:ext cx="1133856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解釈される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2450592"/>
            <a:ext cx="2944368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HTMLエスケープ（" を含む）</a:t>
            </a:r>
          </a:p>
          <a:p>
            <a:pPr algn="l"/>
            <a:r>
              <a:rPr sz="115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＋ 属性値は必ず " で囲む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529584"/>
            <a:ext cx="2459736" cy="987552"/>
          </a:xfrm>
          <a:prstGeom prst="roundRect">
            <a:avLst>
              <a:gd name="adj" fmla="val 8000"/>
            </a:avLst>
          </a:prstGeom>
          <a:solidFill>
            <a:srgbClr val="FBEBEA"/>
          </a:solidFill>
          <a:ln w="1270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971800" y="3529584"/>
            <a:ext cx="2276856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303520" y="3529584"/>
            <a:ext cx="1911095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269479" y="3529584"/>
            <a:ext cx="1133856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458200" y="3529584"/>
            <a:ext cx="3218688" cy="987552"/>
          </a:xfrm>
          <a:prstGeom prst="roundRect">
            <a:avLst>
              <a:gd name="adj" fmla="val 8000"/>
            </a:avLst>
          </a:prstGeom>
          <a:solidFill>
            <a:srgbClr val="FBEBEA"/>
          </a:solidFill>
          <a:ln w="1270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3657600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script要素の中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032504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24404D"/>
                </a:solidFill>
                <a:latin typeface="Menlo"/>
                <a:ea typeface="Menlo"/>
                <a:cs typeface="Menlo"/>
              </a:rPr>
              <a:t>&lt;script&gt;…{v}…&lt;/script&gt;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63240" y="3529584"/>
            <a:ext cx="2093976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Script data state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0" y="3529584"/>
            <a:ext cx="1911095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9433B"/>
                </a:solidFill>
                <a:latin typeface="Menlo"/>
                <a:ea typeface="Menlo"/>
                <a:cs typeface="Menlo"/>
              </a:rPr>
              <a:t>&lt;/script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79" y="3529584"/>
            <a:ext cx="1133856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解釈されない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3529584"/>
            <a:ext cx="2944368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HTMLエスケープは効かない</a:t>
            </a:r>
          </a:p>
          <a:p>
            <a:pPr algn="l"/>
            <a:r>
              <a:rPr sz="1150" b="1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JSONにして &lt; を \u003c にする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608576"/>
            <a:ext cx="2459736" cy="987552"/>
          </a:xfrm>
          <a:prstGeom prst="roundRect">
            <a:avLst>
              <a:gd name="adj" fmla="val 8000"/>
            </a:avLst>
          </a:prstGeom>
          <a:solidFill>
            <a:srgbClr val="FBEBEA"/>
          </a:solidFill>
          <a:ln w="1270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2971800" y="4608576"/>
            <a:ext cx="2276856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303520" y="4608576"/>
            <a:ext cx="1911095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269479" y="4608576"/>
            <a:ext cx="1133856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458200" y="4608576"/>
            <a:ext cx="3218688" cy="987552"/>
          </a:xfrm>
          <a:prstGeom prst="roundRect">
            <a:avLst>
              <a:gd name="adj" fmla="val 8000"/>
            </a:avLst>
          </a:prstGeom>
          <a:solidFill>
            <a:srgbClr val="FBEBEA"/>
          </a:solidFill>
          <a:ln w="1270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6928" y="4736592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URLを入れる属性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5111496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24404D"/>
                </a:solidFill>
                <a:latin typeface="Menlo"/>
                <a:ea typeface="Menlo"/>
                <a:cs typeface="Menlo"/>
              </a:rPr>
              <a:t>href="{v}"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63240" y="4608576"/>
            <a:ext cx="2093976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Attribute value state</a:t>
            </a:r>
          </a:p>
          <a:p>
            <a:pPr algn="ctr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→ その後URLとして解釈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0" y="4608576"/>
            <a:ext cx="1911095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（抜け出さない）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9479" y="4608576"/>
            <a:ext cx="1133856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解釈される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95360" y="4608576"/>
            <a:ext cx="2944368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HTMLエスケープだけでは足りない</a:t>
            </a:r>
          </a:p>
          <a:p>
            <a:pPr algn="l"/>
            <a:r>
              <a:rPr sz="1150" b="1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スキームを http / https に限定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57607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参考：HTML Living Standard 13.2.5.1 Data state / 13.2.5.4 Script data state / 13.2.5.36 Attribute value (double-quoted) state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717804"/>
            <a:ext cx="2633472" cy="457200"/>
          </a:xfrm>
          <a:prstGeom prst="roundRect">
            <a:avLst>
              <a:gd name="adj" fmla="val 15000"/>
            </a:avLst>
          </a:prstGeom>
          <a:solidFill>
            <a:srgbClr val="D94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17804"/>
            <a:ext cx="26334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攻撃者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39312" y="717804"/>
            <a:ext cx="2633472" cy="457200"/>
          </a:xfrm>
          <a:prstGeom prst="roundRect">
            <a:avLst>
              <a:gd name="adj" fmla="val 15000"/>
            </a:avLst>
          </a:prstGeom>
          <a:solidFill>
            <a:srgbClr val="0E7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39312" y="717804"/>
            <a:ext cx="26334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Webアプリ（サーバ）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64224" y="717804"/>
            <a:ext cx="2633472" cy="457200"/>
          </a:xfrm>
          <a:prstGeom prst="roundRect">
            <a:avLst>
              <a:gd name="adj" fmla="val 15000"/>
            </a:avLst>
          </a:prstGeom>
          <a:solidFill>
            <a:srgbClr val="244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64224" y="717804"/>
            <a:ext cx="26334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被害者のブラウザの中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89136" y="717804"/>
            <a:ext cx="2633472" cy="457200"/>
          </a:xfrm>
          <a:prstGeom prst="roundRect">
            <a:avLst>
              <a:gd name="adj" fmla="val 15000"/>
            </a:avLst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89136" y="717804"/>
            <a:ext cx="26334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被害者に見えていること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54990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44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5499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1293876"/>
            <a:ext cx="2633472" cy="896112"/>
          </a:xfrm>
          <a:prstGeom prst="roundRect">
            <a:avLst>
              <a:gd name="adj" fmla="val 10000"/>
            </a:avLst>
          </a:prstGeom>
          <a:solidFill>
            <a:srgbClr val="FBEBEA"/>
          </a:solidFill>
          <a:ln w="1905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293876"/>
            <a:ext cx="2450591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掲示板に、スクリプトを</a:t>
            </a:r>
          </a:p>
          <a:p>
            <a:pPr algn="ctr"/>
            <a:r>
              <a:rPr sz="1150" b="0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含む文字列を投稿する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39312" y="1293876"/>
            <a:ext cx="2633472" cy="896112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 w="19050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0752" y="1293876"/>
            <a:ext cx="2450591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投稿をそのまま</a:t>
            </a:r>
          </a:p>
          <a:p>
            <a:pPr algn="ctr"/>
            <a:r>
              <a:rPr sz="1150" b="0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DBに保存する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64224" y="1293876"/>
            <a:ext cx="2633472" cy="896112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E4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89136" y="1293876"/>
            <a:ext cx="2633472" cy="896112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E4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11480" y="25374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44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5374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2281428"/>
            <a:ext cx="2633472" cy="896112"/>
          </a:xfrm>
          <a:prstGeom prst="roundRect">
            <a:avLst>
              <a:gd name="adj" fmla="val 10000"/>
            </a:avLst>
          </a:prstGeom>
          <a:solidFill>
            <a:srgbClr val="FBEBEA"/>
          </a:solidFill>
          <a:ln w="1905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2281428"/>
            <a:ext cx="2450591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あとは待つだけ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39312" y="2281428"/>
            <a:ext cx="2633472" cy="896112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E4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64224" y="2281428"/>
            <a:ext cx="2633472" cy="896112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E4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89136" y="2281428"/>
            <a:ext cx="2633472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0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0576" y="2281428"/>
            <a:ext cx="2450591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08A24"/>
                </a:solidFill>
                <a:latin typeface="Hiragino Sans"/>
                <a:ea typeface="Hiragino Sans"/>
                <a:cs typeface="Hiragino Sans"/>
              </a:rPr>
              <a:t>いつもの掲示板を</a:t>
            </a:r>
          </a:p>
          <a:p>
            <a:pPr algn="ctr"/>
            <a:r>
              <a:rPr sz="1150" b="1">
                <a:solidFill>
                  <a:srgbClr val="F08A24"/>
                </a:solidFill>
                <a:latin typeface="Hiragino Sans"/>
                <a:ea typeface="Hiragino Sans"/>
                <a:cs typeface="Hiragino Sans"/>
              </a:rPr>
              <a:t>開く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35250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44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52501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3268980"/>
            <a:ext cx="2633472" cy="896112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E4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639312" y="3268980"/>
            <a:ext cx="2633472" cy="896112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 w="19050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30752" y="3268980"/>
            <a:ext cx="2450591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保存された投稿を</a:t>
            </a:r>
          </a:p>
          <a:p>
            <a:pPr algn="ctr"/>
            <a:r>
              <a:rPr sz="1150" b="0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エスケープせずに</a:t>
            </a:r>
          </a:p>
          <a:p>
            <a:pPr algn="ctr"/>
            <a:r>
              <a:rPr sz="1150" b="0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HTMLへ埋め込んで返す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64224" y="3268980"/>
            <a:ext cx="2633472" cy="896112"/>
          </a:xfrm>
          <a:prstGeom prst="roundRect">
            <a:avLst>
              <a:gd name="adj" fmla="val 10000"/>
            </a:avLst>
          </a:prstGeom>
          <a:solidFill>
            <a:srgbClr val="F1F3F4"/>
          </a:solidFill>
          <a:ln w="19050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3268980"/>
            <a:ext cx="2450591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トークナイザが生の &lt; を</a:t>
            </a:r>
          </a:p>
          <a:p>
            <a:pPr algn="ctr"/>
            <a:r>
              <a:rPr sz="115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読み、script要素ができる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89136" y="3268980"/>
            <a:ext cx="2633472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0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80576" y="3268980"/>
            <a:ext cx="2450591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08A24"/>
                </a:solidFill>
                <a:latin typeface="Hiragino Sans"/>
                <a:ea typeface="Hiragino Sans"/>
                <a:cs typeface="Hiragino Sans"/>
              </a:rPr>
              <a:t>いつも通りのページ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" y="451256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44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451256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4256532"/>
            <a:ext cx="2633472" cy="896112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E4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639312" y="4256532"/>
            <a:ext cx="2633472" cy="896112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E4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364224" y="4256532"/>
            <a:ext cx="2633472" cy="896112"/>
          </a:xfrm>
          <a:prstGeom prst="roundRect">
            <a:avLst>
              <a:gd name="adj" fmla="val 10000"/>
            </a:avLst>
          </a:prstGeom>
          <a:solidFill>
            <a:srgbClr val="F1F3F4"/>
          </a:solidFill>
          <a:ln w="19050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55664" y="4256532"/>
            <a:ext cx="2450591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スクリプトが「そのサイトの</a:t>
            </a:r>
          </a:p>
          <a:p>
            <a:pPr algn="ctr"/>
            <a:r>
              <a:rPr sz="115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ページの一部」として動き、</a:t>
            </a:r>
          </a:p>
          <a:p>
            <a:pPr algn="ctr"/>
            <a:r>
              <a:rPr sz="115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Cookieや画面の情報を読む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89136" y="4256532"/>
            <a:ext cx="2633472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0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80576" y="4256532"/>
            <a:ext cx="2450591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08A24"/>
                </a:solidFill>
                <a:latin typeface="Hiragino Sans"/>
                <a:ea typeface="Hiragino Sans"/>
                <a:cs typeface="Hiragino Sans"/>
              </a:rPr>
              <a:t>何も起きていない</a:t>
            </a:r>
          </a:p>
          <a:p>
            <a:pPr algn="ctr"/>
            <a:r>
              <a:rPr sz="1150" b="1">
                <a:solidFill>
                  <a:srgbClr val="F08A24"/>
                </a:solidFill>
                <a:latin typeface="Hiragino Sans"/>
                <a:ea typeface="Hiragino Sans"/>
                <a:cs typeface="Hiragino Sans"/>
              </a:rPr>
              <a:t>ように見える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" y="550011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44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550011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" y="5244084"/>
            <a:ext cx="2633472" cy="896112"/>
          </a:xfrm>
          <a:prstGeom prst="roundRect">
            <a:avLst>
              <a:gd name="adj" fmla="val 10000"/>
            </a:avLst>
          </a:prstGeom>
          <a:solidFill>
            <a:srgbClr val="FBEBEA"/>
          </a:solidFill>
          <a:ln w="1905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" y="5244084"/>
            <a:ext cx="2450591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受け取った情報で</a:t>
            </a:r>
          </a:p>
          <a:p>
            <a:pPr algn="ctr"/>
            <a:r>
              <a:rPr sz="1150" b="0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被害者になりすます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639312" y="5244084"/>
            <a:ext cx="2633472" cy="896112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E4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364224" y="5244084"/>
            <a:ext cx="2633472" cy="896112"/>
          </a:xfrm>
          <a:prstGeom prst="roundRect">
            <a:avLst>
              <a:gd name="adj" fmla="val 10000"/>
            </a:avLst>
          </a:prstGeom>
          <a:solidFill>
            <a:srgbClr val="F1F3F4"/>
          </a:solidFill>
          <a:ln w="19050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55664" y="5244084"/>
            <a:ext cx="2450591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読んだ情報を、</a:t>
            </a:r>
          </a:p>
          <a:p>
            <a:pPr algn="ctr"/>
            <a:r>
              <a:rPr sz="115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攻撃者のサーバへ送る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89136" y="5244084"/>
            <a:ext cx="2633472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0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80576" y="5244084"/>
            <a:ext cx="2450591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08A24"/>
                </a:solidFill>
                <a:latin typeface="Hiragino Sans"/>
                <a:ea typeface="Hiragino Sans"/>
                <a:cs typeface="Hiragino Sans"/>
              </a:rPr>
              <a:t>気づかない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996696"/>
            <a:ext cx="1682495" cy="457200"/>
          </a:xfrm>
          <a:prstGeom prst="roundRect">
            <a:avLst>
              <a:gd name="adj" fmla="val 12000"/>
            </a:avLst>
          </a:prstGeom>
          <a:solidFill>
            <a:srgbClr val="244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96696"/>
            <a:ext cx="16824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種類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94560" y="996696"/>
            <a:ext cx="2962656" cy="457200"/>
          </a:xfrm>
          <a:prstGeom prst="roundRect">
            <a:avLst>
              <a:gd name="adj" fmla="val 12000"/>
            </a:avLst>
          </a:prstGeom>
          <a:solidFill>
            <a:srgbClr val="244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94560" y="996696"/>
            <a:ext cx="29626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罠を仕込む場所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79" y="996696"/>
            <a:ext cx="3054096" cy="457200"/>
          </a:xfrm>
          <a:prstGeom prst="roundRect">
            <a:avLst>
              <a:gd name="adj" fmla="val 12000"/>
            </a:avLst>
          </a:prstGeom>
          <a:solidFill>
            <a:srgbClr val="244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9" y="996696"/>
            <a:ext cx="305409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文字列をHTMLに入れるのは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996696"/>
            <a:ext cx="3355848" cy="457200"/>
          </a:xfrm>
          <a:prstGeom prst="roundRect">
            <a:avLst>
              <a:gd name="adj" fmla="val 12000"/>
            </a:avLst>
          </a:prstGeom>
          <a:solidFill>
            <a:srgbClr val="244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996696"/>
            <a:ext cx="33558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被害者が踏むきっかけ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545336"/>
            <a:ext cx="1682495" cy="1143000"/>
          </a:xfrm>
          <a:prstGeom prst="roundRect">
            <a:avLst>
              <a:gd name="adj" fmla="val 10000"/>
            </a:avLst>
          </a:prstGeom>
          <a:solidFill>
            <a:srgbClr val="FBEBEA"/>
          </a:solidFill>
          <a:ln w="1905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45336"/>
            <a:ext cx="1682495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反射型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1545336"/>
            <a:ext cx="2962656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1545336"/>
            <a:ext cx="2688336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罠URLのクエリ（? 以降）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79" y="1545336"/>
            <a:ext cx="3054096" cy="1143000"/>
          </a:xfrm>
          <a:prstGeom prst="roundRect">
            <a:avLst>
              <a:gd name="adj" fmla="val 8000"/>
            </a:avLst>
          </a:prstGeom>
          <a:solidFill>
            <a:srgbClr val="E6F5F2"/>
          </a:solidFill>
          <a:ln w="19050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1545336"/>
            <a:ext cx="2779776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サーバ</a:t>
            </a:r>
          </a:p>
          <a:p>
            <a:pPr algn="l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リクエストの値を、</a:t>
            </a:r>
          </a:p>
          <a:p>
            <a:pPr algn="l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そのまま応答のHTMLに入れる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545336"/>
            <a:ext cx="335584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545336"/>
            <a:ext cx="3081528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攻撃者が送った罠URLを</a:t>
            </a:r>
          </a:p>
          <a:p>
            <a:pPr algn="l"/>
            <a:r>
              <a:rPr sz="12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被害者がクリックする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779776"/>
            <a:ext cx="1682495" cy="1143000"/>
          </a:xfrm>
          <a:prstGeom prst="roundRect">
            <a:avLst>
              <a:gd name="adj" fmla="val 10000"/>
            </a:avLst>
          </a:prstGeom>
          <a:solidFill>
            <a:srgbClr val="FBEBEA"/>
          </a:solidFill>
          <a:ln w="1905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779776"/>
            <a:ext cx="1682495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格納型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94560" y="2779776"/>
            <a:ext cx="2962656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31720" y="2779776"/>
            <a:ext cx="2688336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掲示板の投稿など、</a:t>
            </a:r>
          </a:p>
          <a:p>
            <a:pPr algn="l"/>
            <a:r>
              <a:rPr sz="12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サーバに保存されるデータ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12079" y="2779776"/>
            <a:ext cx="3054096" cy="1143000"/>
          </a:xfrm>
          <a:prstGeom prst="roundRect">
            <a:avLst>
              <a:gd name="adj" fmla="val 8000"/>
            </a:avLst>
          </a:prstGeom>
          <a:solidFill>
            <a:srgbClr val="E6F5F2"/>
          </a:solidFill>
          <a:ln w="19050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9240" y="2779776"/>
            <a:ext cx="2779776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サーバ</a:t>
            </a:r>
          </a:p>
          <a:p>
            <a:pPr algn="l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保存したデータを、</a:t>
            </a:r>
          </a:p>
          <a:p>
            <a:pPr algn="l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ページのHTMLに入れる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2779776"/>
            <a:ext cx="335584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2779776"/>
            <a:ext cx="3081528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いつものページを開くだけ</a:t>
            </a:r>
          </a:p>
          <a:p>
            <a:pPr algn="l"/>
            <a:r>
              <a:rPr sz="12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（罠URLすら要らない）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014216"/>
            <a:ext cx="1682495" cy="1143000"/>
          </a:xfrm>
          <a:prstGeom prst="roundRect">
            <a:avLst>
              <a:gd name="adj" fmla="val 10000"/>
            </a:avLst>
          </a:prstGeom>
          <a:solidFill>
            <a:srgbClr val="FBEBEA"/>
          </a:solidFill>
          <a:ln w="1905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014216"/>
            <a:ext cx="1682495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DOM型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94560" y="4014216"/>
            <a:ext cx="2962656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31720" y="4014216"/>
            <a:ext cx="2688336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URLの # 以降など、</a:t>
            </a:r>
          </a:p>
          <a:p>
            <a:pPr algn="l"/>
            <a:r>
              <a:rPr sz="12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ページ内のJSが読む場所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12079" y="4014216"/>
            <a:ext cx="3054096" cy="114300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9050">
            <a:solidFill>
              <a:srgbClr val="244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49240" y="4014216"/>
            <a:ext cx="2779776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ブラウザ上のJavaScript</a:t>
            </a:r>
          </a:p>
          <a:p>
            <a:pPr algn="l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読んだ値を、</a:t>
            </a:r>
          </a:p>
          <a:p>
            <a:pPr algn="l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innerHTML などでDOMに入れる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21040" y="4014216"/>
            <a:ext cx="335584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8200" y="4014216"/>
            <a:ext cx="3081528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罠URLをクリックする</a:t>
            </a:r>
          </a:p>
          <a:p>
            <a:pPr algn="l"/>
            <a:r>
              <a:rPr sz="12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（# 以降はサーバに送られない）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294376"/>
            <a:ext cx="1124712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0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294376"/>
            <a:ext cx="10789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どの型でも、最後にスクリプトが動くのは被害者のブラウザの中。違うのは「罠の置き場所」と「誰がHTMLに入れるか」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26280" y="777240"/>
            <a:ext cx="1920240" cy="960120"/>
          </a:xfrm>
          <a:prstGeom prst="roundRect">
            <a:avLst>
              <a:gd name="adj" fmla="val 12000"/>
            </a:avLst>
          </a:prstGeom>
          <a:solidFill>
            <a:srgbClr val="E6F5F2"/>
          </a:solidFill>
          <a:ln w="25400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26280" y="777240"/>
            <a:ext cx="19202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Webサーバ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20840" y="777240"/>
            <a:ext cx="1371600" cy="960120"/>
          </a:xfrm>
          <a:prstGeom prst="roundRect">
            <a:avLst>
              <a:gd name="adj" fmla="val 12000"/>
            </a:avLst>
          </a:prstGeom>
          <a:solidFill>
            <a:srgbClr val="F1F3F4"/>
          </a:solidFill>
          <a:ln w="25400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20840" y="777240"/>
            <a:ext cx="13716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DB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931920"/>
            <a:ext cx="2103120" cy="960120"/>
          </a:xfrm>
          <a:prstGeom prst="roundRect">
            <a:avLst>
              <a:gd name="adj" fmla="val 12000"/>
            </a:avLst>
          </a:prstGeom>
          <a:solidFill>
            <a:srgbClr val="FBEBEA"/>
          </a:solidFill>
          <a:ln w="2540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931920"/>
            <a:ext cx="2103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攻撃者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57784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BEBEA"/>
          </a:solidFill>
          <a:ln w="2540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5577840"/>
            <a:ext cx="2468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攻撃者の回収サーバ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154680"/>
            <a:ext cx="3931920" cy="333756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 w="25400">
            <a:solidFill>
              <a:srgbClr val="244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329184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被害者のブラウザ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4251960"/>
            <a:ext cx="5120640" cy="182880"/>
          </a:xfrm>
          <a:prstGeom prst="line">
            <a:avLst/>
          </a:prstGeom>
          <a:ln w="25400">
            <a:solidFill>
              <a:srgbClr val="D943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34640" y="3246120"/>
            <a:ext cx="3108960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07792" y="3246120"/>
            <a:ext cx="296265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① 罠URL（?q=スクリプト）を</a:t>
            </a:r>
          </a:p>
          <a:p>
            <a:pPr algn="ctr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メールやSNSで送る</a:t>
            </a:r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6035040" y="1737360"/>
            <a:ext cx="2743200" cy="1417320"/>
          </a:xfrm>
          <a:prstGeom prst="line">
            <a:avLst/>
          </a:prstGeom>
          <a:ln w="25400">
            <a:solidFill>
              <a:srgbClr val="5E76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286000"/>
            <a:ext cx="274320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5E7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45552" y="2286000"/>
            <a:ext cx="2596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② 罠URLでアクセス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94960" y="1737360"/>
            <a:ext cx="2743200" cy="1417320"/>
          </a:xfrm>
          <a:prstGeom prst="line">
            <a:avLst/>
          </a:prstGeom>
          <a:ln w="25400">
            <a:solidFill>
              <a:srgbClr val="D943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566160" y="2011680"/>
            <a:ext cx="356616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9312" y="2011680"/>
            <a:ext cx="341985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③ クエリの値をそのまま応答のHTMLに入れて返す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840480"/>
            <a:ext cx="3383280" cy="1417320"/>
          </a:xfrm>
          <a:prstGeom prst="roundRect">
            <a:avLst>
              <a:gd name="adj" fmla="val 10000"/>
            </a:avLst>
          </a:prstGeom>
          <a:solidFill>
            <a:srgbClr val="FBEBEA"/>
          </a:solidFill>
          <a:ln w="2286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393192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④ HTMLパーサがscript要素を作り実行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4297680"/>
            <a:ext cx="3108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届いたHTMLの中に</a:t>
            </a:r>
          </a:p>
          <a:p>
            <a:pPr algn="l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script要素ができてしまう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5394960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→ Cookie・画面の情報を読み、</a:t>
            </a:r>
          </a:p>
          <a:p>
            <a:pPr algn="ctr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   攻撃者の回収サーバへ送る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3017520" y="6080760"/>
            <a:ext cx="5212080" cy="411480"/>
          </a:xfrm>
          <a:prstGeom prst="line">
            <a:avLst/>
          </a:prstGeom>
          <a:ln w="25400">
            <a:solidFill>
              <a:srgbClr val="D943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931920" y="5669280"/>
            <a:ext cx="310896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05072" y="5669280"/>
            <a:ext cx="296265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⑤ 盗んだ情報を攻撃者へ送信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点線の DB はこの型では使われない。罠の文字列はサーバを素通りして（保存されず）すぐ応答に反射される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26280" y="777240"/>
            <a:ext cx="1920240" cy="960120"/>
          </a:xfrm>
          <a:prstGeom prst="roundRect">
            <a:avLst>
              <a:gd name="adj" fmla="val 12000"/>
            </a:avLst>
          </a:prstGeom>
          <a:solidFill>
            <a:srgbClr val="E6F5F2"/>
          </a:solidFill>
          <a:ln w="25400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26280" y="777240"/>
            <a:ext cx="19202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Webサーバ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20840" y="777240"/>
            <a:ext cx="1371600" cy="960120"/>
          </a:xfrm>
          <a:prstGeom prst="roundRect">
            <a:avLst>
              <a:gd name="adj" fmla="val 12000"/>
            </a:avLst>
          </a:prstGeom>
          <a:solidFill>
            <a:srgbClr val="E6F5F2"/>
          </a:solidFill>
          <a:ln w="25400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20840" y="777240"/>
            <a:ext cx="13716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DB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931920"/>
            <a:ext cx="2103120" cy="960120"/>
          </a:xfrm>
          <a:prstGeom prst="roundRect">
            <a:avLst>
              <a:gd name="adj" fmla="val 12000"/>
            </a:avLst>
          </a:prstGeom>
          <a:solidFill>
            <a:srgbClr val="FBEBEA"/>
          </a:solidFill>
          <a:ln w="2540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931920"/>
            <a:ext cx="2103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攻撃者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57784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BEBEA"/>
          </a:solidFill>
          <a:ln w="2540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5577840"/>
            <a:ext cx="2468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攻撃者の回収サーバ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154680"/>
            <a:ext cx="3931920" cy="333756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 w="25400">
            <a:solidFill>
              <a:srgbClr val="244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329184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被害者のブラウザ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651760" y="1737360"/>
            <a:ext cx="2103120" cy="2331720"/>
          </a:xfrm>
          <a:prstGeom prst="line">
            <a:avLst/>
          </a:prstGeom>
          <a:ln w="25400">
            <a:solidFill>
              <a:srgbClr val="D943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4400" y="2606040"/>
            <a:ext cx="2743200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606040"/>
            <a:ext cx="259689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① スクリプトを含む</a:t>
            </a:r>
          </a:p>
          <a:p>
            <a:pPr algn="ctr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投稿を送る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6446520" y="1252728"/>
            <a:ext cx="274320" cy="0"/>
          </a:xfrm>
          <a:prstGeom prst="line">
            <a:avLst/>
          </a:prstGeom>
          <a:ln w="25400">
            <a:solidFill>
              <a:srgbClr val="D943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760720" y="1965960"/>
            <a:ext cx="237744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33872" y="1965960"/>
            <a:ext cx="223113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② そのまま保存</a:t>
            </a:r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6126480" y="1737360"/>
            <a:ext cx="2834640" cy="1417320"/>
          </a:xfrm>
          <a:prstGeom prst="line">
            <a:avLst/>
          </a:prstGeom>
          <a:ln w="25400">
            <a:solidFill>
              <a:srgbClr val="5E76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863840" y="2377440"/>
            <a:ext cx="292608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5E7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36992" y="2377440"/>
            <a:ext cx="27797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③ いつものページを開く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394960" y="1737360"/>
            <a:ext cx="2743200" cy="1417320"/>
          </a:xfrm>
          <a:prstGeom prst="line">
            <a:avLst/>
          </a:prstGeom>
          <a:ln w="25400">
            <a:solidFill>
              <a:srgbClr val="D943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291840" y="3108960"/>
            <a:ext cx="384048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64992" y="3108960"/>
            <a:ext cx="36941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④ 保存データをHTMLに入れて応答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840480"/>
            <a:ext cx="3383280" cy="1417320"/>
          </a:xfrm>
          <a:prstGeom prst="roundRect">
            <a:avLst>
              <a:gd name="adj" fmla="val 10000"/>
            </a:avLst>
          </a:prstGeom>
          <a:solidFill>
            <a:srgbClr val="FBEBEA"/>
          </a:solidFill>
          <a:ln w="2286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79" y="393192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⑤ HTMLパーサがscript要素を作り実行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4297680"/>
            <a:ext cx="3108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保存された投稿が</a:t>
            </a:r>
          </a:p>
          <a:p>
            <a:pPr algn="l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script要素になる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5394960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→ Cookie・画面の情報を読み、</a:t>
            </a:r>
          </a:p>
          <a:p>
            <a:pPr algn="ctr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   攻撃者の回収サーバへ送る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3017520" y="6080760"/>
            <a:ext cx="5212080" cy="411480"/>
          </a:xfrm>
          <a:prstGeom prst="line">
            <a:avLst/>
          </a:prstGeom>
          <a:ln w="25400">
            <a:solidFill>
              <a:srgbClr val="D943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931920" y="5669280"/>
            <a:ext cx="310896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05072" y="5669280"/>
            <a:ext cx="296265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⑥ 盗んだ情報を攻撃者へ送信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罠は DB に保存される。被害者は罠URLすら踏まず、普通にページを開くだけで発動する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26280" y="777240"/>
            <a:ext cx="1920240" cy="960120"/>
          </a:xfrm>
          <a:prstGeom prst="roundRect">
            <a:avLst>
              <a:gd name="adj" fmla="val 12000"/>
            </a:avLst>
          </a:prstGeom>
          <a:solidFill>
            <a:srgbClr val="E6F5F2"/>
          </a:solidFill>
          <a:ln w="25400">
            <a:solidFill>
              <a:srgbClr val="1A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26280" y="777240"/>
            <a:ext cx="19202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E7C72"/>
                </a:solidFill>
                <a:latin typeface="Hiragino Sans"/>
                <a:ea typeface="Hiragino Sans"/>
                <a:cs typeface="Hiragino Sans"/>
              </a:rPr>
              <a:t>Webサーバ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20840" y="777240"/>
            <a:ext cx="1371600" cy="960120"/>
          </a:xfrm>
          <a:prstGeom prst="roundRect">
            <a:avLst>
              <a:gd name="adj" fmla="val 12000"/>
            </a:avLst>
          </a:prstGeom>
          <a:solidFill>
            <a:srgbClr val="F1F3F4"/>
          </a:solidFill>
          <a:ln w="25400">
            <a:solidFill>
              <a:srgbClr val="C2C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20840" y="777240"/>
            <a:ext cx="13716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DB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931920"/>
            <a:ext cx="2103120" cy="960120"/>
          </a:xfrm>
          <a:prstGeom prst="roundRect">
            <a:avLst>
              <a:gd name="adj" fmla="val 12000"/>
            </a:avLst>
          </a:prstGeom>
          <a:solidFill>
            <a:srgbClr val="FBEBEA"/>
          </a:solidFill>
          <a:ln w="2540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931920"/>
            <a:ext cx="2103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攻撃者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57784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BEBEA"/>
          </a:solidFill>
          <a:ln w="2540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5577840"/>
            <a:ext cx="2468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攻撃者の回収サーバ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154680"/>
            <a:ext cx="3931920" cy="333756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 w="25400">
            <a:solidFill>
              <a:srgbClr val="244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329184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被害者のブラウザ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4251960"/>
            <a:ext cx="5120640" cy="182880"/>
          </a:xfrm>
          <a:prstGeom prst="line">
            <a:avLst/>
          </a:prstGeom>
          <a:ln w="25400">
            <a:solidFill>
              <a:srgbClr val="D943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34640" y="3246120"/>
            <a:ext cx="3108960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07792" y="3246120"/>
            <a:ext cx="2962656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① 罠URL（#スクリプト）を</a:t>
            </a:r>
          </a:p>
          <a:p>
            <a:pPr algn="ctr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メールやSNSで送る</a:t>
            </a:r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6035040" y="1737360"/>
            <a:ext cx="2743200" cy="1417320"/>
          </a:xfrm>
          <a:prstGeom prst="line">
            <a:avLst/>
          </a:prstGeom>
          <a:ln w="25400">
            <a:solidFill>
              <a:srgbClr val="5E76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223760" y="2240280"/>
            <a:ext cx="329184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5E7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2240280"/>
            <a:ext cx="314553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② ページを取得（# 以降は送らない）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94960" y="1737360"/>
            <a:ext cx="2743200" cy="1417320"/>
          </a:xfrm>
          <a:prstGeom prst="line">
            <a:avLst/>
          </a:prstGeom>
          <a:ln w="25400">
            <a:solidFill>
              <a:srgbClr val="5E76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291840" y="2011680"/>
            <a:ext cx="365760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5E7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64992" y="2011680"/>
            <a:ext cx="35112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③ 普通のページ（JS入り）を応答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840480"/>
            <a:ext cx="3383280" cy="1417320"/>
          </a:xfrm>
          <a:prstGeom prst="roundRect">
            <a:avLst>
              <a:gd name="adj" fmla="val 10000"/>
            </a:avLst>
          </a:prstGeom>
          <a:solidFill>
            <a:srgbClr val="FBEBEA"/>
          </a:solidFill>
          <a:ln w="2286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393192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433B"/>
                </a:solidFill>
                <a:latin typeface="Hiragino Sans"/>
                <a:ea typeface="Hiragino Sans"/>
                <a:cs typeface="Hiragino Sans"/>
              </a:rPr>
              <a:t>④ ページ内のJSが # を読み、innerHTML でDOMに入れて実行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4297680"/>
            <a:ext cx="3108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文字列をHTMLに入れるのは</a:t>
            </a:r>
          </a:p>
          <a:p>
            <a:pPr algn="l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サーバではなくブラウザ上のJS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5394960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→ Cookie・画面の情報を読み、</a:t>
            </a:r>
          </a:p>
          <a:p>
            <a:pPr algn="ctr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   攻撃者の回収サーバへ送る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3017520" y="6080760"/>
            <a:ext cx="5212080" cy="411480"/>
          </a:xfrm>
          <a:prstGeom prst="line">
            <a:avLst/>
          </a:prstGeom>
          <a:ln w="25400">
            <a:solidFill>
              <a:srgbClr val="D943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931920" y="5669280"/>
            <a:ext cx="310896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D9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05072" y="5669280"/>
            <a:ext cx="296265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24404D"/>
                </a:solidFill>
                <a:latin typeface="Hiragino Sans"/>
                <a:ea typeface="Hiragino Sans"/>
                <a:cs typeface="Hiragino Sans"/>
              </a:rPr>
              <a:t>⑤ 盗んだ情報を攻撃者へ送信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E7682"/>
                </a:solidFill>
                <a:latin typeface="Hiragino Sans"/>
                <a:ea typeface="Hiragino Sans"/>
                <a:cs typeface="Hiragino Sans"/>
              </a:rPr>
              <a:t>文字列をHTMLに入れるのはサーバではなくブラウザ上のJavaScript。# 以降はサーバに届かない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