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ブラウザのHTMLパーサ：全体像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47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サーバから届いたバイト列は、4つの段階を経て「画面」と「実行されるスクリプト」になる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2514600" cy="23317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 w="1905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554480"/>
            <a:ext cx="21854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バイト列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984248"/>
            <a:ext cx="218541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サーバからの応答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2807208"/>
            <a:ext cx="2185416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2880360"/>
            <a:ext cx="200253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3C 70 3E E3 81 93 …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08376" y="2583180"/>
            <a:ext cx="310896" cy="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355848" y="1417320"/>
            <a:ext cx="2514600" cy="23317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 w="1905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1554480"/>
            <a:ext cx="21854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① デコード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1984248"/>
            <a:ext cx="218541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文字コードに従って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文字の並びにする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2807208"/>
            <a:ext cx="2185416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2880360"/>
            <a:ext cx="200253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 p &gt; こ ん …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907024" y="2583180"/>
            <a:ext cx="310896" cy="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254496" y="1417320"/>
            <a:ext cx="2514600" cy="2331720"/>
          </a:xfrm>
          <a:prstGeom prst="roundRect">
            <a:avLst>
              <a:gd name="adj" fmla="val 8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1554480"/>
            <a:ext cx="21854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② トークナイザ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1984248"/>
            <a:ext cx="218541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字句解析。1文字ずつ読み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「タグ」か「文字」かを決める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19088" y="2807208"/>
            <a:ext cx="2185416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2880360"/>
            <a:ext cx="200253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StartTag(p)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Character(こ) …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805672" y="2583180"/>
            <a:ext cx="310896" cy="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153144" y="1417320"/>
            <a:ext cx="2514600" cy="2331720"/>
          </a:xfrm>
          <a:prstGeom prst="roundRect">
            <a:avLst>
              <a:gd name="adj" fmla="val 8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17736" y="1554480"/>
            <a:ext cx="21854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③ ツリー構築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17736" y="1984248"/>
            <a:ext cx="218541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トークンを積み上げて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DOMツリーを作る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17736" y="2807208"/>
            <a:ext cx="2185416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09176" y="2880360"/>
            <a:ext cx="200253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html &gt; body &gt; p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  └ "こんにちは"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0410444" y="3767327"/>
            <a:ext cx="0" cy="393193"/>
          </a:xfrm>
          <a:prstGeom prst="line">
            <a:avLst/>
          </a:prstGeom>
          <a:ln w="25400">
            <a:solidFill>
              <a:srgbClr val="0E7C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07424" y="4206240"/>
            <a:ext cx="2606040" cy="56692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53144" y="4206240"/>
            <a:ext cx="2514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④ 描画（レイアウト・ペイント）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07424" y="4892040"/>
            <a:ext cx="2606040" cy="56692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53144" y="4892040"/>
            <a:ext cx="2514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script要素ならJSエンジンで実行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511796" y="3767327"/>
            <a:ext cx="0" cy="393193"/>
          </a:xfrm>
          <a:prstGeom prst="line">
            <a:avLst/>
          </a:prstGeom>
          <a:ln w="25400">
            <a:solidFill>
              <a:srgbClr val="D943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457200" y="4206240"/>
            <a:ext cx="8311896" cy="1252728"/>
          </a:xfrm>
          <a:prstGeom prst="roundRect">
            <a:avLst>
              <a:gd name="adj" fmla="val 8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4315968"/>
            <a:ext cx="785469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「どこからどこまでがタグか」はトークナイザで決まる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サーバは文字列を埋め込んだだけ。それを「文字」と読むか「タグ」と読むかは、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被害者のブラウザのトークナイザが、</a:t>
            </a:r>
            <a:r>
              <a:rPr sz="12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</a:t>
            </a:r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を見た瞬間に決めている（SQLiでいう字句解析と同じ役割）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71500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参考：HTML Living Standard 13.2「Parsing HTML documents」（13.2.3 入力バイトストリーム / 13.2.5 トークン化 / 13.2.6 ツリー構築）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トークナイザは「状態」を切り替えながら1文字ずつ読む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47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同じ「&lt;」でも、生の文字で来るか文字参照（&amp;lt;）で来るかで、たどる状態がまったく違う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258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入力 </a:t>
            </a:r>
            <a:r>
              <a:rPr sz="13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&lt;b&gt;太字&lt;/b&gt;</a:t>
            </a:r>
            <a:r>
              <a:rPr sz="13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　（生の &lt; が来た場合）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83080"/>
            <a:ext cx="2103120" cy="868680"/>
          </a:xfrm>
          <a:prstGeom prst="roundRect">
            <a:avLst>
              <a:gd name="adj" fmla="val 20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01952"/>
            <a:ext cx="2103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データ状態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6771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Data state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783080"/>
            <a:ext cx="2103120" cy="868680"/>
          </a:xfrm>
          <a:prstGeom prst="roundRect">
            <a:avLst>
              <a:gd name="adj" fmla="val 2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0" y="1901952"/>
            <a:ext cx="2103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タグ開始状態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26771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Tag open state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783080"/>
            <a:ext cx="2103120" cy="868680"/>
          </a:xfrm>
          <a:prstGeom prst="roundRect">
            <a:avLst>
              <a:gd name="adj" fmla="val 2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1901952"/>
            <a:ext cx="2103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タグ名状態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26771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Tag name state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0" y="1783080"/>
            <a:ext cx="269748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0" y="1892807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StartTag(b) を出力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0" y="2258568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→ ツリーに b 要素ができる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587751" y="2217420"/>
            <a:ext cx="676657" cy="0"/>
          </a:xfrm>
          <a:prstGeom prst="line">
            <a:avLst/>
          </a:prstGeom>
          <a:ln w="25400">
            <a:solidFill>
              <a:srgbClr val="D943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560320" y="182880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22392" y="2217420"/>
            <a:ext cx="676656" cy="0"/>
          </a:xfrm>
          <a:prstGeom prst="line">
            <a:avLst/>
          </a:prstGeom>
          <a:ln w="25400">
            <a:solidFill>
              <a:srgbClr val="D943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394960" y="1828800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b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57031" y="2217420"/>
            <a:ext cx="676657" cy="0"/>
          </a:xfrm>
          <a:prstGeom prst="line">
            <a:avLst/>
          </a:prstGeom>
          <a:ln w="25400">
            <a:solidFill>
              <a:srgbClr val="D943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29600" y="182880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063240"/>
            <a:ext cx="6400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入力 </a:t>
            </a:r>
            <a:r>
              <a:rPr sz="13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&amp;lt;b&amp;gt;太字</a:t>
            </a:r>
            <a:r>
              <a:rPr sz="13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　（エスケープされて来た場合）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520440"/>
            <a:ext cx="2103120" cy="868680"/>
          </a:xfrm>
          <a:prstGeom prst="roundRect">
            <a:avLst>
              <a:gd name="adj" fmla="val 20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639312"/>
            <a:ext cx="2103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データ状態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00507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Data state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91840" y="3520440"/>
            <a:ext cx="2103120" cy="868680"/>
          </a:xfrm>
          <a:prstGeom prst="roundRect">
            <a:avLst>
              <a:gd name="adj" fmla="val 20000"/>
            </a:avLst>
          </a:prstGeom>
          <a:solidFill>
            <a:srgbClr val="F1F3F4"/>
          </a:solidFill>
          <a:ln w="1905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91840" y="3639312"/>
            <a:ext cx="2103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文字参照状態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1840" y="400507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Character reference state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26480" y="3520440"/>
            <a:ext cx="210312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26480" y="363016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Character(&lt;) を出力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0" y="3995928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ただの「文字」として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61120" y="3520440"/>
            <a:ext cx="269748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0" y="3630168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データ状態に戻る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61120" y="3995928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→ 画面に「&lt;b&gt;太字」と表示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2587751" y="3954780"/>
            <a:ext cx="676657" cy="0"/>
          </a:xfrm>
          <a:prstGeom prst="line">
            <a:avLst/>
          </a:prstGeom>
          <a:ln w="25400">
            <a:solidFill>
              <a:srgbClr val="0E7C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2560320" y="356616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422392" y="3954780"/>
            <a:ext cx="676656" cy="0"/>
          </a:xfrm>
          <a:prstGeom prst="line">
            <a:avLst/>
          </a:prstGeom>
          <a:ln w="25400">
            <a:solidFill>
              <a:srgbClr val="0E7C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394960" y="3566160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lt;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257031" y="3954780"/>
            <a:ext cx="676657" cy="0"/>
          </a:xfrm>
          <a:prstGeom prst="line">
            <a:avLst/>
          </a:prstGeom>
          <a:ln w="25400">
            <a:solidFill>
              <a:srgbClr val="0E7C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457200" y="4754880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Hiragino Sans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" y="4773168"/>
            <a:ext cx="4754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トークナイザは「今どの状態か」と「次の1文字」だけで動く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26480" y="4754880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Hiragino Sans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773168"/>
            <a:ext cx="4754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タグ開始状態に入れるのは、生の「&lt;」だけ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57800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Hiragino Sans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" y="5276088"/>
            <a:ext cx="4754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&amp;lt; は文字参照状態を通り、「&lt;」という文字として出てくる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26480" y="5257800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Hiragino Sans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29400" y="5276088"/>
            <a:ext cx="4754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&lt;script&gt; の中身は専用の状態（Script data state）で読まれる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585216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参考：HTML Living Standard 13.2.5「Tokenization」（13.2.5.1 Data state / 13.2.5.6 Tag open state / 13.2.5.77 Character reference state）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