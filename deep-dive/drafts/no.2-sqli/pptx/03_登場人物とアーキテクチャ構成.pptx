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60350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91440" y="-91440"/>
            <a:ext cx="12984480" cy="6217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80360" y="960120"/>
            <a:ext cx="6720840" cy="3977639"/>
          </a:xfrm>
          <a:prstGeom prst="roundRect">
            <a:avLst>
              <a:gd name="adj" fmla="val 4500"/>
            </a:avLst>
          </a:prstGeom>
          <a:solidFill>
            <a:srgbClr val="ECF2FA"/>
          </a:solidFill>
          <a:ln w="22225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44952" y="749808"/>
            <a:ext cx="1641348" cy="420624"/>
          </a:xfrm>
          <a:prstGeom prst="roundRect">
            <a:avLst>
              <a:gd name="adj" fmla="val 35000"/>
            </a:avLst>
          </a:prstGeom>
          <a:solidFill>
            <a:srgbClr val="2E5E8E"/>
          </a:solidFill>
          <a:ln w="1270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Noto Sans CJK JP"/>
              </a:rPr>
              <a:t>Webシステム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2240279"/>
            <a:ext cx="1828800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54680" y="2240279"/>
            <a:ext cx="1828800" cy="14173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A5C"/>
                </a:solidFill>
                <a:latin typeface="Noto Sans CJK JP"/>
              </a:rPr>
              <a:t>Webブラウザ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Noto Sans CJK JP"/>
              </a:rPr>
              <a:t>＋ 入力フォーム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</a:rPr>
              <a:t>同じHTTPリクエスト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240279"/>
            <a:ext cx="1920240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2240279"/>
            <a:ext cx="1920240" cy="14173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A5C"/>
                </a:solidFill>
                <a:latin typeface="Noto Sans CJK JP"/>
              </a:rPr>
              <a:t>Webアプリ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A5C"/>
                </a:solidFill>
                <a:latin typeface="Noto Sans CJK JP"/>
              </a:rPr>
              <a:t>ケーション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</a:rPr>
              <a:t>値でSQLを組み立てる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240279"/>
            <a:ext cx="1828800" cy="14173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240279"/>
            <a:ext cx="1828800" cy="14173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A5C"/>
                </a:solidFill>
                <a:latin typeface="Noto Sans CJK JP"/>
              </a:rPr>
              <a:t>データベース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F3A5C"/>
                </a:solidFill>
                <a:latin typeface="Noto Sans Mono CJK JP"/>
              </a:rPr>
              <a:t>(SQL)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</a:rPr>
              <a:t>届いたSQLを実行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80" y="2948939"/>
            <a:ext cx="274320" cy="0"/>
          </a:xfrm>
          <a:prstGeom prst="line">
            <a:avLst/>
          </a:prstGeom>
          <a:ln w="19050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78040" y="2948939"/>
            <a:ext cx="274320" cy="0"/>
          </a:xfrm>
          <a:prstGeom prst="line">
            <a:avLst/>
          </a:prstGeom>
          <a:ln w="19050">
            <a:solidFill>
              <a:srgbClr val="3C5A7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83480" y="941832"/>
            <a:ext cx="2468880" cy="457200"/>
          </a:xfrm>
          <a:prstGeom prst="roundRect">
            <a:avLst>
              <a:gd name="adj" fmla="val 30000"/>
            </a:avLst>
          </a:prstGeom>
          <a:solidFill>
            <a:srgbClr val="E6F3F1"/>
          </a:solidFill>
          <a:ln w="15875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E8A82"/>
                </a:solidFill>
                <a:latin typeface="Noto Sans CJK JP"/>
              </a:rPr>
              <a:t>★ 防御はここ（プレースホルダ）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1399032"/>
            <a:ext cx="0" cy="841247"/>
          </a:xfrm>
          <a:prstGeom prst="line">
            <a:avLst/>
          </a:prstGeom>
          <a:ln w="17780">
            <a:solidFill>
              <a:srgbClr val="1E8A8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040" y="1371600"/>
            <a:ext cx="219456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1728216"/>
            <a:ext cx="219456" cy="219456"/>
          </a:xfrm>
          <a:prstGeom prst="ellipse">
            <a:avLst/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776" y="1984248"/>
            <a:ext cx="438912" cy="237744"/>
          </a:xfrm>
          <a:prstGeom prst="roundRect">
            <a:avLst>
              <a:gd name="adj" fmla="val 4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1371600"/>
            <a:ext cx="1536192" cy="11887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E5E8E"/>
                </a:solidFill>
                <a:latin typeface="Noto Sans CJK JP"/>
              </a:rPr>
              <a:t>正規ユーザー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</a:rPr>
              <a:t>入力: </a:t>
            </a:r>
            <a:r>
              <a:rPr sz="1000" b="1">
                <a:solidFill>
                  <a:srgbClr val="1F3A5C"/>
                </a:solidFill>
                <a:latin typeface="Noto Sans Mono CJK JP"/>
              </a:rPr>
              <a:t>alice / 正しいpass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611880"/>
            <a:ext cx="2194560" cy="11887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3968496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3776" y="4224528"/>
            <a:ext cx="438912" cy="237744"/>
          </a:xfrm>
          <a:prstGeom prst="roundRect">
            <a:avLst>
              <a:gd name="adj" fmla="val 4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" y="3611880"/>
            <a:ext cx="1536192" cy="11887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0392B"/>
                </a:solidFill>
                <a:latin typeface="Noto Sans CJK JP"/>
              </a:rPr>
              <a:t>攻撃者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Noto Sans CJK JP"/>
              </a:rPr>
              <a:t>入力: </a:t>
            </a:r>
            <a:r>
              <a:rPr sz="1000" b="1">
                <a:solidFill>
                  <a:srgbClr val="C0392B"/>
                </a:solidFill>
                <a:latin typeface="Noto Sans Mono CJK JP"/>
              </a:rPr>
              <a:t>alice' --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371600"/>
            <a:ext cx="2423160" cy="1188720"/>
          </a:xfrm>
          <a:prstGeom prst="roundRect">
            <a:avLst>
              <a:gd name="adj" fmla="val 16000"/>
            </a:avLst>
          </a:prstGeom>
          <a:solidFill>
            <a:srgbClr val="E6F3F1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371600"/>
            <a:ext cx="2423160" cy="11887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8A82"/>
                </a:solidFill>
                <a:latin typeface="Noto Sans CJK JP"/>
              </a:rPr>
              <a:t>✔ 正常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本人のデータだけが返る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611880"/>
            <a:ext cx="2423160" cy="1188720"/>
          </a:xfrm>
          <a:prstGeom prst="roundRect">
            <a:avLst>
              <a:gd name="adj" fmla="val 16000"/>
            </a:avLst>
          </a:prstGeom>
          <a:solidFill>
            <a:srgbClr val="FBECEA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3611880"/>
            <a:ext cx="2423160" cy="11887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Noto Sans CJK JP"/>
              </a:rPr>
              <a:t>✘ 攻撃成立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認証突破・情報流出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F3A5C"/>
                </a:solidFill>
                <a:latin typeface="Noto Sans CJK JP"/>
              </a:rPr>
              <a:t>データ改竄 / 削除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14600" y="1965960"/>
            <a:ext cx="640080" cy="754379"/>
          </a:xfrm>
          <a:prstGeom prst="line">
            <a:avLst/>
          </a:prstGeom>
          <a:ln w="19050">
            <a:solidFill>
              <a:srgbClr val="2E5E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514600" y="3177539"/>
            <a:ext cx="640080" cy="1028701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281160" y="1965960"/>
            <a:ext cx="777240" cy="754379"/>
          </a:xfrm>
          <a:prstGeom prst="line">
            <a:avLst/>
          </a:prstGeom>
          <a:ln w="19050">
            <a:solidFill>
              <a:srgbClr val="1E8A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81160" y="3177539"/>
            <a:ext cx="777240" cy="1028701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0040" y="5212079"/>
            <a:ext cx="12161520" cy="566928"/>
          </a:xfrm>
          <a:prstGeom prst="roundRect">
            <a:avLst>
              <a:gd name="adj" fmla="val 20000"/>
            </a:avLst>
          </a:prstGeom>
          <a:solidFill>
            <a:srgbClr val="F4F6F8"/>
          </a:solidFill>
          <a:ln w="12700">
            <a:solidFill>
              <a:srgbClr val="D7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F3A5C"/>
                </a:solidFill>
                <a:latin typeface="Noto Sans CJK JP"/>
              </a:rPr>
              <a:t>違うのは「入力文字列」だけ。同じ画面・同じ経路を通る以上、UIや通信路では善悪を区別できない → </a:t>
            </a:r>
            <a:r>
              <a:rPr sz="1150" b="1">
                <a:solidFill>
                  <a:srgbClr val="2E5E8E"/>
                </a:solidFill>
                <a:latin typeface="Noto Sans CJK JP"/>
              </a:rPr>
              <a:t>アプリ内部で構造と値を分離して防ぐ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