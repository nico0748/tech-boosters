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984480" cy="5577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" y="-91440"/>
            <a:ext cx="13167359" cy="57607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965960"/>
            <a:ext cx="2468880" cy="1188720"/>
          </a:xfrm>
          <a:prstGeom prst="roundRect">
            <a:avLst>
              <a:gd name="adj" fmla="val 16000"/>
            </a:avLst>
          </a:prstGeom>
          <a:solidFill>
            <a:srgbClr val="2B3A4A"/>
          </a:solidFill>
          <a:ln w="12700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965960"/>
            <a:ext cx="2468880" cy="1188720"/>
          </a:xfrm>
          <a:prstGeom prst="rect">
            <a:avLst/>
          </a:prstGeom>
          <a:noFill/>
        </p:spPr>
        <p:txBody>
          <a:bodyPr wrap="square" anchor="ctr" l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Noto Sans CJK JP"/>
              </a:rPr>
              <a:t>同じ入力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D6DDE6"/>
                </a:solidFill>
                <a:latin typeface="Noto Sans Mono CJK JP"/>
              </a:rPr>
              <a:t>name = </a:t>
            </a:r>
            <a:r>
              <a:rPr sz="1200" b="1">
                <a:solidFill>
                  <a:srgbClr val="FFFFFF"/>
                </a:solidFill>
                <a:latin typeface="Noto Sans Mono CJK JP"/>
              </a:rPr>
              <a:t>alice' --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6DDE6"/>
                </a:solidFill>
                <a:latin typeface="Noto Sans CJK JP"/>
              </a:rPr>
              <a:t>（フォームに入力）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502920"/>
            <a:ext cx="2697480" cy="12801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502920"/>
            <a:ext cx="2697480" cy="1280160"/>
          </a:xfrm>
          <a:prstGeom prst="rect">
            <a:avLst/>
          </a:prstGeom>
          <a:noFill/>
        </p:spPr>
        <p:txBody>
          <a:bodyPr wrap="square" anchor="ctr" l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0392B"/>
                </a:solidFill>
                <a:latin typeface="Noto Sans CJK JP"/>
              </a:rPr>
              <a:t>危険：文字列連結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Noto Sans CJK JP"/>
              </a:rPr>
              <a:t>値をそのままSQLに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Noto Sans CJK JP"/>
              </a:rPr>
              <a:t>埋め込む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502920"/>
            <a:ext cx="3246120" cy="12801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502920"/>
            <a:ext cx="3246120" cy="1280160"/>
          </a:xfrm>
          <a:prstGeom prst="rect">
            <a:avLst/>
          </a:prstGeom>
          <a:noFill/>
        </p:spPr>
        <p:txBody>
          <a:bodyPr wrap="square" anchor="ctr" l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0392B"/>
                </a:solidFill>
                <a:latin typeface="Noto Sans CJK JP"/>
              </a:rPr>
              <a:t>SQLの構造が壊れる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3A5C"/>
                </a:solidFill>
                <a:latin typeface="Noto Sans Mono CJK JP"/>
              </a:rPr>
              <a:t>name='</a:t>
            </a:r>
            <a:r>
              <a:rPr sz="1000" b="1">
                <a:solidFill>
                  <a:srgbClr val="C0392B"/>
                </a:solidFill>
                <a:latin typeface="Noto Sans Mono CJK JP"/>
              </a:rPr>
              <a:t>alice'--</a:t>
            </a:r>
            <a:r>
              <a:rPr sz="950" b="0">
                <a:solidFill>
                  <a:srgbClr val="1F3A5C"/>
                </a:solidFill>
                <a:latin typeface="Noto Sans Mono CJK JP"/>
              </a:rPr>
              <a:t>' AND ...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Noto Sans CJK JP"/>
              </a:rPr>
              <a:t>pass条件が消える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502920"/>
            <a:ext cx="3108960" cy="1280160"/>
          </a:xfrm>
          <a:prstGeom prst="roundRect">
            <a:avLst>
              <a:gd name="adj" fmla="val 16000"/>
            </a:avLst>
          </a:prstGeom>
          <a:solidFill>
            <a:srgbClr val="FB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502920"/>
            <a:ext cx="3108960" cy="1280160"/>
          </a:xfrm>
          <a:prstGeom prst="rect">
            <a:avLst/>
          </a:prstGeom>
          <a:noFill/>
        </p:spPr>
        <p:txBody>
          <a:bodyPr wrap="square" anchor="ctr" l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0392B"/>
                </a:solidFill>
                <a:latin typeface="Noto Sans CJK JP"/>
              </a:rPr>
              <a:t>✘ 認証を突破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3A5C"/>
                </a:solidFill>
                <a:latin typeface="Noto Sans CJK JP"/>
              </a:rPr>
              <a:t>パスワードが違っても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3A5C"/>
                </a:solidFill>
                <a:latin typeface="Noto Sans CJK JP"/>
              </a:rPr>
              <a:t>通る ＝ SQLi成立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06440" y="1143000"/>
            <a:ext cx="228600" cy="0"/>
          </a:xfrm>
          <a:prstGeom prst="line">
            <a:avLst/>
          </a:prstGeom>
          <a:ln w="2032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81159" y="1143000"/>
            <a:ext cx="274321" cy="0"/>
          </a:xfrm>
          <a:prstGeom prst="line">
            <a:avLst/>
          </a:prstGeom>
          <a:ln w="2032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08960" y="3611880"/>
            <a:ext cx="2697480" cy="12801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3611880"/>
            <a:ext cx="2697480" cy="1280160"/>
          </a:xfrm>
          <a:prstGeom prst="rect">
            <a:avLst/>
          </a:prstGeom>
          <a:noFill/>
        </p:spPr>
        <p:txBody>
          <a:bodyPr wrap="square" anchor="ctr" l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8A82"/>
                </a:solidFill>
                <a:latin typeface="Noto Sans CJK JP"/>
              </a:rPr>
              <a:t>安全：プレースホルダ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Noto Sans CJK JP"/>
              </a:rPr>
              <a:t>命令と値を別々に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Noto Sans CJK JP"/>
              </a:rPr>
              <a:t>送る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611880"/>
            <a:ext cx="3246120" cy="12801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3611880"/>
            <a:ext cx="3246120" cy="1280160"/>
          </a:xfrm>
          <a:prstGeom prst="rect">
            <a:avLst/>
          </a:prstGeom>
          <a:noFill/>
        </p:spPr>
        <p:txBody>
          <a:bodyPr wrap="square" anchor="ctr" l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8A82"/>
                </a:solidFill>
                <a:latin typeface="Noto Sans CJK JP"/>
              </a:rPr>
              <a:t>命令と値が分離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3A5C"/>
                </a:solidFill>
                <a:latin typeface="Noto Sans Mono CJK JP"/>
              </a:rPr>
              <a:t>命令: name=?</a:t>
            </a:r>
            <a:r>
              <a:rPr sz="950" b="0">
                <a:solidFill>
                  <a:srgbClr val="1F3A5C"/>
                </a:solidFill>
                <a:latin typeface="Noto Sans Mono CJK JP"/>
              </a:rPr>
              <a:t>  値:[</a:t>
            </a:r>
            <a:r>
              <a:rPr sz="1000" b="1">
                <a:solidFill>
                  <a:srgbClr val="1E8A82"/>
                </a:solidFill>
                <a:latin typeface="Noto Sans Mono CJK JP"/>
              </a:rPr>
              <a:t>alice'--</a:t>
            </a:r>
            <a:r>
              <a:rPr sz="950" b="0">
                <a:solidFill>
                  <a:srgbClr val="1F3A5C"/>
                </a:solidFill>
                <a:latin typeface="Noto Sans Mono CJK JP"/>
              </a:rPr>
              <a:t>]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Noto Sans CJK JP"/>
              </a:rPr>
              <a:t>値は構文解析を通らない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3611880"/>
            <a:ext cx="3108960" cy="1280160"/>
          </a:xfrm>
          <a:prstGeom prst="roundRect">
            <a:avLst>
              <a:gd name="adj" fmla="val 16000"/>
            </a:avLst>
          </a:prstGeom>
          <a:solidFill>
            <a:srgbClr val="E6F3F1"/>
          </a:solidFill>
          <a:ln w="1905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3611880"/>
            <a:ext cx="3108960" cy="1280160"/>
          </a:xfrm>
          <a:prstGeom prst="rect">
            <a:avLst/>
          </a:prstGeom>
          <a:noFill/>
        </p:spPr>
        <p:txBody>
          <a:bodyPr wrap="square" anchor="ctr" l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8A82"/>
                </a:solidFill>
                <a:latin typeface="Noto Sans CJK JP"/>
              </a:rPr>
              <a:t>✔ 値として比較→拒否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3A5C"/>
                </a:solidFill>
                <a:latin typeface="Noto Sans CJK JP"/>
              </a:rPr>
              <a:t>name不一致で弾く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3A5C"/>
                </a:solidFill>
                <a:latin typeface="Noto Sans CJK JP"/>
              </a:rPr>
              <a:t>構造は書き換わらない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06440" y="4251960"/>
            <a:ext cx="228600" cy="0"/>
          </a:xfrm>
          <a:prstGeom prst="line">
            <a:avLst/>
          </a:prstGeom>
          <a:ln w="20320">
            <a:solidFill>
              <a:srgbClr val="1E8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281159" y="4251960"/>
            <a:ext cx="274321" cy="0"/>
          </a:xfrm>
          <a:prstGeom prst="line">
            <a:avLst/>
          </a:prstGeom>
          <a:ln w="20320">
            <a:solidFill>
              <a:srgbClr val="1E8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788920" y="1143000"/>
            <a:ext cx="320040" cy="1307591"/>
          </a:xfrm>
          <a:prstGeom prst="line">
            <a:avLst/>
          </a:prstGeom>
          <a:ln w="2032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88920" y="2670048"/>
            <a:ext cx="320040" cy="1581912"/>
          </a:xfrm>
          <a:prstGeom prst="line">
            <a:avLst/>
          </a:prstGeom>
          <a:ln w="20320">
            <a:solidFill>
              <a:srgbClr val="1E8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0040" y="5010912"/>
            <a:ext cx="12344400" cy="457200"/>
          </a:xfrm>
          <a:prstGeom prst="roundRect">
            <a:avLst>
              <a:gd name="adj" fmla="val 22000"/>
            </a:avLst>
          </a:prstGeom>
          <a:solidFill>
            <a:srgbClr val="F4F6F8"/>
          </a:solidFill>
          <a:ln w="12700">
            <a:solidFill>
              <a:srgbClr val="D7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F3A5C"/>
                </a:solidFill>
                <a:latin typeface="Noto Sans CJK JP"/>
              </a:rPr>
              <a:t>同じ文字列でも、</a:t>
            </a:r>
            <a:r>
              <a:rPr sz="1150" b="1">
                <a:solidFill>
                  <a:srgbClr val="2E5E8E"/>
                </a:solidFill>
                <a:latin typeface="Noto Sans CJK JP"/>
              </a:rPr>
              <a:t>構造を書き換えられるか（NG）／ただの値として扱われるか（OK）</a:t>
            </a:r>
            <a:r>
              <a:rPr sz="1150" b="1">
                <a:solidFill>
                  <a:srgbClr val="1F3A5C"/>
                </a:solidFill>
                <a:latin typeface="Noto Sans CJK JP"/>
              </a:rPr>
              <a:t> で結果は正反対になる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