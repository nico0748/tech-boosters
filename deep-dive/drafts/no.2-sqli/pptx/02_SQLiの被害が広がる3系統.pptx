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84480" cy="53949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3167359" cy="5577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920240"/>
            <a:ext cx="2514600" cy="1188720"/>
          </a:xfrm>
          <a:prstGeom prst="roundRect">
            <a:avLst>
              <a:gd name="adj" fmla="val 16000"/>
            </a:avLst>
          </a:prstGeom>
          <a:solidFill>
            <a:srgbClr val="2B3A4A"/>
          </a:solidFill>
          <a:ln w="1270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920240"/>
            <a:ext cx="251460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Noto Sans CJK JP"/>
              </a:rPr>
              <a:t>SQLi成立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6DDE6"/>
                </a:solidFill>
                <a:latin typeface="Noto Sans CJK JP"/>
              </a:rPr>
              <a:t>命令を注入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6DDE6"/>
                </a:solidFill>
                <a:latin typeface="Noto Sans CJK JP"/>
              </a:rPr>
              <a:t>できた状態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834640" y="1051560"/>
            <a:ext cx="320040" cy="1463040"/>
          </a:xfrm>
          <a:prstGeom prst="line">
            <a:avLst/>
          </a:prstGeom>
          <a:ln w="20320">
            <a:solidFill>
              <a:srgbClr val="2E5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154680" y="457200"/>
            <a:ext cx="301752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457200"/>
            <a:ext cx="301752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5E8E"/>
                </a:solidFill>
                <a:latin typeface="Noto Sans CJK JP"/>
              </a:rPr>
              <a:t>① 読み取り系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Mono CJK JP"/>
              </a:rPr>
              <a:t>SELECT / UNION / Blind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（情報を抜き出す）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72200" y="1051560"/>
            <a:ext cx="365760" cy="0"/>
          </a:xfrm>
          <a:prstGeom prst="line">
            <a:avLst/>
          </a:prstGeom>
          <a:ln w="20320">
            <a:solidFill>
              <a:srgbClr val="2E5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37960" y="457200"/>
            <a:ext cx="6080760" cy="1188720"/>
          </a:xfrm>
          <a:prstGeom prst="roundRect">
            <a:avLst>
              <a:gd name="adj" fmla="val 16000"/>
            </a:avLst>
          </a:prstGeom>
          <a:solidFill>
            <a:srgbClr val="ECF2FA"/>
          </a:solidFill>
          <a:ln w="1905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57200"/>
            <a:ext cx="608076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A5C"/>
                </a:solidFill>
                <a:latin typeface="Noto Sans CJK JP"/>
              </a:rPr>
              <a:t>個人情報・認証情報の流出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会員のメール／パスワードhash、他人の注文データ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5E8E"/>
                </a:solidFill>
                <a:latin typeface="Noto Sans CJK JP"/>
              </a:rPr>
              <a:t>画面に出さない情報まで吸い出される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514600"/>
            <a:ext cx="320040" cy="0"/>
          </a:xfrm>
          <a:prstGeom prst="line">
            <a:avLst/>
          </a:prstGeom>
          <a:ln w="20320">
            <a:solidFill>
              <a:srgbClr val="1E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54680" y="1920240"/>
            <a:ext cx="301752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920240"/>
            <a:ext cx="301752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8A82"/>
                </a:solidFill>
                <a:latin typeface="Noto Sans CJK JP"/>
              </a:rPr>
              <a:t>② 書き込み系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Mono CJK JP"/>
              </a:rPr>
              <a:t>UPDATE / DELETE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（データを書き換える）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72200" y="2514600"/>
            <a:ext cx="365760" cy="0"/>
          </a:xfrm>
          <a:prstGeom prst="line">
            <a:avLst/>
          </a:prstGeom>
          <a:ln w="20320">
            <a:solidFill>
              <a:srgbClr val="1E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1920240"/>
            <a:ext cx="6080760" cy="118872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905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608076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A5C"/>
                </a:solidFill>
                <a:latin typeface="Noto Sans CJK JP"/>
              </a:rPr>
              <a:t>データの改竄・削除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権限をadminに昇格、残高の改竄、テーブル全削除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8A82"/>
                </a:solidFill>
                <a:latin typeface="Noto Sans CJK JP"/>
              </a:rPr>
              <a:t>「見られる」から「壊される」へ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2514600"/>
            <a:ext cx="320040" cy="1463040"/>
          </a:xfrm>
          <a:prstGeom prst="line">
            <a:avLst/>
          </a:prstGeom>
          <a:ln w="2032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54680" y="3383280"/>
            <a:ext cx="301752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80" y="3383280"/>
            <a:ext cx="301752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0392B"/>
                </a:solidFill>
                <a:latin typeface="Noto Sans CJK JP"/>
              </a:rPr>
              <a:t>③ DB機能の悪用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Mono CJK JP"/>
              </a:rPr>
              <a:t>ファイルI/O / OSコマンド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（DBの機能を踏み台に）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3977640"/>
            <a:ext cx="365760" cy="0"/>
          </a:xfrm>
          <a:prstGeom prst="line">
            <a:avLst/>
          </a:prstGeom>
          <a:ln w="2032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37960" y="3383280"/>
            <a:ext cx="6080760" cy="1188720"/>
          </a:xfrm>
          <a:prstGeom prst="roundRect">
            <a:avLst>
              <a:gd name="adj" fmla="val 16000"/>
            </a:avLst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383280"/>
            <a:ext cx="6080760" cy="1188720"/>
          </a:xfrm>
          <a:prstGeom prst="rect">
            <a:avLst/>
          </a:prstGeom>
          <a:noFill/>
        </p:spPr>
        <p:txBody>
          <a:bodyPr wrap="square" anchor="ctr" l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3A5C"/>
                </a:solidFill>
                <a:latin typeface="Noto Sans CJK JP"/>
              </a:rPr>
              <a:t>システム乗っ取りへ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サーバ上のファイル読取、公開領域へ書いて足場化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0392B"/>
                </a:solidFill>
                <a:latin typeface="Noto Sans CJK JP"/>
              </a:rPr>
              <a:t>被害はDBの外、サーバ全体へ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828032"/>
            <a:ext cx="12344400" cy="457200"/>
          </a:xfrm>
          <a:prstGeom prst="roundRect">
            <a:avLst>
              <a:gd name="adj" fmla="val 22000"/>
            </a:avLst>
          </a:prstGeom>
          <a:solidFill>
            <a:srgbClr val="F4F6F8"/>
          </a:solidFill>
          <a:ln w="12700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3A5C"/>
                </a:solidFill>
                <a:latin typeface="Noto Sans CJK JP"/>
              </a:rPr>
              <a:t>共通原理：注入されたのは“命令”。DBにできることは原則すべてやられ得る → </a:t>
            </a:r>
            <a:r>
              <a:rPr sz="1150" b="1">
                <a:solidFill>
                  <a:srgbClr val="2E5E8E"/>
                </a:solidFill>
                <a:latin typeface="Noto Sans CJK JP"/>
              </a:rPr>
              <a:t>プレースホルダで構造と値を分離＋DB権限の最小化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