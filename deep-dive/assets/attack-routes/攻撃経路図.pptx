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主要なWeb攻撃の全体像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攻撃者はどこから入り、どのコンポーネントを狙うのか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3560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25880"/>
            <a:ext cx="4846320" cy="4572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356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利用者のブラウザ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325880"/>
            <a:ext cx="3108960" cy="457200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435607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サーバー環境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2860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3352" y="248716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91056" y="277977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38912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73352" y="4590288"/>
            <a:ext cx="310896" cy="310896"/>
          </a:xfrm>
          <a:prstGeom prst="ellipse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91056" y="4882896"/>
            <a:ext cx="475488" cy="274320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58383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一般利用者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2860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96128" y="2523744"/>
            <a:ext cx="512064" cy="438912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96128" y="2523744"/>
            <a:ext cx="512064" cy="109728"/>
          </a:xfrm>
          <a:prstGeom prst="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2552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ブラウザ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(クライアント)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178308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12096" y="2002536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12096" y="225856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75234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サーバー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0" y="32004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n 26"/>
          <p:cNvSpPr/>
          <p:nvPr/>
        </p:nvSpPr>
        <p:spPr>
          <a:xfrm>
            <a:off x="9930384" y="3419856"/>
            <a:ext cx="438912" cy="475488"/>
          </a:xfrm>
          <a:prstGeom prst="can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4169663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データベース</a:t>
            </a:r>
          </a:p>
        </p:txBody>
      </p:sp>
      <p:sp>
        <p:nvSpPr>
          <p:cNvPr id="29" name="Oval 28"/>
          <p:cNvSpPr/>
          <p:nvPr/>
        </p:nvSpPr>
        <p:spPr>
          <a:xfrm>
            <a:off x="9692640" y="45720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olded Corner 29"/>
          <p:cNvSpPr/>
          <p:nvPr/>
        </p:nvSpPr>
        <p:spPr>
          <a:xfrm>
            <a:off x="9966960" y="4791456"/>
            <a:ext cx="365760" cy="475488"/>
          </a:xfrm>
          <a:prstGeom prst="foldedCorner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55412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ファイル/OS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86000" y="2743200"/>
            <a:ext cx="310896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09360" y="2743200"/>
            <a:ext cx="1645919" cy="0"/>
          </a:xfrm>
          <a:prstGeom prst="line">
            <a:avLst/>
          </a:prstGeom>
          <a:ln w="25400">
            <a:solidFill>
              <a:srgbClr val="7FA0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55279" y="2240280"/>
            <a:ext cx="0" cy="502920"/>
          </a:xfrm>
          <a:prstGeom prst="line">
            <a:avLst/>
          </a:prstGeom>
          <a:ln w="25400">
            <a:solidFill>
              <a:srgbClr val="7FA0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55279" y="2240280"/>
            <a:ext cx="1737361" cy="0"/>
          </a:xfrm>
          <a:prstGeom prst="line">
            <a:avLst/>
          </a:prstGeom>
          <a:ln w="25400">
            <a:solidFill>
              <a:srgbClr val="7FA0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49840" y="2697480"/>
            <a:ext cx="0" cy="502920"/>
          </a:xfrm>
          <a:prstGeom prst="line">
            <a:avLst/>
          </a:prstGeom>
          <a:ln w="25400">
            <a:solidFill>
              <a:srgbClr val="7FA0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149840" y="4114800"/>
            <a:ext cx="0" cy="457200"/>
          </a:xfrm>
          <a:prstGeom prst="line">
            <a:avLst/>
          </a:prstGeom>
          <a:ln w="25400">
            <a:solidFill>
              <a:srgbClr val="7FA0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28800" y="3200400"/>
            <a:ext cx="0" cy="1188720"/>
          </a:xfrm>
          <a:prstGeom prst="line">
            <a:avLst/>
          </a:prstGeom>
          <a:ln w="25400">
            <a:solidFill>
              <a:srgbClr val="D9433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17520" y="259689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不正な入力・リクエスト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59689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HTTP リクエスト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1722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1539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" y="6126480"/>
            <a:ext cx="49743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入口はユーザー入力・URL・ヘッダー・Cookie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61722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61539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6126480"/>
            <a:ext cx="5157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標的はDB・ファイル・OS・他ユーザーのセッション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XSS（クロスサイト・スクリプティング）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罠ページや保存データ経由で、被害者のブラウザ上で不正スクリプトを実行する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420624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81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4813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被害者のブラウザ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3352" y="2761487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91056" y="305409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2958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22860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0096" y="2505456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0096" y="276148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32552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38862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 18"/>
          <p:cNvSpPr/>
          <p:nvPr/>
        </p:nvSpPr>
        <p:spPr>
          <a:xfrm>
            <a:off x="5358383" y="4105656"/>
            <a:ext cx="438912" cy="475488"/>
          </a:xfrm>
          <a:prstGeom prst="can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48554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保存先DB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256032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37192" y="2761487"/>
            <a:ext cx="310896" cy="310896"/>
          </a:xfrm>
          <a:prstGeom prst="ellipse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54896" y="3054096"/>
            <a:ext cx="475488" cy="274320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352958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286000" y="2743200"/>
            <a:ext cx="2834640" cy="27432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77840" y="3200400"/>
            <a:ext cx="0" cy="685800"/>
          </a:xfrm>
          <a:prstGeom prst="line">
            <a:avLst/>
          </a:prstGeom>
          <a:ln w="25400">
            <a:solidFill>
              <a:srgbClr val="7FA0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2743200"/>
            <a:ext cx="4114800" cy="0"/>
          </a:xfrm>
          <a:prstGeom prst="line">
            <a:avLst/>
          </a:prstGeom>
          <a:ln w="25400">
            <a:solidFill>
              <a:srgbClr val="D943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692640" y="2560320"/>
            <a:ext cx="0" cy="18288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34640" y="259689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スクリプトを含む投稿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59689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改ざんされた応答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5440680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攻撃者が &lt;script&gt; を含む文字列を投稿・送信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4024" y="5440680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アプリが無害化せずHTMLに出力/保存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被害者のブラウザでスクリプトが実行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03504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01675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5989320"/>
            <a:ext cx="68945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Cookie窃取・画面改ざん・なりすまし操作へ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SQLインジェクション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入力値がSQL文に連結され、データベースを不正に操作される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22960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813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サーバー環境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335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9105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8289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8289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9473184" y="2871215"/>
            <a:ext cx="438912" cy="475488"/>
          </a:xfrm>
          <a:prstGeom prst="can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データベース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3108960"/>
            <a:ext cx="237744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77840" y="3108960"/>
            <a:ext cx="365760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06040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' OR '1'='1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改ざんされたSQL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11480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E7682"/>
                </a:solidFill>
                <a:latin typeface="Menlo"/>
                <a:ea typeface="Menlo"/>
                <a:cs typeface="Menlo"/>
              </a:rPr>
              <a:t>SELECT * FROM users WHERE id = '〔入力値〕'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入力欄にSQL断片を注入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2584" y="5440680"/>
            <a:ext cx="3328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文字列連結でSQL文が改変される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全件取得・認証回避・改ざん・漏洩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IDOR（安全でない直接オブジェクト参照）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URLやパラメータのIDを書き換え、他人のデータにアクセスする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攻撃者（正規ユーザー）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22960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813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サーバー環境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335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9105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ログイン済み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6577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(認可チェック無)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9473184" y="2871215"/>
            <a:ext cx="438912" cy="475488"/>
          </a:xfrm>
          <a:prstGeom prst="can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他人のデータ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3108960"/>
            <a:ext cx="25603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3108960"/>
            <a:ext cx="34747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319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9433B"/>
                </a:solidFill>
                <a:latin typeface="Menlo"/>
                <a:ea typeface="Menlo"/>
                <a:cs typeface="Menlo"/>
              </a:rPr>
              <a:t>GET /orders?id=1002  →  id=1003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IDを書き換え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本人確認なしで取得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自分のIDを他人のIDに変更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2584" y="5440680"/>
            <a:ext cx="3328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アプリが所有者チェックを怠る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他人の情報を閲覧・改ざん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CSRF（クロスサイト・リクエスト・フォージェリ）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ログイン中の被害者に、気付かぬうちに不正リクエストを送らせる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402336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8132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被害者（ログイン中）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71600"/>
            <a:ext cx="420624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81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正規サイト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4533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攻撃者の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罠サイト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48072" y="2852928"/>
            <a:ext cx="310896" cy="310896"/>
          </a:xfrm>
          <a:prstGeom prst="ellipse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3145536"/>
            <a:ext cx="475488" cy="274320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被害者の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ブラウザ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6345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6345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正規Webアプリ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3108960"/>
            <a:ext cx="260604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60720" y="3108960"/>
            <a:ext cx="338328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97480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罠ページを閲覧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62656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Cookie付き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不正リクエスト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被害者を罠ページへ誘導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5440680"/>
            <a:ext cx="3328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ブラウザが自動でCookieを送信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本人の操作として処理される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SSRF（サーバーサイド・リクエスト・フォージェリ）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サーバーを踏み台に、内部ネットワークへリクエストを送らせる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813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公開Webアプリ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29768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4813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内部ネットワーク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335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9105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6577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201168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loud 18"/>
          <p:cNvSpPr/>
          <p:nvPr/>
        </p:nvSpPr>
        <p:spPr>
          <a:xfrm>
            <a:off x="8869680" y="2267712"/>
            <a:ext cx="548640" cy="402336"/>
          </a:xfrm>
          <a:prstGeom prst="cloud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98094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メタデータ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API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393192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1704" y="4151376"/>
            <a:ext cx="164592" cy="146304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4462272"/>
            <a:ext cx="164592" cy="146304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4462272"/>
            <a:ext cx="164592" cy="146304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901183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内部サービス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3108960"/>
            <a:ext cx="25603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60720" y="2834640"/>
            <a:ext cx="2011680" cy="0"/>
          </a:xfrm>
          <a:prstGeom prst="line">
            <a:avLst/>
          </a:prstGeom>
          <a:ln w="25400">
            <a:solidFill>
              <a:srgbClr val="D943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72400" y="2468880"/>
            <a:ext cx="0" cy="365760"/>
          </a:xfrm>
          <a:prstGeom prst="line">
            <a:avLst/>
          </a:prstGeom>
          <a:ln w="25400">
            <a:solidFill>
              <a:srgbClr val="D943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72400" y="2468880"/>
            <a:ext cx="91440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760720" y="3383280"/>
            <a:ext cx="2011680" cy="0"/>
          </a:xfrm>
          <a:prstGeom prst="line">
            <a:avLst/>
          </a:prstGeom>
          <a:ln w="25400">
            <a:solidFill>
              <a:srgbClr val="D943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0" y="3383280"/>
            <a:ext cx="0" cy="1005840"/>
          </a:xfrm>
          <a:prstGeom prst="line">
            <a:avLst/>
          </a:prstGeom>
          <a:ln w="25400">
            <a:solidFill>
              <a:srgbClr val="D943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0" y="4389120"/>
            <a:ext cx="91440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0" y="2962656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URLを指定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5440680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外部から取得させるURLに内部宛を指定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4024" y="5440680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サーバーが内部資源へアクセス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認証情報・内部APIを窃取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OSコマンドインジェクション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入力値がOSコマンドに渡り、サーバー上で任意コマンドを実行される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22960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813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サーバー環境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335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9105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6577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19" y="2889504"/>
            <a:ext cx="548640" cy="438912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6608" y="2944368"/>
            <a:ext cx="5120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&gt;_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OS / シェル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108960"/>
            <a:ext cx="25603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3108960"/>
            <a:ext cx="34747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31920" y="42062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D9433B"/>
                </a:solidFill>
                <a:latin typeface="Menlo"/>
                <a:ea typeface="Menlo"/>
                <a:cs typeface="Menlo"/>
              </a:rPr>
              <a:t>ping 8.8.8.8 ; rm -rf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; を付けた入力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19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連結されたコマンド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区切り文字でコマンドを追記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4" y="5440680"/>
            <a:ext cx="3328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入力をそのままシェルに渡す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任意コマンド実行・乗っ取り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ディレクトリトラバーサル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../ を使ってファイルパスを遡り、公開範囲外のファイルを読み出す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22960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4813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サーバー環境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335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9105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6577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54896" y="2980944"/>
            <a:ext cx="475488" cy="310896"/>
          </a:xfrm>
          <a:prstGeom prst="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54896" y="2926079"/>
            <a:ext cx="219456" cy="91440"/>
          </a:xfrm>
          <a:prstGeom prst="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ファイルシステム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108960"/>
            <a:ext cx="25603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3108960"/>
            <a:ext cx="34747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319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9433B"/>
                </a:solidFill>
                <a:latin typeface="Menlo"/>
                <a:ea typeface="Menlo"/>
                <a:cs typeface="Menlo"/>
              </a:rPr>
              <a:t>GET /?file=../../../../etc/passwd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../ を含むパス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19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範囲外ファイル参照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パス指定に ../ を混入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4" y="5440680"/>
            <a:ext cx="3328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パスを検証せずファイルを開く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設定・認証情報ファイルが流出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オープンリダイレクト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正規サイトのリダイレクト機能を悪用し、偽サイトへ誘導する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4023360" cy="384048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5875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8132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正規サイト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71600"/>
            <a:ext cx="4206240" cy="3840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81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攻撃者の偽サイト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852928"/>
            <a:ext cx="310896" cy="310896"/>
          </a:xfrm>
          <a:prstGeom prst="ellipse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45336" y="3145536"/>
            <a:ext cx="475488" cy="274320"/>
          </a:xfrm>
          <a:prstGeom prst="roundRec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65776" y="2871215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3127248"/>
            <a:ext cx="475488" cy="201168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正規サイトの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リダイレクト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0" y="265176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nut 18"/>
          <p:cNvSpPr/>
          <p:nvPr/>
        </p:nvSpPr>
        <p:spPr>
          <a:xfrm>
            <a:off x="9363456" y="2871215"/>
            <a:ext cx="475488" cy="475488"/>
          </a:xfrm>
          <a:prstGeom prst="donut">
            <a:avLst/>
          </a:prstGeom>
          <a:solidFill>
            <a:srgbClr val="D9433B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6210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フィッシング</a:t>
            </a:r>
          </a:p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サイト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114800"/>
            <a:ext cx="914400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48072" y="4315968"/>
            <a:ext cx="310896" cy="310896"/>
          </a:xfrm>
          <a:prstGeom prst="ellipse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65776" y="4608576"/>
            <a:ext cx="475488" cy="274320"/>
          </a:xfrm>
          <a:prstGeom prst="roundRect">
            <a:avLst/>
          </a:prstGeom>
          <a:solidFill>
            <a:srgbClr val="13A89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0840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303520" y="3566160"/>
            <a:ext cx="0" cy="548640"/>
          </a:xfrm>
          <a:prstGeom prst="line">
            <a:avLst/>
          </a:prstGeom>
          <a:ln w="25400">
            <a:solidFill>
              <a:srgbClr val="7FA0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60720" y="3108960"/>
            <a:ext cx="338328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83280" y="187451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9433B"/>
                </a:solidFill>
                <a:latin typeface="Menlo"/>
                <a:ea typeface="Menlo"/>
                <a:cs typeface="Menlo"/>
              </a:rPr>
              <a:t>https://正規.example/redirect?url=https://偽.example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62656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偽サイトへ転送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5440680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正規URLに偽の転送先を仕込む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4024" y="5440680"/>
            <a:ext cx="32369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被害者は正規ドメインを信用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548640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0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5468112"/>
            <a:ext cx="3108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8784" y="5440680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偽サイトで認証情報を詐取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