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1051560"/>
            <a:ext cx="8915400" cy="2788920"/>
          </a:xfrm>
          <a:prstGeom prst="roundRect">
            <a:avLst>
              <a:gd name="adj" fmla="val 5000"/>
            </a:avLst>
          </a:prstGeom>
          <a:solidFill>
            <a:srgbClr val="EEF3F9"/>
          </a:solidFill>
          <a:ln w="2286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804671"/>
            <a:ext cx="1988820" cy="493776"/>
          </a:xfrm>
          <a:prstGeom prst="roundRect">
            <a:avLst>
              <a:gd name="adj" fmla="val 50000"/>
            </a:avLst>
          </a:prstGeom>
          <a:solidFill>
            <a:srgbClr val="2E5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JP"/>
                <a:ea typeface="Noto Sans CJK JP"/>
              </a:rPr>
              <a:t>ネットワーク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4434840"/>
            <a:ext cx="11521440" cy="2103120"/>
          </a:xfrm>
          <a:prstGeom prst="roundRect">
            <a:avLst>
              <a:gd name="adj" fmla="val 5000"/>
            </a:avLst>
          </a:prstGeom>
          <a:solidFill>
            <a:srgbClr val="E8F5F3"/>
          </a:solidFill>
          <a:ln w="22860">
            <a:solidFill>
              <a:srgbClr val="1E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187952"/>
            <a:ext cx="3429000" cy="493776"/>
          </a:xfrm>
          <a:prstGeom prst="roundRect">
            <a:avLst>
              <a:gd name="adj" fmla="val 50000"/>
            </a:avLst>
          </a:prstGeom>
          <a:solidFill>
            <a:srgbClr val="1E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JP"/>
                <a:ea typeface="Noto Sans CJK JP"/>
              </a:rPr>
              <a:t>学習（学習中だけ動かす）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3200400" cy="17830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032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64792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1F3A5C"/>
                </a:solidFill>
                <a:latin typeface="Noto Sans CJK JP"/>
                <a:ea typeface="Noto Sans CJK JP"/>
              </a:rPr>
              <a:t>リザバー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6498" y="2316480"/>
            <a:ext cx="960120" cy="3048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6B7280"/>
                </a:solidFill>
                <a:latin typeface="Noto Sans CJK JP"/>
                <a:ea typeface="Noto Sans CJK JP"/>
              </a:rPr>
              <a:t>再帰結合</a:t>
            </a:r>
          </a:p>
        </p:txBody>
      </p:sp>
      <p:pic>
        <p:nvPicPr>
          <p:cNvPr id="9" name="Picture 8" descr="i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6618" y="2340102"/>
            <a:ext cx="184404" cy="2575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081022" y="2316480"/>
            <a:ext cx="1737359" cy="3048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6B7280"/>
                </a:solidFill>
                <a:latin typeface="Noto Sans CJK JP"/>
                <a:ea typeface="Noto Sans CJK JP"/>
              </a:rPr>
              <a:t>：ランダム・固定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Noto Sans CJK JP"/>
                <a:ea typeface="Noto Sans CJK JP"/>
              </a:rPr>
              <a:t>カオス的に動く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1783080"/>
            <a:ext cx="1828800" cy="14173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5400">
            <a:solidFill>
              <a:srgbClr val="1E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38800" y="2057400"/>
            <a:ext cx="1115568" cy="36576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1F3A5C"/>
                </a:solidFill>
                <a:latin typeface="Noto Sans CJK JP"/>
                <a:ea typeface="Noto Sans CJK JP"/>
              </a:rPr>
              <a:t>読み出し</a:t>
            </a:r>
          </a:p>
        </p:txBody>
      </p:sp>
      <p:pic>
        <p:nvPicPr>
          <p:cNvPr id="14" name="Picture 13" descr="i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4368" y="2074164"/>
            <a:ext cx="225552" cy="3322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94960" y="2560320"/>
            <a:ext cx="18288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1E8A82"/>
                </a:solidFill>
                <a:latin typeface="Noto Sans CJK JP"/>
                <a:ea typeface="Noto Sans CJK JP"/>
              </a:rPr>
              <a:t>学習する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77639" y="2491740"/>
            <a:ext cx="1417321" cy="0"/>
          </a:xfrm>
          <a:prstGeom prst="line">
            <a:avLst/>
          </a:prstGeom>
          <a:ln w="2286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184142" y="2009140"/>
            <a:ext cx="597408" cy="32512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1F3A5C"/>
                </a:solidFill>
                <a:latin typeface="Noto Sans CJK JP"/>
                <a:ea typeface="Noto Sans CJK JP"/>
              </a:rPr>
              <a:t>状態</a:t>
            </a:r>
          </a:p>
        </p:txBody>
      </p:sp>
      <p:pic>
        <p:nvPicPr>
          <p:cNvPr id="18" name="Picture 17" descr="i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1550" y="2022348"/>
            <a:ext cx="406908" cy="298704"/>
          </a:xfrm>
          <a:prstGeom prst="rect">
            <a:avLst/>
          </a:prstGeom>
        </p:spPr>
      </p:pic>
      <p:cxnSp>
        <p:nvCxnSpPr>
          <p:cNvPr id="19" name="Connector 18"/>
          <p:cNvCxnSpPr/>
          <p:nvPr/>
        </p:nvCxnSpPr>
        <p:spPr>
          <a:xfrm>
            <a:off x="7223760" y="2491740"/>
            <a:ext cx="411480" cy="0"/>
          </a:xfrm>
          <a:prstGeom prst="line">
            <a:avLst/>
          </a:prstGeom>
          <a:ln w="22860">
            <a:solidFill>
              <a:srgbClr val="1E8A82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7635240" y="2080260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7358" y="2330958"/>
            <a:ext cx="458724" cy="32156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476488" y="2263140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1F3A5C"/>
                </a:solidFill>
                <a:latin typeface="Noto Sans CJK JP"/>
                <a:ea typeface="Noto Sans CJK JP"/>
              </a:rPr>
              <a:t>出力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8046720" y="502920"/>
            <a:ext cx="0" cy="1577340"/>
          </a:xfrm>
          <a:prstGeom prst="line">
            <a:avLst/>
          </a:prstGeom>
          <a:ln w="2286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3081528" y="502920"/>
            <a:ext cx="4965192" cy="0"/>
          </a:xfrm>
          <a:prstGeom prst="line">
            <a:avLst/>
          </a:prstGeom>
          <a:ln w="2286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081528" y="502920"/>
            <a:ext cx="0" cy="1097280"/>
          </a:xfrm>
          <a:prstGeom prst="line">
            <a:avLst/>
          </a:prstGeom>
          <a:ln w="22860">
            <a:solidFill>
              <a:srgbClr val="C0392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892296" y="66040"/>
            <a:ext cx="2048255" cy="32512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C0392B"/>
                </a:solidFill>
                <a:latin typeface="Noto Sans CJK JP"/>
                <a:ea typeface="Noto Sans CJK JP"/>
              </a:rPr>
              <a:t>出力フィードバック</a:t>
            </a:r>
          </a:p>
        </p:txBody>
      </p:sp>
      <p:pic>
        <p:nvPicPr>
          <p:cNvPr id="27" name="Picture 26" descr="i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0552" y="86106"/>
            <a:ext cx="283464" cy="28498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224016" y="66040"/>
            <a:ext cx="1011936" cy="32512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C0392B"/>
                </a:solidFill>
                <a:latin typeface="Noto Sans CJK JP"/>
                <a:ea typeface="Noto Sans CJK JP"/>
              </a:rPr>
              <a:t>（固定）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12080" y="4983480"/>
            <a:ext cx="2194560" cy="1097280"/>
          </a:xfrm>
          <a:prstGeom prst="roundRect">
            <a:avLst>
              <a:gd name="adj" fmla="val 16000"/>
            </a:avLst>
          </a:prstGeom>
          <a:solidFill>
            <a:srgbClr val="1E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JP"/>
                <a:ea typeface="Noto Sans CJK JP"/>
              </a:rPr>
              <a:t>RLS</a:t>
            </a:r>
          </a:p>
          <a:p>
            <a:pPr algn="ctr"/>
            <a:r>
              <a:rPr sz="1600" b="0">
                <a:solidFill>
                  <a:srgbClr val="FFFFFF"/>
                </a:solidFill>
                <a:latin typeface="Noto Sans CJK JP"/>
                <a:ea typeface="Noto Sans CJK JP"/>
              </a:rPr>
              <a:t>毎ステップ直す</a:t>
            </a:r>
          </a:p>
        </p:txBody>
      </p:sp>
      <p:sp>
        <p:nvSpPr>
          <p:cNvPr id="30" name="Oval 29"/>
          <p:cNvSpPr/>
          <p:nvPr/>
        </p:nvSpPr>
        <p:spPr>
          <a:xfrm>
            <a:off x="7543800" y="5029200"/>
            <a:ext cx="1005840" cy="10058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7358" y="5252466"/>
            <a:ext cx="458724" cy="32156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543800" y="5623559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1E8A82"/>
                </a:solidFill>
                <a:latin typeface="Noto Sans CJK JP"/>
                <a:ea typeface="Noto Sans CJK JP"/>
              </a:rPr>
              <a:t>誤差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92640" y="4983480"/>
            <a:ext cx="1737360" cy="10972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0320">
            <a:solidFill>
              <a:srgbClr val="1E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0" y="5093208"/>
            <a:ext cx="173736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1F3A5C"/>
                </a:solidFill>
                <a:latin typeface="Noto Sans CJK JP"/>
                <a:ea typeface="Noto Sans CJK JP"/>
              </a:rPr>
              <a:t>目標</a:t>
            </a:r>
          </a:p>
        </p:txBody>
      </p:sp>
      <p:pic>
        <p:nvPicPr>
          <p:cNvPr id="35" name="Picture 34" descr="i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28147" y="5572506"/>
            <a:ext cx="466344" cy="321564"/>
          </a:xfrm>
          <a:prstGeom prst="rect">
            <a:avLst/>
          </a:prstGeom>
        </p:spPr>
      </p:pic>
      <p:cxnSp>
        <p:nvCxnSpPr>
          <p:cNvPr id="36" name="Connector 35"/>
          <p:cNvCxnSpPr/>
          <p:nvPr/>
        </p:nvCxnSpPr>
        <p:spPr>
          <a:xfrm>
            <a:off x="8046720" y="2903220"/>
            <a:ext cx="0" cy="2125980"/>
          </a:xfrm>
          <a:prstGeom prst="line">
            <a:avLst/>
          </a:prstGeom>
          <a:ln w="22860">
            <a:solidFill>
              <a:srgbClr val="1E8A82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8549640" y="5532120"/>
            <a:ext cx="1143000" cy="0"/>
          </a:xfrm>
          <a:prstGeom prst="line">
            <a:avLst/>
          </a:prstGeom>
          <a:ln w="22860">
            <a:solidFill>
              <a:srgbClr val="1E8A82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7406640" y="5532120"/>
            <a:ext cx="137160" cy="0"/>
          </a:xfrm>
          <a:prstGeom prst="line">
            <a:avLst/>
          </a:prstGeom>
          <a:ln w="22860">
            <a:solidFill>
              <a:srgbClr val="1E8A82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6309360" y="3200400"/>
            <a:ext cx="0" cy="1783080"/>
          </a:xfrm>
          <a:prstGeom prst="line">
            <a:avLst/>
          </a:prstGeom>
          <a:ln w="22860">
            <a:solidFill>
              <a:srgbClr val="1E8A82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" name="Picture 39" descr="i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4608" y="5083302"/>
            <a:ext cx="893064" cy="25755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400800" y="393192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E8A82"/>
                </a:solidFill>
                <a:latin typeface="Noto Sans CJK JP"/>
                <a:ea typeface="Noto Sans CJK JP"/>
              </a:rPr>
              <a:t>重みを直す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601200" y="1572768"/>
            <a:ext cx="457200" cy="0"/>
          </a:xfrm>
          <a:prstGeom prst="line">
            <a:avLst/>
          </a:prstGeom>
          <a:ln w="25400">
            <a:solidFill>
              <a:srgbClr val="2E5E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0104120" y="1371600"/>
            <a:ext cx="2286000" cy="41148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1F3A5C"/>
                </a:solidFill>
                <a:latin typeface="Noto Sans CJK JP"/>
                <a:ea typeface="Noto Sans CJK JP"/>
              </a:rPr>
              <a:t>固定（学習しない）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601200" y="2075688"/>
            <a:ext cx="457200" cy="0"/>
          </a:xfrm>
          <a:prstGeom prst="line">
            <a:avLst/>
          </a:prstGeom>
          <a:ln w="25400">
            <a:solidFill>
              <a:srgbClr val="1E8A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0104120" y="1874519"/>
            <a:ext cx="2286000" cy="41148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1F3A5C"/>
                </a:solidFill>
                <a:latin typeface="Noto Sans CJK JP"/>
                <a:ea typeface="Noto Sans CJK JP"/>
              </a:rPr>
              <a:t>学習する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601200" y="2578608"/>
            <a:ext cx="457200" cy="0"/>
          </a:xfrm>
          <a:prstGeom prst="line">
            <a:avLst/>
          </a:prstGeom>
          <a:ln w="254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0104120" y="2377440"/>
            <a:ext cx="2286000" cy="41148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1F3A5C"/>
                </a:solidFill>
                <a:latin typeface="Noto Sans CJK JP"/>
                <a:ea typeface="Noto Sans CJK JP"/>
              </a:rPr>
              <a:t>フィードバック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