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868680"/>
            <a:ext cx="5532120" cy="53035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22860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621792"/>
            <a:ext cx="2228850" cy="49377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</a:rPr>
              <a:t>インターネット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868680"/>
            <a:ext cx="5623560" cy="530352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2286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0" y="621792"/>
            <a:ext cx="2468880" cy="493776"/>
          </a:xfrm>
          <a:prstGeom prst="roundRect">
            <a:avLst>
              <a:gd name="adj" fmla="val 50000"/>
            </a:avLst>
          </a:prstGeom>
          <a:solidFill>
            <a:srgbClr val="2E5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</a:rPr>
              <a:t>社内ネットワーク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645920" cy="2240280"/>
          </a:xfrm>
          <a:prstGeom prst="roundRect">
            <a:avLst>
              <a:gd name="adj" fmla="val 16000"/>
            </a:avLst>
          </a:prstGeom>
          <a:solidFill>
            <a:srgbClr val="FBEEEC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200" b="1">
                <a:solidFill>
                  <a:srgbClr val="1F3A5C"/>
                </a:solidFill>
                <a:latin typeface="Noto Sans CJK JP"/>
                <a:ea typeface="Noto Sans CJK JP"/>
              </a:rPr>
              <a:t>攻撃者</a:t>
            </a:r>
          </a:p>
          <a:p>
            <a:pPr algn="ctr"/>
            <a:r>
              <a:rPr sz="1600" b="0">
                <a:solidFill>
                  <a:srgbClr val="6B7280"/>
                </a:solidFill>
                <a:latin typeface="Noto Sans CJK JP"/>
                <a:ea typeface="Noto Sans CJK JP"/>
              </a:rPr>
              <a:t>操作する人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691640"/>
            <a:ext cx="2194560" cy="22402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304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200" b="1">
                <a:solidFill>
                  <a:srgbClr val="1F3A5C"/>
                </a:solidFill>
                <a:latin typeface="Noto Sans CJK JP"/>
                <a:ea typeface="Noto Sans CJK JP"/>
              </a:rPr>
              <a:t>C2サーバ</a:t>
            </a:r>
          </a:p>
          <a:p>
            <a:pPr algn="ctr"/>
            <a:r>
              <a:rPr sz="1600" b="0">
                <a:solidFill>
                  <a:srgbClr val="6B7280"/>
                </a:solidFill>
                <a:latin typeface="Noto Sans CJK JP"/>
                <a:ea typeface="Noto Sans CJK JP"/>
              </a:rPr>
              <a:t>命令の置き場</a:t>
            </a:r>
          </a:p>
          <a:p>
            <a:pPr algn="ctr"/>
            <a:r>
              <a:rPr sz="1600" b="0">
                <a:solidFill>
                  <a:srgbClr val="6B7280"/>
                </a:solidFill>
                <a:latin typeface="Noto Sans CJK JP"/>
                <a:ea typeface="Noto Sans CJK JP"/>
              </a:rPr>
              <a:t>データの受け皿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691640"/>
            <a:ext cx="2286000" cy="22402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304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200" b="1">
                <a:solidFill>
                  <a:srgbClr val="1F3A5C"/>
                </a:solidFill>
                <a:latin typeface="Noto Sans CJK JP"/>
                <a:ea typeface="Noto Sans CJK JP"/>
              </a:rPr>
              <a:t>感染端末</a:t>
            </a:r>
          </a:p>
          <a:p>
            <a:pPr algn="ctr"/>
            <a:r>
              <a:rPr sz="1600" b="0">
                <a:solidFill>
                  <a:srgbClr val="6B7280"/>
                </a:solidFill>
                <a:latin typeface="Noto Sans CJK JP"/>
                <a:ea typeface="Noto Sans CJK JP"/>
              </a:rPr>
              <a:t>マルウェアが</a:t>
            </a:r>
          </a:p>
          <a:p>
            <a:pPr algn="ctr"/>
            <a:r>
              <a:rPr sz="1600" b="0">
                <a:solidFill>
                  <a:srgbClr val="6B7280"/>
                </a:solidFill>
                <a:latin typeface="Noto Sans CJK JP"/>
                <a:ea typeface="Noto Sans CJK JP"/>
              </a:rPr>
              <a:t>常駐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4040" y="4892040"/>
            <a:ext cx="201168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200" b="1">
                <a:solidFill>
                  <a:srgbClr val="1F3A5C"/>
                </a:solidFill>
                <a:latin typeface="Noto Sans CJK JP"/>
                <a:ea typeface="Noto Sans CJK JP"/>
              </a:rPr>
              <a:t>ほかの端末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2514600"/>
            <a:ext cx="1005840" cy="0"/>
          </a:xfrm>
          <a:prstGeom prst="line">
            <a:avLst/>
          </a:prstGeom>
          <a:ln w="22860">
            <a:solidFill>
              <a:srgbClr val="C0392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94560" y="2075688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C0392B"/>
                </a:solidFill>
                <a:latin typeface="Noto Sans CJK JP"/>
                <a:ea typeface="Noto Sans CJK JP"/>
              </a:rPr>
              <a:t>命令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194560" y="3337560"/>
            <a:ext cx="1005840" cy="0"/>
          </a:xfrm>
          <a:prstGeom prst="line">
            <a:avLst/>
          </a:prstGeom>
          <a:ln w="22860">
            <a:solidFill>
              <a:srgbClr val="C0392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94560" y="2898648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C0392B"/>
                </a:solidFill>
                <a:latin typeface="Noto Sans CJK JP"/>
                <a:ea typeface="Noto Sans CJK JP"/>
              </a:rPr>
              <a:t>結果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79592" y="1600200"/>
            <a:ext cx="310896" cy="3566160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59680" y="1051560"/>
            <a:ext cx="1950720" cy="457200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  <a:ea typeface="Noto Sans CJK JP"/>
              </a:rPr>
              <a:t>FW・プロキシ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5394960" y="2103120"/>
            <a:ext cx="3931920" cy="0"/>
          </a:xfrm>
          <a:prstGeom prst="line">
            <a:avLst/>
          </a:prstGeom>
          <a:ln w="25400">
            <a:solidFill>
              <a:srgbClr val="C0392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63640" y="1691639"/>
            <a:ext cx="30175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C0392B"/>
                </a:solidFill>
                <a:latin typeface="Noto Sans CJK JP"/>
                <a:ea typeface="Noto Sans CJK JP"/>
              </a:rPr>
              <a:t>① ビーコン「命令ある？」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94960" y="2834640"/>
            <a:ext cx="3931920" cy="0"/>
          </a:xfrm>
          <a:prstGeom prst="line">
            <a:avLst/>
          </a:prstGeom>
          <a:ln w="25400">
            <a:solidFill>
              <a:srgbClr val="C0392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63640" y="2423160"/>
            <a:ext cx="30175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C0392B"/>
                </a:solidFill>
                <a:latin typeface="Noto Sans CJK JP"/>
                <a:ea typeface="Noto Sans CJK JP"/>
              </a:rPr>
              <a:t>② 命令・追加のマルウェア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5394960" y="3566160"/>
            <a:ext cx="3931920" cy="0"/>
          </a:xfrm>
          <a:prstGeom prst="line">
            <a:avLst/>
          </a:prstGeom>
          <a:ln w="25400">
            <a:solidFill>
              <a:srgbClr val="C0392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63640" y="3154679"/>
            <a:ext cx="30175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C0392B"/>
                </a:solidFill>
                <a:latin typeface="Noto Sans CJK JP"/>
                <a:ea typeface="Noto Sans CJK JP"/>
              </a:rPr>
              <a:t>③ 実行結果・盗んだデータ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1887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6B7280"/>
                </a:solidFill>
                <a:latin typeface="Noto Sans CJK JP"/>
                <a:ea typeface="Noto Sans CJK JP"/>
              </a:rPr>
              <a:t>①〜③をくり返す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297680" y="3931920"/>
            <a:ext cx="0" cy="640080"/>
          </a:xfrm>
          <a:prstGeom prst="line">
            <a:avLst/>
          </a:prstGeom>
          <a:ln w="20320">
            <a:solidFill>
              <a:srgbClr val="9AA5B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297680" y="4572000"/>
            <a:ext cx="1554479" cy="0"/>
          </a:xfrm>
          <a:prstGeom prst="line">
            <a:avLst/>
          </a:prstGeom>
          <a:ln w="20320">
            <a:solidFill>
              <a:srgbClr val="9AA5B4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532120" y="429768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C0392B"/>
                </a:solidFill>
                <a:latin typeface="Noto Sans CJK JP"/>
                <a:ea typeface="Noto Sans CJK JP"/>
              </a:rPr>
              <a:t>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66344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6B7280"/>
                </a:solidFill>
                <a:latin typeface="Noto Sans CJK JP"/>
                <a:ea typeface="Noto Sans CJK JP"/>
              </a:rPr>
              <a:t>外→内の接続は止められる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469880" y="3931920"/>
            <a:ext cx="0" cy="960120"/>
          </a:xfrm>
          <a:prstGeom prst="line">
            <a:avLst/>
          </a:prstGeom>
          <a:ln w="22860">
            <a:solidFill>
              <a:srgbClr val="C0392B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561320" y="4206240"/>
            <a:ext cx="12801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Noto Sans CJK JP"/>
                <a:ea typeface="Noto Sans CJK JP"/>
              </a:rPr>
              <a:t>④ 横展開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81799" y="4343400"/>
            <a:ext cx="2164080" cy="457200"/>
          </a:xfrm>
          <a:prstGeom prst="roundRect">
            <a:avLst>
              <a:gd name="adj" fmla="val 50000"/>
            </a:avLst>
          </a:prstGeom>
          <a:solidFill>
            <a:srgbClr val="1E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  <a:ea typeface="Noto Sans CJK JP"/>
              </a:rPr>
              <a:t>痕跡：EDRログ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8595360" y="3794760"/>
            <a:ext cx="731520" cy="548640"/>
          </a:xfrm>
          <a:prstGeom prst="line">
            <a:avLst/>
          </a:prstGeom>
          <a:ln w="19050">
            <a:solidFill>
              <a:srgbClr val="1E8A82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632960" y="5486400"/>
            <a:ext cx="2804160" cy="457200"/>
          </a:xfrm>
          <a:prstGeom prst="roundRect">
            <a:avLst>
              <a:gd name="adj" fmla="val 50000"/>
            </a:avLst>
          </a:prstGeom>
          <a:solidFill>
            <a:srgbClr val="1E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  <a:ea typeface="Noto Sans CJK JP"/>
              </a:rPr>
              <a:t>痕跡：通信・DNSログ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6035040" y="5212080"/>
            <a:ext cx="0" cy="274320"/>
          </a:xfrm>
          <a:prstGeom prst="line">
            <a:avLst/>
          </a:prstGeom>
          <a:ln w="19050">
            <a:solidFill>
              <a:srgbClr val="1E8A82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