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8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484632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_sca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21207"/>
            <a:ext cx="2514600" cy="2514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0" y="594359"/>
            <a:ext cx="1947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2E5E8E"/>
                </a:solidFill>
                <a:latin typeface="Noto Sans CJK JP"/>
              </a:rPr>
              <a:t>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914400"/>
            <a:ext cx="1947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F3A5C"/>
                </a:solidFill>
                <a:latin typeface="Noto Sans CJK JP"/>
              </a:rPr>
              <a:t>スカラー場</a:t>
            </a:r>
          </a:p>
        </p:txBody>
      </p:sp>
      <p:pic>
        <p:nvPicPr>
          <p:cNvPr id="6" name="Picture 5" descr="03_m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25880"/>
            <a:ext cx="1344168" cy="3413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0" y="1804416"/>
            <a:ext cx="19476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Noto Sans CJK JP"/>
              </a:rPr>
              <a:t>原点がいちばん低い</a:t>
            </a:r>
          </a:p>
          <a:p>
            <a:r>
              <a:rPr sz="1500" b="0">
                <a:solidFill>
                  <a:srgbClr val="6B7280"/>
                </a:solidFill>
                <a:latin typeface="Noto Sans CJK JP"/>
              </a:rPr>
              <a:t>お椀の形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31152" y="320040"/>
            <a:ext cx="4846320" cy="29718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ve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521207"/>
            <a:ext cx="2514600" cy="2514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720072" y="594359"/>
            <a:ext cx="1947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2E5E8E"/>
                </a:solidFill>
                <a:latin typeface="Noto Sans CJK JP"/>
              </a:rPr>
              <a:t>出力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0072" y="914400"/>
            <a:ext cx="1947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F3A5C"/>
                </a:solidFill>
                <a:latin typeface="Noto Sans CJK JP"/>
              </a:rPr>
              <a:t>ベクトル場</a:t>
            </a:r>
          </a:p>
        </p:txBody>
      </p:sp>
      <p:pic>
        <p:nvPicPr>
          <p:cNvPr id="12" name="Picture 11" descr="04_ma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0072" y="1325880"/>
            <a:ext cx="169773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20072" y="1792224"/>
            <a:ext cx="19476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Noto Sans CJK JP"/>
              </a:rPr>
              <a:t>坂を登る向きを指す</a:t>
            </a:r>
          </a:p>
          <a:p>
            <a:r>
              <a:rPr sz="1500" b="0">
                <a:solidFill>
                  <a:srgbClr val="6B7280"/>
                </a:solidFill>
                <a:latin typeface="Noto Sans CJK JP"/>
              </a:rPr>
              <a:t>外ほど急なので長い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67528" y="1805940"/>
            <a:ext cx="1453896" cy="0"/>
          </a:xfrm>
          <a:prstGeom prst="line">
            <a:avLst/>
          </a:prstGeom>
          <a:ln w="254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05_ma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1321308"/>
            <a:ext cx="301752" cy="37490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11480" y="3566160"/>
            <a:ext cx="484632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6_scal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767328"/>
            <a:ext cx="2514600" cy="2514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00400" y="3840480"/>
            <a:ext cx="1947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E8A82"/>
                </a:solidFill>
                <a:latin typeface="Noto Sans CJK JP"/>
              </a:rPr>
              <a:t>入力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160520"/>
            <a:ext cx="1947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F3A5C"/>
                </a:solidFill>
                <a:latin typeface="Noto Sans CJK JP"/>
              </a:rPr>
              <a:t>スカラー場</a:t>
            </a:r>
          </a:p>
        </p:txBody>
      </p:sp>
      <p:pic>
        <p:nvPicPr>
          <p:cNvPr id="20" name="Picture 19" descr="08_mat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4572000"/>
            <a:ext cx="1106424" cy="3230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200400" y="5032248"/>
            <a:ext cx="19476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Noto Sans CJK JP"/>
              </a:rPr>
              <a:t>右上ほど一様に高い</a:t>
            </a:r>
          </a:p>
          <a:p>
            <a:r>
              <a:rPr sz="1500" b="0">
                <a:solidFill>
                  <a:srgbClr val="6B7280"/>
                </a:solidFill>
                <a:latin typeface="Noto Sans CJK JP"/>
              </a:rPr>
              <a:t>まっすぐな坂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31152" y="3566160"/>
            <a:ext cx="4846320" cy="2971800"/>
          </a:xfrm>
          <a:prstGeom prst="roundRect">
            <a:avLst>
              <a:gd name="adj" fmla="val 8000"/>
            </a:avLst>
          </a:prstGeom>
          <a:solidFill>
            <a:srgbClr val="E9F5F3"/>
          </a:solidFill>
          <a:ln w="1778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7_vect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8312" y="3767328"/>
            <a:ext cx="2514600" cy="2514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720072" y="3840480"/>
            <a:ext cx="1947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E8A82"/>
                </a:solidFill>
                <a:latin typeface="Noto Sans CJK JP"/>
              </a:rPr>
              <a:t>出力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2" y="4160520"/>
            <a:ext cx="1947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F3A5C"/>
                </a:solidFill>
                <a:latin typeface="Noto Sans CJK JP"/>
              </a:rPr>
              <a:t>ベクトル場</a:t>
            </a:r>
          </a:p>
        </p:txBody>
      </p:sp>
      <p:pic>
        <p:nvPicPr>
          <p:cNvPr id="26" name="Picture 25" descr="09_mat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20072" y="4572000"/>
            <a:ext cx="1402080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720072" y="5038344"/>
            <a:ext cx="19476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Noto Sans CJK JP"/>
              </a:rPr>
              <a:t>どこでも同じ向き</a:t>
            </a:r>
          </a:p>
          <a:p>
            <a:r>
              <a:rPr sz="1500" b="0">
                <a:solidFill>
                  <a:srgbClr val="6B7280"/>
                </a:solidFill>
                <a:latin typeface="Noto Sans CJK JP"/>
              </a:rPr>
              <a:t>同じ長さ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367528" y="5052060"/>
            <a:ext cx="1453896" cy="0"/>
          </a:xfrm>
          <a:prstGeom prst="line">
            <a:avLst/>
          </a:prstGeom>
          <a:ln w="25400">
            <a:solidFill>
              <a:srgbClr val="1E8A82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 descr="10_ma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600" y="4567428"/>
            <a:ext cx="301752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484632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1_v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21207"/>
            <a:ext cx="2514600" cy="2514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0" y="594359"/>
            <a:ext cx="1947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E8A82"/>
                </a:solidFill>
                <a:latin typeface="Noto Sans CJK JP"/>
              </a:rPr>
              <a:t>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914400"/>
            <a:ext cx="1947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F3A5C"/>
                </a:solidFill>
                <a:latin typeface="Noto Sans CJK JP"/>
              </a:rPr>
              <a:t>ベクトル場</a:t>
            </a:r>
          </a:p>
        </p:txBody>
      </p:sp>
      <p:pic>
        <p:nvPicPr>
          <p:cNvPr id="6" name="Picture 5" descr="13_m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25880"/>
            <a:ext cx="1569720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0" y="1792224"/>
            <a:ext cx="19476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Noto Sans CJK JP"/>
              </a:rPr>
              <a:t>原点から外へ広がる</a:t>
            </a:r>
          </a:p>
          <a:p>
            <a:r>
              <a:rPr sz="1500" b="0">
                <a:solidFill>
                  <a:srgbClr val="6B7280"/>
                </a:solidFill>
                <a:latin typeface="Noto Sans CJK JP"/>
              </a:rPr>
              <a:t>z = 0 の面で表示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31152" y="320040"/>
            <a:ext cx="4846320" cy="2971800"/>
          </a:xfrm>
          <a:prstGeom prst="roundRect">
            <a:avLst>
              <a:gd name="adj" fmla="val 8000"/>
            </a:avLst>
          </a:prstGeom>
          <a:solidFill>
            <a:srgbClr val="E9F5F3"/>
          </a:solidFill>
          <a:ln w="1778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2_di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521207"/>
            <a:ext cx="2514600" cy="2514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720072" y="594359"/>
            <a:ext cx="1947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E8A82"/>
                </a:solidFill>
                <a:latin typeface="Noto Sans CJK JP"/>
              </a:rPr>
              <a:t>出力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0072" y="914400"/>
            <a:ext cx="1947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F3A5C"/>
                </a:solidFill>
                <a:latin typeface="Noto Sans CJK JP"/>
              </a:rPr>
              <a:t>スカラー場</a:t>
            </a:r>
          </a:p>
        </p:txBody>
      </p:sp>
      <p:pic>
        <p:nvPicPr>
          <p:cNvPr id="12" name="Picture 11" descr="14_ma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0072" y="1325880"/>
            <a:ext cx="1072896" cy="3230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20072" y="1786128"/>
            <a:ext cx="19476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Noto Sans CJK JP"/>
              </a:rPr>
              <a:t>どこでも正</a:t>
            </a:r>
          </a:p>
          <a:p>
            <a:r>
              <a:rPr sz="1500" b="0">
                <a:solidFill>
                  <a:srgbClr val="6B7280"/>
                </a:solidFill>
                <a:latin typeface="Noto Sans CJK JP"/>
              </a:rPr>
              <a:t>＝湧き出し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67528" y="1805940"/>
            <a:ext cx="1453896" cy="0"/>
          </a:xfrm>
          <a:prstGeom prst="line">
            <a:avLst/>
          </a:prstGeom>
          <a:ln w="25400">
            <a:solidFill>
              <a:srgbClr val="1E8A82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15_ma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5020" y="1321308"/>
            <a:ext cx="438912" cy="37490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11480" y="3566160"/>
            <a:ext cx="484632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16_vect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767328"/>
            <a:ext cx="2514600" cy="2514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00400" y="3840480"/>
            <a:ext cx="1947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2E5E8E"/>
                </a:solidFill>
                <a:latin typeface="Noto Sans CJK JP"/>
              </a:rPr>
              <a:t>入力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160520"/>
            <a:ext cx="1947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F3A5C"/>
                </a:solidFill>
                <a:latin typeface="Noto Sans CJK JP"/>
              </a:rPr>
              <a:t>ベクトル場</a:t>
            </a:r>
          </a:p>
        </p:txBody>
      </p:sp>
      <p:pic>
        <p:nvPicPr>
          <p:cNvPr id="20" name="Picture 19" descr="18_mat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4572000"/>
            <a:ext cx="1795272" cy="3291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200400" y="5038344"/>
            <a:ext cx="19476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Noto Sans CJK JP"/>
              </a:rPr>
              <a:t>原点のまわりを</a:t>
            </a:r>
          </a:p>
          <a:p>
            <a:r>
              <a:rPr sz="1500" b="0">
                <a:solidFill>
                  <a:srgbClr val="6B7280"/>
                </a:solidFill>
                <a:latin typeface="Noto Sans CJK JP"/>
              </a:rPr>
              <a:t>反時計回り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31152" y="3566160"/>
            <a:ext cx="4846320" cy="29718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17_div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8312" y="3767328"/>
            <a:ext cx="2514600" cy="2514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720072" y="3840480"/>
            <a:ext cx="1947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2E5E8E"/>
                </a:solidFill>
                <a:latin typeface="Noto Sans CJK JP"/>
              </a:rPr>
              <a:t>出力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2" y="4160520"/>
            <a:ext cx="1947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F3A5C"/>
                </a:solidFill>
                <a:latin typeface="Noto Sans CJK JP"/>
              </a:rPr>
              <a:t>スカラー場</a:t>
            </a:r>
          </a:p>
        </p:txBody>
      </p:sp>
      <p:pic>
        <p:nvPicPr>
          <p:cNvPr id="26" name="Picture 25" descr="19_mat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20072" y="4572000"/>
            <a:ext cx="1072896" cy="32308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720072" y="5032248"/>
            <a:ext cx="19476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Noto Sans CJK JP"/>
              </a:rPr>
              <a:t>どこでも0</a:t>
            </a:r>
          </a:p>
          <a:p>
            <a:r>
              <a:rPr sz="1500" b="0">
                <a:solidFill>
                  <a:srgbClr val="6B7280"/>
                </a:solidFill>
                <a:latin typeface="Noto Sans CJK JP"/>
              </a:rPr>
              <a:t>＝湧き出しも</a:t>
            </a:r>
          </a:p>
          <a:p>
            <a:r>
              <a:rPr sz="1500" b="0">
                <a:solidFill>
                  <a:srgbClr val="6B7280"/>
                </a:solidFill>
                <a:latin typeface="Noto Sans CJK JP"/>
              </a:rPr>
              <a:t>　吸い込みもない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367528" y="5052060"/>
            <a:ext cx="1453896" cy="0"/>
          </a:xfrm>
          <a:prstGeom prst="line">
            <a:avLst/>
          </a:prstGeom>
          <a:ln w="254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 descr="20_ma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75020" y="4567428"/>
            <a:ext cx="438912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484632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6_v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21207"/>
            <a:ext cx="2514600" cy="2514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0" y="594359"/>
            <a:ext cx="1947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2E5E8E"/>
                </a:solidFill>
                <a:latin typeface="Noto Sans CJK JP"/>
              </a:rPr>
              <a:t>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914400"/>
            <a:ext cx="1947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F3A5C"/>
                </a:solidFill>
                <a:latin typeface="Noto Sans CJK JP"/>
              </a:rPr>
              <a:t>ベクトル場</a:t>
            </a:r>
          </a:p>
        </p:txBody>
      </p:sp>
      <p:pic>
        <p:nvPicPr>
          <p:cNvPr id="6" name="Picture 5" descr="18_m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25880"/>
            <a:ext cx="1795272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0" y="1792224"/>
            <a:ext cx="19476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Noto Sans CJK JP"/>
              </a:rPr>
              <a:t>原点のまわりを</a:t>
            </a:r>
          </a:p>
          <a:p>
            <a:r>
              <a:rPr sz="1500" b="0">
                <a:solidFill>
                  <a:srgbClr val="6B7280"/>
                </a:solidFill>
                <a:latin typeface="Noto Sans CJK JP"/>
              </a:rPr>
              <a:t>反時計回り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31152" y="320040"/>
            <a:ext cx="4846320" cy="29718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2_r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521207"/>
            <a:ext cx="2514600" cy="2514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720072" y="594359"/>
            <a:ext cx="1947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2E5E8E"/>
                </a:solidFill>
                <a:latin typeface="Noto Sans CJK JP"/>
              </a:rPr>
              <a:t>出力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0072" y="914400"/>
            <a:ext cx="1947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F3A5C"/>
                </a:solidFill>
                <a:latin typeface="Noto Sans CJK JP"/>
              </a:rPr>
              <a:t>ベクトル場</a:t>
            </a:r>
          </a:p>
        </p:txBody>
      </p:sp>
      <p:pic>
        <p:nvPicPr>
          <p:cNvPr id="12" name="Picture 11" descr="24_ma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0072" y="1325880"/>
            <a:ext cx="1947672" cy="30397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20072" y="1767011"/>
            <a:ext cx="19476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Noto Sans CJK JP"/>
              </a:rPr>
              <a:t>⊙ は手前向き（+z）</a:t>
            </a:r>
          </a:p>
          <a:p>
            <a:r>
              <a:rPr sz="1500" b="0">
                <a:solidFill>
                  <a:srgbClr val="6B7280"/>
                </a:solidFill>
                <a:latin typeface="Noto Sans CJK JP"/>
              </a:rPr>
              <a:t>右ねじの向き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67528" y="1805940"/>
            <a:ext cx="1453896" cy="0"/>
          </a:xfrm>
          <a:prstGeom prst="line">
            <a:avLst/>
          </a:prstGeom>
          <a:ln w="254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25_ma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3392" y="1321308"/>
            <a:ext cx="582168" cy="37490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11480" y="3566160"/>
            <a:ext cx="484632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11_vect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767328"/>
            <a:ext cx="2514600" cy="2514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00400" y="3840480"/>
            <a:ext cx="1947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E8A82"/>
                </a:solidFill>
                <a:latin typeface="Noto Sans CJK JP"/>
              </a:rPr>
              <a:t>入力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160520"/>
            <a:ext cx="1947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F3A5C"/>
                </a:solidFill>
                <a:latin typeface="Noto Sans CJK JP"/>
              </a:rPr>
              <a:t>ベクトル場</a:t>
            </a:r>
          </a:p>
        </p:txBody>
      </p:sp>
      <p:pic>
        <p:nvPicPr>
          <p:cNvPr id="20" name="Picture 19" descr="13_mat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4572000"/>
            <a:ext cx="1569720" cy="3291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200400" y="5038344"/>
            <a:ext cx="19476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Noto Sans CJK JP"/>
              </a:rPr>
              <a:t>原点から外へ広がる</a:t>
            </a:r>
          </a:p>
          <a:p>
            <a:r>
              <a:rPr sz="1500" b="0">
                <a:solidFill>
                  <a:srgbClr val="6B7280"/>
                </a:solidFill>
                <a:latin typeface="Noto Sans CJK JP"/>
              </a:rPr>
              <a:t>z = 0 の面で表示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31152" y="3566160"/>
            <a:ext cx="4846320" cy="2971800"/>
          </a:xfrm>
          <a:prstGeom prst="roundRect">
            <a:avLst>
              <a:gd name="adj" fmla="val 8000"/>
            </a:avLst>
          </a:prstGeom>
          <a:solidFill>
            <a:srgbClr val="E9F5F3"/>
          </a:solidFill>
          <a:ln w="1778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17_div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8312" y="3767328"/>
            <a:ext cx="2514600" cy="2514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720072" y="3840480"/>
            <a:ext cx="1947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E8A82"/>
                </a:solidFill>
                <a:latin typeface="Noto Sans CJK JP"/>
              </a:rPr>
              <a:t>出力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2" y="4160520"/>
            <a:ext cx="1947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F3A5C"/>
                </a:solidFill>
                <a:latin typeface="Noto Sans CJK JP"/>
              </a:rPr>
              <a:t>ベクトル場</a:t>
            </a:r>
          </a:p>
        </p:txBody>
      </p:sp>
      <p:pic>
        <p:nvPicPr>
          <p:cNvPr id="26" name="Picture 25" descr="29_mat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20072" y="4572000"/>
            <a:ext cx="1947672" cy="30397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720072" y="5013131"/>
            <a:ext cx="19476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Noto Sans CJK JP"/>
              </a:rPr>
              <a:t>どこでも0</a:t>
            </a:r>
          </a:p>
          <a:p>
            <a:r>
              <a:rPr sz="1500" b="0">
                <a:solidFill>
                  <a:srgbClr val="6B7280"/>
                </a:solidFill>
                <a:latin typeface="Noto Sans CJK JP"/>
              </a:rPr>
              <a:t>＝渦がない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367528" y="5052060"/>
            <a:ext cx="1453896" cy="0"/>
          </a:xfrm>
          <a:prstGeom prst="line">
            <a:avLst/>
          </a:prstGeom>
          <a:ln w="25400">
            <a:solidFill>
              <a:srgbClr val="1E8A82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 descr="30_ma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03392" y="4567428"/>
            <a:ext cx="582168" cy="3749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