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57400" y="777240"/>
            <a:ext cx="2343150" cy="4983480"/>
          </a:xfrm>
          <a:prstGeom prst="roundRect">
            <a:avLst>
              <a:gd name="adj" fmla="val 5000"/>
            </a:avLst>
          </a:prstGeom>
          <a:solidFill>
            <a:srgbClr val="F1F3F5"/>
          </a:solidFill>
          <a:ln w="2286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530352"/>
            <a:ext cx="1748790" cy="493776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① 学習前</a:t>
            </a:r>
          </a:p>
        </p:txBody>
      </p:sp>
      <p:pic>
        <p:nvPicPr>
          <p:cNvPr id="4" name="Picture 3" descr="i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280160"/>
            <a:ext cx="2123694" cy="1417320"/>
          </a:xfrm>
          <a:prstGeom prst="rect">
            <a:avLst/>
          </a:prstGeom>
        </p:spPr>
      </p:pic>
      <p:pic>
        <p:nvPicPr>
          <p:cNvPr id="5" name="Picture 4" descr="i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2926080"/>
            <a:ext cx="2123694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57400" y="4434840"/>
            <a:ext cx="234315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学習しない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29150" y="777240"/>
            <a:ext cx="4686300" cy="498348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286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57750" y="530352"/>
            <a:ext cx="1748790" cy="493776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② 学習中</a:t>
            </a:r>
          </a:p>
        </p:txBody>
      </p:sp>
      <p:pic>
        <p:nvPicPr>
          <p:cNvPr id="9" name="Picture 8" descr="i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878" y="1280160"/>
            <a:ext cx="4466844" cy="1417320"/>
          </a:xfrm>
          <a:prstGeom prst="rect">
            <a:avLst/>
          </a:prstGeom>
        </p:spPr>
      </p:pic>
      <p:pic>
        <p:nvPicPr>
          <p:cNvPr id="10" name="Picture 9" descr="i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8878" y="2926080"/>
            <a:ext cx="4466844" cy="1280160"/>
          </a:xfrm>
          <a:prstGeom prst="rect">
            <a:avLst/>
          </a:prstGeom>
        </p:spPr>
      </p:pic>
      <p:pic>
        <p:nvPicPr>
          <p:cNvPr id="11" name="Picture 10" descr="i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8878" y="4434840"/>
            <a:ext cx="4466844" cy="1005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544050" y="777240"/>
            <a:ext cx="2343150" cy="498348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286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72650" y="530352"/>
            <a:ext cx="1748790" cy="493776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③ 学習後</a:t>
            </a:r>
          </a:p>
        </p:txBody>
      </p:sp>
      <p:pic>
        <p:nvPicPr>
          <p:cNvPr id="14" name="Picture 13" descr="i1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3778" y="1280160"/>
            <a:ext cx="2123694" cy="1417320"/>
          </a:xfrm>
          <a:prstGeom prst="rect">
            <a:avLst/>
          </a:prstGeom>
        </p:spPr>
      </p:pic>
      <p:pic>
        <p:nvPicPr>
          <p:cNvPr id="15" name="Picture 14" descr="i1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3778" y="2926080"/>
            <a:ext cx="2123694" cy="12801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44050" y="4434840"/>
            <a:ext cx="234315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学習しない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0590" y="4343400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0590" y="5212079"/>
            <a:ext cx="3657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Noto Sans CJK JP"/>
                <a:ea typeface="Noto Sans CJK JP"/>
              </a:rPr>
              <a:t>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806440"/>
            <a:ext cx="234315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出力はでたらめ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Noto Sans CJK JP"/>
                <a:ea typeface="Noto Sans CJK JP"/>
              </a:rPr>
              <a:t>（カオス的）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9150" y="5806440"/>
            <a:ext cx="46863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すぐ目標に重なる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Noto Sans CJK JP"/>
                <a:ea typeface="Noto Sans CJK JP"/>
              </a:rPr>
              <a:t>重みの変化はだんだん小さくなる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44050" y="5806440"/>
            <a:ext cx="234315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RLSを止めても</a:t>
            </a:r>
          </a:p>
          <a:p>
            <a:pPr algn="ctr"/>
            <a:r>
              <a:rPr sz="1400" b="0">
                <a:solidFill>
                  <a:srgbClr val="6B7280"/>
                </a:solidFill>
                <a:latin typeface="Noto Sans CJK JP"/>
                <a:ea typeface="Noto Sans CJK JP"/>
              </a:rPr>
              <a:t>目標を出し続ける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1531619"/>
            <a:ext cx="1874519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出力</a:t>
            </a:r>
          </a:p>
        </p:txBody>
      </p:sp>
      <p:pic>
        <p:nvPicPr>
          <p:cNvPr id="23" name="Picture 22" descr="i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8" y="1976627"/>
            <a:ext cx="420624" cy="2987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440" y="3108960"/>
            <a:ext cx="1874519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ニューロン</a:t>
            </a:r>
          </a:p>
        </p:txBody>
      </p:sp>
      <p:pic>
        <p:nvPicPr>
          <p:cNvPr id="25" name="Picture 24" descr="i1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050" y="3553968"/>
            <a:ext cx="495299" cy="298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440" y="4480559"/>
            <a:ext cx="1874519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重みの変化</a:t>
            </a:r>
          </a:p>
        </p:txBody>
      </p:sp>
      <p:pic>
        <p:nvPicPr>
          <p:cNvPr id="27" name="Picture 26" descr="i1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60" y="4927091"/>
            <a:ext cx="640080" cy="295656"/>
          </a:xfrm>
          <a:prstGeom prst="rect">
            <a:avLst/>
          </a:prstGeom>
        </p:spPr>
      </p:pic>
      <p:cxnSp>
        <p:nvCxnSpPr>
          <p:cNvPr id="28" name="Connector 27"/>
          <p:cNvCxnSpPr/>
          <p:nvPr/>
        </p:nvCxnSpPr>
        <p:spPr>
          <a:xfrm>
            <a:off x="2103120" y="201168"/>
            <a:ext cx="457200" cy="0"/>
          </a:xfrm>
          <a:prstGeom prst="line">
            <a:avLst/>
          </a:prstGeom>
          <a:ln w="38100">
            <a:solidFill>
              <a:srgbClr val="1E8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01111" y="58928"/>
            <a:ext cx="545592" cy="284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1F3A5C"/>
                </a:solidFill>
                <a:latin typeface="Noto Sans CJK JP"/>
                <a:ea typeface="Noto Sans CJK JP"/>
              </a:rPr>
              <a:t>出力</a:t>
            </a:r>
          </a:p>
        </p:txBody>
      </p:sp>
      <p:pic>
        <p:nvPicPr>
          <p:cNvPr id="30" name="Picture 29" descr="i1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6703" y="77724"/>
            <a:ext cx="344424" cy="246888"/>
          </a:xfrm>
          <a:prstGeom prst="rect">
            <a:avLst/>
          </a:prstGeom>
        </p:spPr>
      </p:pic>
      <p:cxnSp>
        <p:nvCxnSpPr>
          <p:cNvPr id="31" name="Connector 30"/>
          <p:cNvCxnSpPr/>
          <p:nvPr/>
        </p:nvCxnSpPr>
        <p:spPr>
          <a:xfrm>
            <a:off x="4206240" y="201168"/>
            <a:ext cx="457200" cy="0"/>
          </a:xfrm>
          <a:prstGeom prst="line">
            <a:avLst/>
          </a:prstGeom>
          <a:ln w="20320">
            <a:solidFill>
              <a:srgbClr val="2B3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901946" y="58928"/>
            <a:ext cx="545592" cy="28448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1F3A5C"/>
                </a:solidFill>
                <a:latin typeface="Noto Sans CJK JP"/>
                <a:ea typeface="Noto Sans CJK JP"/>
              </a:rPr>
              <a:t>目標</a:t>
            </a:r>
          </a:p>
        </p:txBody>
      </p:sp>
      <p:pic>
        <p:nvPicPr>
          <p:cNvPr id="33" name="Picture 32" descr="i2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47538" y="77724"/>
            <a:ext cx="348996" cy="246888"/>
          </a:xfrm>
          <a:prstGeom prst="rect">
            <a:avLst/>
          </a:prstGeom>
        </p:spPr>
      </p:pic>
      <p:cxnSp>
        <p:nvCxnSpPr>
          <p:cNvPr id="34" name="Connector 33"/>
          <p:cNvCxnSpPr/>
          <p:nvPr/>
        </p:nvCxnSpPr>
        <p:spPr>
          <a:xfrm>
            <a:off x="2057400" y="6629400"/>
            <a:ext cx="9829800" cy="0"/>
          </a:xfrm>
          <a:prstGeom prst="line">
            <a:avLst/>
          </a:prstGeom>
          <a:ln w="19050">
            <a:solidFill>
              <a:srgbClr val="9AA5B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97280" y="64465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Noto Sans CJK JP"/>
                <a:ea typeface="Noto Sans CJK JP"/>
              </a:rPr>
              <a:t>時間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