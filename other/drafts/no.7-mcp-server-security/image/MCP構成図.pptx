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857500"/>
            <a:ext cx="1234440" cy="11887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905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857500"/>
            <a:ext cx="12344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40280" y="708660"/>
            <a:ext cx="4160520" cy="4572000"/>
          </a:xfrm>
          <a:prstGeom prst="roundRect">
            <a:avLst>
              <a:gd name="adj" fmla="val 4000"/>
            </a:avLst>
          </a:prstGeom>
          <a:solidFill>
            <a:srgbClr val="E9F0FB"/>
          </a:solidFill>
          <a:ln w="19050">
            <a:solidFill>
              <a:srgbClr val="3B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8458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B6EC9"/>
                </a:solidFill>
                <a:latin typeface="Hiragino Sans"/>
                <a:ea typeface="Hiragino Sans"/>
                <a:cs typeface="Hiragino Sans"/>
              </a:rPr>
              <a:t>MCPホスト（AIアプリ）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22986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例：Claude Desktop、Claude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2674620"/>
            <a:ext cx="1234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2674620"/>
            <a:ext cx="12344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B6EC9"/>
                </a:solidFill>
                <a:latin typeface="Hiragino Sans"/>
                <a:ea typeface="Hiragino Sans"/>
                <a:cs typeface="Hiragino Sans"/>
              </a:rPr>
              <a:t>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6022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760220"/>
            <a:ext cx="1691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MCPクライアント1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749039" y="2125980"/>
            <a:ext cx="594361" cy="1325880"/>
          </a:xfrm>
          <a:prstGeom prst="line">
            <a:avLst/>
          </a:prstGeom>
          <a:ln w="19050">
            <a:solidFill>
              <a:srgbClr val="3B6EC9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43400" y="304038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3040380"/>
            <a:ext cx="1691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MCPクライアント2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749039" y="3406140"/>
            <a:ext cx="594361" cy="45720"/>
          </a:xfrm>
          <a:prstGeom prst="line">
            <a:avLst/>
          </a:prstGeom>
          <a:ln w="19050">
            <a:solidFill>
              <a:srgbClr val="3B6EC9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43400" y="432054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4320540"/>
            <a:ext cx="1691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MCPクライアント3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49039" y="3451860"/>
            <a:ext cx="594361" cy="1234440"/>
          </a:xfrm>
          <a:prstGeom prst="line">
            <a:avLst/>
          </a:prstGeom>
          <a:ln w="19050">
            <a:solidFill>
              <a:srgbClr val="3B6EC9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554480" y="3268980"/>
            <a:ext cx="960120" cy="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554480" y="294894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依頼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1554480" y="3771900"/>
            <a:ext cx="960120" cy="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554480" y="345186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回答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1440180"/>
            <a:ext cx="2377440" cy="2697480"/>
          </a:xfrm>
          <a:prstGeom prst="roundRect">
            <a:avLst>
              <a:gd name="adj" fmla="val 5000"/>
            </a:avLst>
          </a:prstGeom>
          <a:noFill/>
          <a:ln w="15875">
            <a:solidFill>
              <a:srgbClr val="1AA6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15041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同じPCで動く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4229100"/>
            <a:ext cx="2377440" cy="128016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F08A2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42748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8620F"/>
                </a:solidFill>
                <a:latin typeface="Hiragino Sans"/>
                <a:ea typeface="Hiragino Sans"/>
                <a:cs typeface="Hiragino Sans"/>
              </a:rPr>
              <a:t>ネット越し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1874519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199339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MCPサーバA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350007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ファイル操作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35040" y="2125980"/>
            <a:ext cx="2057400" cy="182879"/>
          </a:xfrm>
          <a:prstGeom prst="line">
            <a:avLst/>
          </a:prstGeom>
          <a:ln w="25400">
            <a:solidFill>
              <a:srgbClr val="1AA69A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35040" y="1833372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E7C72"/>
                </a:solidFill>
                <a:latin typeface="Menlo"/>
                <a:ea typeface="Menlo"/>
                <a:cs typeface="Menlo"/>
              </a:rPr>
              <a:t>stdio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52760" y="1988819"/>
            <a:ext cx="1234440" cy="6400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905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52760" y="1988819"/>
            <a:ext cx="1234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ファイル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10104120" y="2308859"/>
            <a:ext cx="548640" cy="0"/>
          </a:xfrm>
          <a:prstGeom prst="line">
            <a:avLst/>
          </a:prstGeom>
          <a:ln w="19050">
            <a:solidFill>
              <a:srgbClr val="5E7682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092440" y="315468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32735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MCPサーバB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363016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データベース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35040" y="3406140"/>
            <a:ext cx="2057400" cy="182880"/>
          </a:xfrm>
          <a:prstGeom prst="line">
            <a:avLst/>
          </a:prstGeom>
          <a:ln w="25400">
            <a:solidFill>
              <a:srgbClr val="1AA69A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035040" y="3113532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E7C72"/>
                </a:solidFill>
                <a:latin typeface="Menlo"/>
                <a:ea typeface="Menlo"/>
                <a:cs typeface="Menlo"/>
              </a:rPr>
              <a:t>stdio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52760" y="3268980"/>
            <a:ext cx="1234440" cy="6400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905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52760" y="3268980"/>
            <a:ext cx="1234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10104120" y="3589020"/>
            <a:ext cx="548640" cy="0"/>
          </a:xfrm>
          <a:prstGeom prst="line">
            <a:avLst/>
          </a:prstGeom>
          <a:ln w="19050">
            <a:solidFill>
              <a:srgbClr val="5E7682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092440" y="448056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FDF1E4"/>
          </a:solidFill>
          <a:ln w="19050">
            <a:solidFill>
              <a:srgbClr val="F0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459943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B8620F"/>
                </a:solidFill>
                <a:latin typeface="Hiragino Sans"/>
                <a:ea typeface="Hiragino Sans"/>
                <a:cs typeface="Hiragino Sans"/>
              </a:rPr>
              <a:t>MCPサーバC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49560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外部サービス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035040" y="4686300"/>
            <a:ext cx="2057400" cy="228600"/>
          </a:xfrm>
          <a:prstGeom prst="line">
            <a:avLst/>
          </a:prstGeom>
          <a:ln w="25400">
            <a:solidFill>
              <a:srgbClr val="F08A24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035040" y="4416552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8620F"/>
                </a:solidFill>
                <a:latin typeface="Hiragino Sans"/>
                <a:ea typeface="Hiragino Sans"/>
                <a:cs typeface="Hiragino Sans"/>
              </a:rPr>
              <a:t>Streamable HTTP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652760" y="4594860"/>
            <a:ext cx="1234440" cy="6400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905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52760" y="4594860"/>
            <a:ext cx="1234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Web API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10104120" y="4914900"/>
            <a:ext cx="548640" cy="0"/>
          </a:xfrm>
          <a:prstGeom prst="line">
            <a:avLst/>
          </a:prstGeom>
          <a:ln w="19050">
            <a:solidFill>
              <a:srgbClr val="5E7682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035040" y="54178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中身はJSON-RPC 2.0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40280" y="5756148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サーバが提供するもの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0" y="5737860"/>
            <a:ext cx="1051560" cy="411480"/>
          </a:xfrm>
          <a:prstGeom prst="roundRect">
            <a:avLst>
              <a:gd name="adj" fmla="val 20000"/>
            </a:avLst>
          </a:prstGeom>
          <a:solidFill>
            <a:srgbClr val="E6F5F2"/>
          </a:solidFill>
          <a:ln w="127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0" y="5737860"/>
            <a:ext cx="1051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ツール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15000" y="5737860"/>
            <a:ext cx="1325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LLMが呼ぶ操作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086600" y="5737860"/>
            <a:ext cx="1051560" cy="411480"/>
          </a:xfrm>
          <a:prstGeom prst="roundRect">
            <a:avLst>
              <a:gd name="adj" fmla="val 20000"/>
            </a:avLst>
          </a:prstGeom>
          <a:solidFill>
            <a:srgbClr val="E6F5F2"/>
          </a:solidFill>
          <a:ln w="127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86600" y="5737860"/>
            <a:ext cx="1051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リソース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5737860"/>
            <a:ext cx="1325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読ませるデータ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01200" y="5737860"/>
            <a:ext cx="1051560" cy="411480"/>
          </a:xfrm>
          <a:prstGeom prst="roundRect">
            <a:avLst>
              <a:gd name="adj" fmla="val 20000"/>
            </a:avLst>
          </a:prstGeom>
          <a:solidFill>
            <a:srgbClr val="E6F5F2"/>
          </a:solidFill>
          <a:ln w="127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01200" y="5737860"/>
            <a:ext cx="1051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プロンプト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44200" y="5737860"/>
            <a:ext cx="1325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指示のひな形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5740" y="29718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905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5740" y="297180"/>
            <a:ext cx="187451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143000" y="1028700"/>
            <a:ext cx="0" cy="5532120"/>
          </a:xfrm>
          <a:prstGeom prst="line">
            <a:avLst/>
          </a:prstGeom>
          <a:ln w="15875">
            <a:solidFill>
              <a:srgbClr val="C2CB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83180" y="29718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E9F0FB"/>
          </a:solidFill>
          <a:ln w="19050">
            <a:solidFill>
              <a:srgbClr val="3B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83180" y="297180"/>
            <a:ext cx="187451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B6EC9"/>
                </a:solidFill>
                <a:latin typeface="Hiragino Sans"/>
                <a:ea typeface="Hiragino Sans"/>
                <a:cs typeface="Hiragino Sans"/>
              </a:rPr>
              <a:t>LLM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20440" y="1028700"/>
            <a:ext cx="0" cy="5532120"/>
          </a:xfrm>
          <a:prstGeom prst="line">
            <a:avLst/>
          </a:prstGeom>
          <a:ln w="15875">
            <a:solidFill>
              <a:srgbClr val="C2CB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960620" y="29718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E9F0FB"/>
          </a:solidFill>
          <a:ln w="19050">
            <a:solidFill>
              <a:srgbClr val="3B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60620" y="297180"/>
            <a:ext cx="187451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B6EC9"/>
                </a:solidFill>
                <a:latin typeface="Hiragino Sans"/>
                <a:ea typeface="Hiragino Sans"/>
                <a:cs typeface="Hiragino Sans"/>
              </a:rPr>
              <a:t>MCPホスト</a:t>
            </a:r>
          </a:p>
          <a:p>
            <a:pPr algn="ctr"/>
            <a:r>
              <a:rPr sz="1300" b="1">
                <a:solidFill>
                  <a:srgbClr val="3B6EC9"/>
                </a:solidFill>
                <a:latin typeface="Hiragino Sans"/>
                <a:ea typeface="Hiragino Sans"/>
                <a:cs typeface="Hiragino Sans"/>
              </a:rPr>
              <a:t>（クライアント）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97880" y="1028700"/>
            <a:ext cx="0" cy="5532120"/>
          </a:xfrm>
          <a:prstGeom prst="line">
            <a:avLst/>
          </a:prstGeom>
          <a:ln w="15875">
            <a:solidFill>
              <a:srgbClr val="C2CB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38060" y="29718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8060" y="297180"/>
            <a:ext cx="187451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MCPサーバ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75320" y="1028700"/>
            <a:ext cx="0" cy="5532120"/>
          </a:xfrm>
          <a:prstGeom prst="line">
            <a:avLst/>
          </a:prstGeom>
          <a:ln w="15875">
            <a:solidFill>
              <a:srgbClr val="C2CB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715500" y="29718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905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15500" y="297180"/>
            <a:ext cx="187451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ファイル・API など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652760" y="1028700"/>
            <a:ext cx="0" cy="5532120"/>
          </a:xfrm>
          <a:prstGeom prst="line">
            <a:avLst/>
          </a:prstGeom>
          <a:ln w="15875">
            <a:solidFill>
              <a:srgbClr val="C2CB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952744" y="1485900"/>
            <a:ext cx="2267712" cy="0"/>
          </a:xfrm>
          <a:prstGeom prst="line">
            <a:avLst/>
          </a:prstGeom>
          <a:ln w="22225">
            <a:solidFill>
              <a:srgbClr val="0E7C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97880" y="115671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① </a:t>
            </a:r>
            <a:r>
              <a:rPr sz="1200" b="1">
                <a:solidFill>
                  <a:srgbClr val="0E7C72"/>
                </a:solidFill>
                <a:latin typeface="Menlo"/>
                <a:ea typeface="Menlo"/>
                <a:cs typeface="Menlo"/>
              </a:rPr>
              <a:t>tools/list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5952744" y="1943100"/>
            <a:ext cx="2267712" cy="0"/>
          </a:xfrm>
          <a:prstGeom prst="line">
            <a:avLst/>
          </a:prstGeom>
          <a:ln w="22225">
            <a:solidFill>
              <a:srgbClr val="0E7C7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97880" y="161391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② ツールの一覧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197864" y="2674620"/>
            <a:ext cx="2267712" cy="0"/>
          </a:xfrm>
          <a:prstGeom prst="line">
            <a:avLst/>
          </a:prstGeom>
          <a:ln w="22225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43000" y="234543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③ 依頼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575304" y="3131820"/>
            <a:ext cx="2267712" cy="0"/>
          </a:xfrm>
          <a:prstGeom prst="line">
            <a:avLst/>
          </a:prstGeom>
          <a:ln w="22225">
            <a:solidFill>
              <a:srgbClr val="3B6E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520440" y="280263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B6EC9"/>
                </a:solidFill>
                <a:latin typeface="Hiragino Sans"/>
                <a:ea typeface="Hiragino Sans"/>
                <a:cs typeface="Hiragino Sans"/>
              </a:rPr>
              <a:t>④ ツール名と引数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1197864" y="3589020"/>
            <a:ext cx="4645152" cy="0"/>
          </a:xfrm>
          <a:prstGeom prst="line">
            <a:avLst/>
          </a:prstGeom>
          <a:ln w="22225">
            <a:solidFill>
              <a:srgbClr val="D943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43000" y="325983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⑤ 実行してよい？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197864" y="4046219"/>
            <a:ext cx="4645152" cy="0"/>
          </a:xfrm>
          <a:prstGeom prst="line">
            <a:avLst/>
          </a:prstGeom>
          <a:ln w="22225">
            <a:solidFill>
              <a:srgbClr val="D9433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143000" y="3717035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⑥ 許可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5952744" y="4503419"/>
            <a:ext cx="2267712" cy="0"/>
          </a:xfrm>
          <a:prstGeom prst="line">
            <a:avLst/>
          </a:prstGeom>
          <a:ln w="22225">
            <a:solidFill>
              <a:srgbClr val="0E7C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97880" y="4174235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⑦ </a:t>
            </a:r>
            <a:r>
              <a:rPr sz="1200" b="1">
                <a:solidFill>
                  <a:srgbClr val="0E7C72"/>
                </a:solidFill>
                <a:latin typeface="Menlo"/>
                <a:ea typeface="Menlo"/>
                <a:cs typeface="Menlo"/>
              </a:rPr>
              <a:t>tools/call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8330184" y="4960619"/>
            <a:ext cx="2267712" cy="0"/>
          </a:xfrm>
          <a:prstGeom prst="line">
            <a:avLst/>
          </a:prstGeom>
          <a:ln w="22225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75320" y="4631435"/>
            <a:ext cx="2377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⑧ 実際の処理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5952744" y="5417819"/>
            <a:ext cx="2267712" cy="0"/>
          </a:xfrm>
          <a:prstGeom prst="line">
            <a:avLst/>
          </a:prstGeom>
          <a:ln w="22225">
            <a:solidFill>
              <a:srgbClr val="0E7C7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897880" y="5088635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⑨ 結果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3575304" y="5875019"/>
            <a:ext cx="2267712" cy="0"/>
          </a:xfrm>
          <a:prstGeom prst="line">
            <a:avLst/>
          </a:prstGeom>
          <a:ln w="22225">
            <a:solidFill>
              <a:srgbClr val="3B6EC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520440" y="5545835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B6EC9"/>
                </a:solidFill>
                <a:latin typeface="Hiragino Sans"/>
                <a:ea typeface="Hiragino Sans"/>
                <a:cs typeface="Hiragino Sans"/>
              </a:rPr>
              <a:t>⑩ 結果を渡す</a:t>
            </a:r>
          </a:p>
        </p:txBody>
      </p:sp>
      <p:cxnSp>
        <p:nvCxnSpPr>
          <p:cNvPr id="37" name="Connector 36"/>
          <p:cNvCxnSpPr/>
          <p:nvPr/>
        </p:nvCxnSpPr>
        <p:spPr>
          <a:xfrm flipH="1" flipV="1">
            <a:off x="1197864" y="6332219"/>
            <a:ext cx="2267712" cy="0"/>
          </a:xfrm>
          <a:prstGeom prst="line">
            <a:avLst/>
          </a:prstGeom>
          <a:ln w="22225">
            <a:solidFill>
              <a:srgbClr val="5E768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143000" y="6003035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⑪ 回答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182880" y="2308860"/>
            <a:ext cx="11658600" cy="0"/>
          </a:xfrm>
          <a:prstGeom prst="line">
            <a:avLst/>
          </a:prstGeom>
          <a:ln w="12700">
            <a:solidFill>
              <a:srgbClr val="C2CB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82880" y="11384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接続時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" y="23820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会話中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61722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E9F0FB"/>
          </a:solidFill>
          <a:ln w="19050">
            <a:solidFill>
              <a:srgbClr val="3B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8181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B6EC9"/>
                </a:solidFill>
                <a:latin typeface="Hiragino Sans"/>
                <a:ea typeface="Hiragino Sans"/>
                <a:cs typeface="Hiragino Sans"/>
              </a:rPr>
              <a:t>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901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登録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1333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claude mcp add -s 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431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3B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43100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B6EC9"/>
                </a:solidFill>
                <a:latin typeface="Hiragino Sans"/>
                <a:ea typeface="Hiragino Sans"/>
                <a:cs typeface="Hiragino Sans"/>
              </a:rPr>
              <a:t>MCPクライアント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317754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E9F0FB"/>
          </a:solidFill>
          <a:ln w="19050">
            <a:solidFill>
              <a:srgbClr val="3B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4213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B6EC9"/>
                </a:solidFill>
                <a:latin typeface="Hiragino Sans"/>
                <a:ea typeface="Hiragino Sans"/>
                <a:cs typeface="Hiragino Sans"/>
              </a:rPr>
              <a:t>Claude Desktop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933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登録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736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claude_desktop_config.json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034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3B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503420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B6EC9"/>
                </a:solidFill>
                <a:latin typeface="Hiragino Sans"/>
                <a:ea typeface="Hiragino Sans"/>
                <a:cs typeface="Hiragino Sans"/>
              </a:rPr>
              <a:t>MCPクライアント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617220"/>
            <a:ext cx="3749039" cy="4572000"/>
          </a:xfrm>
          <a:prstGeom prst="roundRect">
            <a:avLst>
              <a:gd name="adj" fmla="val 4000"/>
            </a:avLst>
          </a:prstGeom>
          <a:solidFill>
            <a:srgbClr val="E6F5F2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781812"/>
            <a:ext cx="3291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PaperLens MCPサーバ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184148"/>
            <a:ext cx="3291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Node.js / TypeScript 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458468"/>
            <a:ext cx="3291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dist-server/mcp.js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943100"/>
            <a:ext cx="3291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公開するツール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2308860"/>
            <a:ext cx="2240280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2308860"/>
            <a:ext cx="2240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4404D"/>
                </a:solidFill>
                <a:latin typeface="Menlo"/>
                <a:ea typeface="Menlo"/>
                <a:cs typeface="Menlo"/>
              </a:rPr>
              <a:t>list_papers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2363724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E6F5F2"/>
          </a:solidFill>
          <a:ln w="127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2363724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読み取り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2930652"/>
            <a:ext cx="2240280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2930652"/>
            <a:ext cx="2240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訳の書き込み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2985516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FBEBEA"/>
          </a:solidFill>
          <a:ln w="127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2985516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書き込み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0" y="3771900"/>
            <a:ext cx="3291839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43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0" y="3909060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PAPERLENS_MCP_READONLY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274820"/>
            <a:ext cx="2926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付けると書き込み系の</a:t>
            </a:r>
          </a:p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ツールを公開しない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3611880" y="1531620"/>
            <a:ext cx="1463040" cy="640080"/>
          </a:xfrm>
          <a:prstGeom prst="line">
            <a:avLst/>
          </a:prstGeom>
          <a:ln w="25400">
            <a:solidFill>
              <a:srgbClr val="0E7C72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611880" y="14676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E7C72"/>
                </a:solidFill>
                <a:latin typeface="Menlo"/>
                <a:ea typeface="Menlo"/>
                <a:cs typeface="Menlo"/>
              </a:rPr>
              <a:t>stdio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3611880" y="4274820"/>
            <a:ext cx="1463040" cy="457200"/>
          </a:xfrm>
          <a:prstGeom prst="line">
            <a:avLst/>
          </a:prstGeom>
          <a:ln w="25400">
            <a:solidFill>
              <a:srgbClr val="0E7C72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611880" y="41193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E7C72"/>
                </a:solidFill>
                <a:latin typeface="Menlo"/>
                <a:ea typeface="Menlo"/>
                <a:cs typeface="Menlo"/>
              </a:rPr>
              <a:t>stdio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46920" y="1440180"/>
            <a:ext cx="2240280" cy="12344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905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20" y="162306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論文データ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208026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E7682"/>
                </a:solidFill>
                <a:latin typeface="Menlo"/>
                <a:ea typeface="Menlo"/>
                <a:cs typeface="Menlo"/>
              </a:rPr>
              <a:t>PAPERLENS_DATA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46920" y="3817619"/>
            <a:ext cx="2240280" cy="1234440"/>
          </a:xfrm>
          <a:prstGeom prst="roundRect">
            <a:avLst>
              <a:gd name="adj" fmla="val 8000"/>
            </a:avLst>
          </a:prstGeom>
          <a:solidFill>
            <a:srgbClr val="FDF1E4"/>
          </a:solidFill>
          <a:ln w="19050">
            <a:solidFill>
              <a:srgbClr val="F0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6920" y="400050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B8620F"/>
                </a:solidFill>
                <a:latin typeface="Hiragino Sans"/>
                <a:ea typeface="Hiragino Sans"/>
                <a:cs typeface="Hiragino Sans"/>
              </a:rPr>
              <a:t>PaperLens アプリ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20" y="445770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人が論文を読む画面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823959" y="2057400"/>
            <a:ext cx="822961" cy="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823959" y="1714499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読む・書く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10767060" y="2674620"/>
            <a:ext cx="0" cy="1142999"/>
          </a:xfrm>
          <a:prstGeom prst="line">
            <a:avLst/>
          </a:prstGeom>
          <a:ln w="25400">
            <a:solidFill>
              <a:srgbClr val="B8620F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876788" y="30861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8620F"/>
                </a:solidFill>
                <a:latin typeface="Hiragino Sans"/>
                <a:ea typeface="Hiragino Sans"/>
                <a:cs typeface="Hiragino Sans"/>
              </a:rPr>
              <a:t>同じデータ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" y="5692140"/>
            <a:ext cx="11567160" cy="548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905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5692140"/>
            <a:ext cx="11567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965960" y="5189220"/>
            <a:ext cx="0" cy="502920"/>
          </a:xfrm>
          <a:prstGeom prst="line">
            <a:avLst/>
          </a:prstGeom>
          <a:ln w="22225">
            <a:solidFill>
              <a:srgbClr val="5E7682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103120" y="52989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AIに頼む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767060" y="5052060"/>
            <a:ext cx="0" cy="640080"/>
          </a:xfrm>
          <a:prstGeom prst="line">
            <a:avLst/>
          </a:prstGeom>
          <a:ln w="22225">
            <a:solidFill>
              <a:srgbClr val="5E7682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876788" y="52349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自分で読む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