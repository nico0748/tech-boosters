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188720"/>
            <a:ext cx="1371600" cy="42062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質問・指示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68880" y="685800"/>
            <a:ext cx="5760720" cy="5440680"/>
          </a:xfrm>
          <a:prstGeom prst="roundRect">
            <a:avLst>
              <a:gd name="adj" fmla="val 3000"/>
            </a:avLst>
          </a:prstGeom>
          <a:solidFill>
            <a:srgbClr val="E6F5F2"/>
          </a:solidFill>
          <a:ln w="254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33472" y="502920"/>
            <a:ext cx="3108960" cy="365760"/>
          </a:xfrm>
          <a:prstGeom prst="roundRect">
            <a:avLst>
              <a:gd name="adj" fmla="val 25000"/>
            </a:avLst>
          </a:prstGeom>
          <a:solidFill>
            <a:srgbClr val="1A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LangChain（create_agent）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32588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プロンプト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テンプレートに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入力を埋め込む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2588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チャットモデル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共通の書き方で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モデルを呼ぶ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443484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ツール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@tool で定義した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関数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443484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出力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テキスト・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構造化出力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1856231"/>
            <a:ext cx="1097280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56232" y="1527048"/>
            <a:ext cx="5486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入力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1856231"/>
            <a:ext cx="822960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37960" y="2377440"/>
            <a:ext cx="0" cy="205740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086600" y="2377440"/>
            <a:ext cx="0" cy="205740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57800" y="3264408"/>
            <a:ext cx="12344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ツール呼び出し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264408"/>
            <a:ext cx="64008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結果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0" y="2240280"/>
            <a:ext cx="1188720" cy="219456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737360" y="4965192"/>
            <a:ext cx="1097280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56232" y="4636007"/>
            <a:ext cx="5486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回答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685800"/>
            <a:ext cx="2788920" cy="260604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 w="254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71432" y="50292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C2C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LLMプロバイダ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09728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OpenAI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618488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Anthropic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139696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Google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660904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ほか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63840" y="1645920"/>
            <a:ext cx="1143000" cy="0"/>
          </a:xfrm>
          <a:prstGeom prst="line">
            <a:avLst/>
          </a:prstGeom>
          <a:ln w="25400">
            <a:solidFill>
              <a:srgbClr val="5E768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78724" y="1316736"/>
            <a:ext cx="704088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3794760"/>
            <a:ext cx="2788920" cy="233172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 w="254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71432" y="36118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C2C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外部のサービス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4206240"/>
            <a:ext cx="2148840" cy="4297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Web検索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4754879"/>
            <a:ext cx="2148840" cy="4297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社内API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5303520"/>
            <a:ext cx="2148840" cy="4297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データベース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63840" y="4965192"/>
            <a:ext cx="1143000" cy="0"/>
          </a:xfrm>
          <a:prstGeom prst="line">
            <a:avLst/>
          </a:prstGeom>
          <a:ln w="25400">
            <a:solidFill>
              <a:srgbClr val="5E768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65592" y="4636007"/>
            <a:ext cx="530352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実行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502920"/>
            <a:ext cx="8503920" cy="6035040"/>
          </a:xfrm>
          <a:prstGeom prst="roundRect">
            <a:avLst>
              <a:gd name="adj" fmla="val 3000"/>
            </a:avLst>
          </a:prstGeom>
          <a:solidFill>
            <a:srgbClr val="E8F0FA"/>
          </a:solidFill>
          <a:ln w="2540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320040"/>
            <a:ext cx="3017520" cy="365760"/>
          </a:xfrm>
          <a:prstGeom prst="roundRect">
            <a:avLst>
              <a:gd name="adj" fmla="val 25000"/>
            </a:avLst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LangGraph（StateGraph）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724912"/>
            <a:ext cx="1097280" cy="502920"/>
          </a:xfrm>
          <a:prstGeom prst="ellipse">
            <a:avLst/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37744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スーパーバイザー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次の担当を決める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0" y="2971800"/>
            <a:ext cx="365760" cy="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92040" y="91440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09728" bIns="27432"/>
          <a:lstStyle/>
          <a:p>
            <a:pPr algn="ctr"/>
            <a:r>
              <a:rPr sz="15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調査エージェント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481328"/>
            <a:ext cx="2057400" cy="411480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LangChainで実装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42316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09728" bIns="27432"/>
          <a:lstStyle/>
          <a:p>
            <a:pPr algn="ctr"/>
            <a:r>
              <a:rPr sz="15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執筆エージェント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2990088"/>
            <a:ext cx="2057400" cy="411480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LangChainで実装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416052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人の確認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interrupt で一時停止</a:t>
            </a:r>
          </a:p>
        </p:txBody>
      </p:sp>
      <p:sp>
        <p:nvSpPr>
          <p:cNvPr id="12" name="Oval 11"/>
          <p:cNvSpPr/>
          <p:nvPr/>
        </p:nvSpPr>
        <p:spPr>
          <a:xfrm>
            <a:off x="5650992" y="5715000"/>
            <a:ext cx="914400" cy="502920"/>
          </a:xfrm>
          <a:prstGeom prst="ellipse">
            <a:avLst/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END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114800" y="1481328"/>
            <a:ext cx="777240" cy="1124712"/>
          </a:xfrm>
          <a:prstGeom prst="line">
            <a:avLst/>
          </a:prstGeom>
          <a:ln w="25400">
            <a:solidFill>
              <a:srgbClr val="1F4F8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0" y="2971800"/>
            <a:ext cx="777240" cy="0"/>
          </a:xfrm>
          <a:prstGeom prst="line">
            <a:avLst/>
          </a:prstGeom>
          <a:ln w="25400">
            <a:solidFill>
              <a:srgbClr val="1F4F8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0" y="3337560"/>
            <a:ext cx="777240" cy="128016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11680" y="3703320"/>
            <a:ext cx="21031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条件付きエッジで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行き先を分岐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08192" y="5212080"/>
            <a:ext cx="0" cy="50292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99632" y="5321807"/>
            <a:ext cx="11887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承認されたら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914400"/>
            <a:ext cx="10972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F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4F86"/>
                </a:solidFill>
                <a:latin typeface="Menlo"/>
                <a:ea typeface="Menlo"/>
                <a:cs typeface="Menlo"/>
              </a:rPr>
              <a:t>State</a:t>
            </a:r>
          </a:p>
          <a:p>
            <a:pPr algn="ctr"/>
            <a:r>
              <a:rPr sz="12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共有の</a:t>
            </a:r>
          </a:p>
          <a:p>
            <a:pPr algn="ctr"/>
            <a:r>
              <a:rPr sz="12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状態</a:t>
            </a:r>
          </a:p>
          <a:p>
            <a:pPr algn="ctr"/>
            <a:r>
              <a:rPr sz="12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ctr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会話履歴</a:t>
            </a:r>
          </a:p>
          <a:p>
            <a:pPr algn="ctr"/>
            <a:r>
              <a:rPr sz="12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途中の結果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41732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チェックポインタ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保存先：Postgres・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SQLite・メモリなど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2103120"/>
            <a:ext cx="685800" cy="0"/>
          </a:xfrm>
          <a:prstGeom prst="line">
            <a:avLst/>
          </a:prstGeom>
          <a:ln w="25400">
            <a:solidFill>
              <a:srgbClr val="5E768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887968" y="1773936"/>
            <a:ext cx="64008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保存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880360"/>
            <a:ext cx="22860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失敗しても途中から再開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416052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人（承認する人）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内容を確認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315200" y="4681728"/>
            <a:ext cx="2240280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0" y="4352544"/>
            <a:ext cx="109728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承認・修正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502920"/>
            <a:ext cx="6629400" cy="1600200"/>
          </a:xfrm>
          <a:prstGeom prst="roundRect">
            <a:avLst>
              <a:gd name="adj" fmla="val 3000"/>
            </a:avLst>
          </a:prstGeom>
          <a:solidFill>
            <a:srgbClr val="E6F5F2"/>
          </a:solidFill>
          <a:ln w="254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320040"/>
            <a:ext cx="3200400" cy="365760"/>
          </a:xfrm>
          <a:prstGeom prst="roundRect">
            <a:avLst>
              <a:gd name="adj" fmla="val 25000"/>
            </a:avLst>
          </a:prstGeom>
          <a:solidFill>
            <a:srgbClr val="1AA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事前準備（LangChainの部品）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86868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文書の読み込み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Web・PDFなど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86868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テキスト分割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小さく分ける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86868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埋め込みモデル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ベクトルに変換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1371600"/>
            <a:ext cx="274320" cy="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11880" y="1371600"/>
            <a:ext cx="274320" cy="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57800" y="1371600"/>
            <a:ext cx="274320" cy="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32120" y="86868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ベクトル</a:t>
            </a:r>
          </a:p>
          <a:p>
            <a:pPr algn="ctr"/>
            <a:r>
              <a:rPr sz="14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ストア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11430000" cy="3886200"/>
          </a:xfrm>
          <a:prstGeom prst="roundRect">
            <a:avLst>
              <a:gd name="adj" fmla="val 3000"/>
            </a:avLst>
          </a:prstGeom>
          <a:solidFill>
            <a:srgbClr val="E8F0FA"/>
          </a:solidFill>
          <a:ln w="2540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468879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LangGraph（質問が来たとき）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087368"/>
            <a:ext cx="1097280" cy="502920"/>
          </a:xfrm>
          <a:prstGeom prst="ellipse">
            <a:avLst/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749039"/>
            <a:ext cx="2148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検索するか判断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モデル＋検索ツール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749039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検索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ToolNode</a:t>
            </a:r>
          </a:p>
        </p:txBody>
      </p:sp>
      <p:sp>
        <p:nvSpPr>
          <p:cNvPr id="16" name="Diamond 15"/>
          <p:cNvSpPr/>
          <p:nvPr/>
        </p:nvSpPr>
        <p:spPr>
          <a:xfrm>
            <a:off x="7086600" y="3611880"/>
            <a:ext cx="2011680" cy="146304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関連ある？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3749039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回答を生成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文書をもとに答える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553212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F4F86"/>
                </a:solidFill>
                <a:latin typeface="Hiragino Sans"/>
                <a:ea typeface="Hiragino Sans"/>
                <a:cs typeface="Hiragino Sans"/>
              </a:rPr>
              <a:t>質問を書き換え</a:t>
            </a:r>
          </a:p>
        </p:txBody>
      </p:sp>
      <p:sp>
        <p:nvSpPr>
          <p:cNvPr id="19" name="Oval 18"/>
          <p:cNvSpPr/>
          <p:nvPr/>
        </p:nvSpPr>
        <p:spPr>
          <a:xfrm>
            <a:off x="2487168" y="2971800"/>
            <a:ext cx="914400" cy="457200"/>
          </a:xfrm>
          <a:prstGeom prst="ellipse">
            <a:avLst/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END</a:t>
            </a:r>
          </a:p>
        </p:txBody>
      </p:sp>
      <p:sp>
        <p:nvSpPr>
          <p:cNvPr id="20" name="Oval 19"/>
          <p:cNvSpPr/>
          <p:nvPr/>
        </p:nvSpPr>
        <p:spPr>
          <a:xfrm>
            <a:off x="10195560" y="5669280"/>
            <a:ext cx="914400" cy="502920"/>
          </a:xfrm>
          <a:prstGeom prst="ellipse">
            <a:avLst/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0200" y="4343400"/>
            <a:ext cx="274319" cy="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23360" y="4343400"/>
            <a:ext cx="594360" cy="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18787" y="4014215"/>
            <a:ext cx="59436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検索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46520" y="4343400"/>
            <a:ext cx="640080" cy="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98280" y="4343400"/>
            <a:ext cx="640080" cy="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21140" y="4014215"/>
            <a:ext cx="59436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ある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92440" y="5074920"/>
            <a:ext cx="0" cy="45720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83879" y="5166359"/>
            <a:ext cx="5486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ない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3291840" y="4937760"/>
            <a:ext cx="3886200" cy="100584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06240" y="5623560"/>
            <a:ext cx="21031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もう一度検索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944368" y="3429000"/>
            <a:ext cx="0" cy="320039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035808" y="3447288"/>
            <a:ext cx="9144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検索不要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52760" y="4937760"/>
            <a:ext cx="0" cy="73152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532120" y="1874519"/>
            <a:ext cx="640080" cy="1874520"/>
          </a:xfrm>
          <a:prstGeom prst="line">
            <a:avLst/>
          </a:prstGeom>
          <a:ln w="25400">
            <a:solidFill>
              <a:srgbClr val="0E7C72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72200" y="2286000"/>
            <a:ext cx="9144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類似検索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822960"/>
            <a:ext cx="4206240" cy="521208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 w="25400">
            <a:solidFill>
              <a:srgbClr val="244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64008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あなたのアプリ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905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338328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F4F86"/>
                </a:solidFill>
                <a:latin typeface="Menlo"/>
                <a:ea typeface="Menlo"/>
                <a:cs typeface="Menlo"/>
              </a:rPr>
              <a:t>LangGraph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2194560" y="1874519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3520440" y="1874519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2148840"/>
            <a:ext cx="777240" cy="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2148840"/>
            <a:ext cx="777240" cy="0"/>
          </a:xfrm>
          <a:prstGeom prst="line">
            <a:avLst/>
          </a:prstGeom>
          <a:ln w="25400">
            <a:solidFill>
              <a:srgbClr val="1F4F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514600"/>
            <a:ext cx="33832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ノード・エッジ・State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63240"/>
            <a:ext cx="3200400" cy="685800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LangChain（モデル・ツール）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3657600" cy="1005840"/>
          </a:xfrm>
          <a:prstGeom prst="roundRect">
            <a:avLst>
              <a:gd name="adj" fmla="val 20000"/>
            </a:avLst>
          </a:prstGeom>
          <a:solidFill>
            <a:srgbClr val="FDF1E5"/>
          </a:solidFill>
          <a:ln w="15875">
            <a:solidFill>
              <a:srgbClr val="E0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A8550C"/>
                </a:solidFill>
                <a:latin typeface="Hiragino Sans"/>
                <a:ea typeface="Hiragino Sans"/>
                <a:cs typeface="Hiragino Sans"/>
              </a:rPr>
              <a:t>LangSmith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36576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Menlo"/>
                <a:ea typeface="Menlo"/>
                <a:cs typeface="Menlo"/>
              </a:rPr>
              <a:t>LANGSMITH_TRACING=true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822960"/>
            <a:ext cx="6035040" cy="3886200"/>
          </a:xfrm>
          <a:prstGeom prst="roundRect">
            <a:avLst>
              <a:gd name="adj" fmla="val 3000"/>
            </a:avLst>
          </a:prstGeom>
          <a:solidFill>
            <a:srgbClr val="FDF1E5"/>
          </a:solidFill>
          <a:ln w="25400">
            <a:solidFill>
              <a:srgbClr val="E0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25312" y="640080"/>
            <a:ext cx="3931920" cy="365760"/>
          </a:xfrm>
          <a:prstGeom prst="roundRect">
            <a:avLst>
              <a:gd name="adj" fmla="val 25000"/>
            </a:avLst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LangSmith（LangChain社のクラウド）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258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A8550C"/>
                </a:solidFill>
                <a:latin typeface="Hiragino Sans"/>
                <a:ea typeface="Hiragino Sans"/>
                <a:cs typeface="Hiragino Sans"/>
              </a:rPr>
              <a:t>トレース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入出力・ツール呼び出し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時間・トークン・費用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3258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A8550C"/>
                </a:solidFill>
                <a:latin typeface="Hiragino Sans"/>
                <a:ea typeface="Hiragino Sans"/>
                <a:cs typeface="Hiragino Sans"/>
              </a:rPr>
              <a:t>評価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データセット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LLM-as-a-judge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29260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A8550C"/>
                </a:solidFill>
                <a:latin typeface="Hiragino Sans"/>
                <a:ea typeface="Hiragino Sans"/>
                <a:cs typeface="Hiragino Sans"/>
              </a:rPr>
              <a:t>監視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ダッシュボード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アラート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9260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7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A8550C"/>
                </a:solidFill>
                <a:latin typeface="Hiragino Sans"/>
                <a:ea typeface="Hiragino Sans"/>
                <a:cs typeface="Hiragino Sans"/>
              </a:rPr>
              <a:t>プロンプト管理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バージョン管理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Playground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2103120"/>
            <a:ext cx="1188720" cy="0"/>
          </a:xfrm>
          <a:prstGeom prst="line">
            <a:avLst/>
          </a:prstGeom>
          <a:ln w="25400">
            <a:solidFill>
              <a:srgbClr val="A855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1773936"/>
            <a:ext cx="118872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A8550C"/>
                </a:solidFill>
                <a:latin typeface="Hiragino Sans"/>
                <a:ea typeface="Hiragino Sans"/>
                <a:cs typeface="Hiragino Sans"/>
              </a:rPr>
              <a:t>トレース送信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572000" y="4023360"/>
            <a:ext cx="1188720" cy="0"/>
          </a:xfrm>
          <a:prstGeom prst="line">
            <a:avLst/>
          </a:prstGeom>
          <a:ln w="25400">
            <a:solidFill>
              <a:srgbClr val="A8550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26280" y="3694176"/>
            <a:ext cx="128016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A8550C"/>
                </a:solidFill>
                <a:latin typeface="Hiragino Sans"/>
                <a:ea typeface="Hiragino Sans"/>
                <a:cs typeface="Hiragino Sans"/>
              </a:rPr>
              <a:t>プロンプト取得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52578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開発者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ブラウザで確認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778240" y="4709160"/>
            <a:ext cx="0" cy="548640"/>
          </a:xfrm>
          <a:prstGeom prst="line">
            <a:avLst/>
          </a:prstGeom>
          <a:ln w="25400">
            <a:solidFill>
              <a:srgbClr val="5E768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822960"/>
            <a:ext cx="2057400" cy="539496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 w="25400">
            <a:solidFill>
              <a:srgbClr val="244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64008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あなたのアプリ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691640" cy="685800"/>
          </a:xfrm>
          <a:prstGeom prst="roundRect">
            <a:avLst>
              <a:gd name="adj" fmla="val 20000"/>
            </a:avLst>
          </a:prstGeom>
          <a:solidFill>
            <a:srgbClr val="E8F0FA"/>
          </a:solidFill>
          <a:ln w="15875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F4F86"/>
                </a:solidFill>
                <a:latin typeface="Menlo"/>
                <a:ea typeface="Menlo"/>
                <a:cs typeface="Menlo"/>
              </a:rPr>
              <a:t>LangGraph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1691640" cy="685800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LangChain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46120"/>
            <a:ext cx="1691640" cy="1234440"/>
          </a:xfrm>
          <a:prstGeom prst="roundRect">
            <a:avLst>
              <a:gd name="adj" fmla="val 15000"/>
            </a:avLst>
          </a:prstGeom>
          <a:solidFill>
            <a:srgbClr val="FBEBEE"/>
          </a:solidFill>
          <a:ln w="15875">
            <a:solidFill>
              <a:srgbClr val="C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9A2E40"/>
                </a:solidFill>
                <a:latin typeface="Hiragino Sans"/>
                <a:ea typeface="Hiragino Sans"/>
                <a:cs typeface="Hiragino Sans"/>
              </a:rPr>
              <a:t>Langfuse SDK</a:t>
            </a:r>
          </a:p>
          <a:p>
            <a:pPr algn="ctr"/>
            <a:r>
              <a:rPr sz="1200" b="1">
                <a:solidFill>
                  <a:srgbClr val="9A2E40"/>
                </a:solidFill>
                <a:latin typeface="Menlo"/>
                <a:ea typeface="Menlo"/>
                <a:cs typeface="Menlo"/>
              </a:rPr>
              <a:t>CallbackHandler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617720"/>
            <a:ext cx="196596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送信先は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LANGFUSE_BASE_URL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で切り替え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502920"/>
            <a:ext cx="841248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93592" y="320040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C2C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AWS（自分のアカウントでセルフホスト）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05156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ALB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05156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BEBEE"/>
          </a:solidFill>
          <a:ln w="22225">
            <a:solidFill>
              <a:srgbClr val="C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9A2E40"/>
                </a:solidFill>
                <a:latin typeface="Hiragino Sans"/>
                <a:ea typeface="Hiragino Sans"/>
                <a:cs typeface="Hiragino Sans"/>
              </a:rPr>
              <a:t>Langfuse Web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UI・API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（EKS上）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051560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Amazon S3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受け取った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イベント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05156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BEBEE"/>
          </a:solidFill>
          <a:ln w="22225">
            <a:solidFill>
              <a:srgbClr val="C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9A2E40"/>
                </a:solidFill>
                <a:latin typeface="Hiragino Sans"/>
                <a:ea typeface="Hiragino Sans"/>
                <a:cs typeface="Hiragino Sans"/>
              </a:rPr>
              <a:t>Langfuse Worker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非同期で処理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（EKS上）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105156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ClickHouse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トレース・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スコア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1623060"/>
            <a:ext cx="320040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83679" y="1623060"/>
            <a:ext cx="320041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1623060"/>
            <a:ext cx="320040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12680" y="1623060"/>
            <a:ext cx="320040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0640" y="2880360"/>
            <a:ext cx="1463040" cy="10515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Aurora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PostgreSQL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ユーザー・設定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880360"/>
            <a:ext cx="1325880" cy="10515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ElastiCache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Redis</a:t>
            </a:r>
          </a:p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キュー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2194560"/>
            <a:ext cx="0" cy="68580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09360" y="2194560"/>
            <a:ext cx="777240" cy="68580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229600" y="2194560"/>
            <a:ext cx="548640" cy="91440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0" y="2926080"/>
            <a:ext cx="30175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ClickHouse は EKS 上で動かす</a:t>
            </a:r>
          </a:p>
          <a:p>
            <a:pPr algn="l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（ClickHouse Cloud も可）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4754880"/>
            <a:ext cx="8412480" cy="1691640"/>
          </a:xfrm>
          <a:prstGeom prst="roundRect">
            <a:avLst>
              <a:gd name="adj" fmla="val 3000"/>
            </a:avLst>
          </a:prstGeom>
          <a:solidFill>
            <a:srgbClr val="FBEBEE"/>
          </a:solidFill>
          <a:ln w="25400">
            <a:solidFill>
              <a:srgbClr val="C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93592" y="4572000"/>
            <a:ext cx="3108960" cy="365760"/>
          </a:xfrm>
          <a:prstGeom prst="roundRect">
            <a:avLst>
              <a:gd name="adj" fmla="val 25000"/>
            </a:avLst>
          </a:prstGeom>
          <a:solidFill>
            <a:srgbClr val="C8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Langfuse Cloud（Web版）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516636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9A2E40"/>
                </a:solidFill>
                <a:latin typeface="Hiragino Sans"/>
                <a:ea typeface="Hiragino Sans"/>
                <a:cs typeface="Hiragino Sans"/>
              </a:rPr>
              <a:t>EU（アイルランド）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516636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9A2E40"/>
                </a:solidFill>
                <a:latin typeface="Hiragino Sans"/>
                <a:ea typeface="Hiragino Sans"/>
                <a:cs typeface="Hiragino Sans"/>
              </a:rPr>
              <a:t>US（オレゴン）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516636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9A2E40"/>
                </a:solidFill>
                <a:latin typeface="Hiragino Sans"/>
                <a:ea typeface="Hiragino Sans"/>
                <a:cs typeface="Hiragino Sans"/>
              </a:rPr>
              <a:t>日本（東京）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516636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9A2E40"/>
                </a:solidFill>
                <a:latin typeface="Hiragino Sans"/>
                <a:ea typeface="Hiragino Sans"/>
                <a:cs typeface="Hiragino Sans"/>
              </a:rPr>
              <a:t>HIPAA（米国）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852160"/>
            <a:ext cx="7863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サーバーの運用は Langfuse 側。例：jp.cloud.langfuse.com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31720" y="1623060"/>
            <a:ext cx="1280160" cy="0"/>
          </a:xfrm>
          <a:prstGeom prst="line">
            <a:avLst/>
          </a:prstGeom>
          <a:ln w="25400">
            <a:solidFill>
              <a:srgbClr val="9A2E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23160" y="1293876"/>
            <a:ext cx="91440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9A2E40"/>
                </a:solidFill>
                <a:latin typeface="Hiragino Sans"/>
                <a:ea typeface="Hiragino Sans"/>
                <a:cs typeface="Hiragino Sans"/>
              </a:rPr>
              <a:t>自前で運用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31720" y="5440680"/>
            <a:ext cx="1097280" cy="0"/>
          </a:xfrm>
          <a:prstGeom prst="line">
            <a:avLst/>
          </a:prstGeom>
          <a:ln w="25400">
            <a:solidFill>
              <a:srgbClr val="9A2E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68879" y="5111496"/>
            <a:ext cx="82296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9A2E40"/>
                </a:solidFill>
                <a:latin typeface="Hiragino Sans"/>
                <a:ea typeface="Hiragino Sans"/>
                <a:cs typeface="Hiragino Sans"/>
              </a:rPr>
              <a:t>クラウド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