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502920"/>
            <a:ext cx="2926080" cy="5852160"/>
          </a:xfrm>
          <a:prstGeom prst="roundRect">
            <a:avLst>
              <a:gd name="adj" fmla="val 3000"/>
            </a:avLst>
          </a:prstGeom>
          <a:solidFill>
            <a:srgbClr val="F1F3F4"/>
          </a:solidFill>
          <a:ln w="25400">
            <a:solidFill>
              <a:srgbClr val="BCC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0352" y="320040"/>
            <a:ext cx="914400" cy="365760"/>
          </a:xfrm>
          <a:prstGeom prst="roundRect">
            <a:avLst>
              <a:gd name="adj" fmla="val 25000"/>
            </a:avLst>
          </a:prstGeom>
          <a:solidFill>
            <a:srgbClr val="BC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標的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BCC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223344"/>
                </a:solidFill>
                <a:latin typeface="Hiragino Sans"/>
                <a:ea typeface="Hiragino Sans"/>
                <a:cs typeface="Hiragino Sans"/>
              </a:rPr>
              <a:t>コード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BCC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223344"/>
                </a:solidFill>
                <a:latin typeface="Hiragino Sans"/>
                <a:ea typeface="Hiragino Sans"/>
                <a:cs typeface="Hiragino Sans"/>
              </a:rPr>
              <a:t>Webアプリ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06039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BCC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223344"/>
                </a:solidFill>
                <a:latin typeface="Hiragino Sans"/>
                <a:ea typeface="Hiragino Sans"/>
                <a:cs typeface="Hiragino Sans"/>
              </a:rPr>
              <a:t>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566160"/>
            <a:ext cx="2560320" cy="23774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13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開発者・</a:t>
            </a:r>
          </a:p>
          <a:p>
            <a:pPr algn="ctr"/>
            <a:r>
              <a:rPr sz="13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セキュリティ</a:t>
            </a:r>
          </a:p>
          <a:p>
            <a:pPr algn="ctr"/>
            <a:r>
              <a:rPr sz="13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チームが</a:t>
            </a:r>
          </a:p>
          <a:p>
            <a:pPr algn="ctr"/>
            <a:r>
              <a:rPr sz="13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指定する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39" y="502920"/>
            <a:ext cx="8046720" cy="5852160"/>
          </a:xfrm>
          <a:prstGeom prst="roundRect">
            <a:avLst>
              <a:gd name="adj" fmla="val 3000"/>
            </a:avLst>
          </a:prstGeom>
          <a:solidFill>
            <a:srgbClr val="EFE9FA"/>
          </a:solidFill>
          <a:ln w="25400">
            <a:solidFill>
              <a:srgbClr val="6A3C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913631" y="320040"/>
            <a:ext cx="5120640" cy="365760"/>
          </a:xfrm>
          <a:prstGeom prst="roundRect">
            <a:avLst>
              <a:gd name="adj" fmla="val 25000"/>
            </a:avLst>
          </a:prstGeom>
          <a:solidFill>
            <a:srgbClr val="6A3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Strixエージェント（Dockerサンドボックス内で自律実行）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234440"/>
            <a:ext cx="31546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6A3C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4A2786"/>
                </a:solidFill>
                <a:latin typeface="Hiragino Sans"/>
                <a:ea typeface="Hiragino Sans"/>
                <a:cs typeface="Hiragino Sans"/>
              </a:rPr>
              <a:t>偵察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攻撃対象を洗い出す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234440"/>
            <a:ext cx="31546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6A3C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4A2786"/>
                </a:solidFill>
                <a:latin typeface="Hiragino Sans"/>
                <a:ea typeface="Hiragino Sans"/>
                <a:cs typeface="Hiragino Sans"/>
              </a:rPr>
              <a:t>動的に実行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コードを実際に動かす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3017520"/>
            <a:ext cx="31546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6A3C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4A2786"/>
                </a:solidFill>
                <a:latin typeface="Hiragino Sans"/>
                <a:ea typeface="Hiragino Sans"/>
                <a:cs typeface="Hiragino Sans"/>
              </a:rPr>
              <a:t>脆弱性を発見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怪しい箇所を特定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3017520"/>
            <a:ext cx="31546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6A3C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4A2786"/>
                </a:solidFill>
                <a:latin typeface="Hiragino Sans"/>
                <a:ea typeface="Hiragino Sans"/>
                <a:cs typeface="Hiragino Sans"/>
              </a:rPr>
              <a:t>PoCで検証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実際に動く実証コードで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誤検知を除く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4846320"/>
            <a:ext cx="32918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6A3C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4A2786"/>
                </a:solidFill>
                <a:latin typeface="Hiragino Sans"/>
                <a:ea typeface="Hiragino Sans"/>
                <a:cs typeface="Hiragino Sans"/>
              </a:rPr>
              <a:t>自動修正・レポート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修正パッチと報告書を生成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15200" y="1828800"/>
            <a:ext cx="822960" cy="0"/>
          </a:xfrm>
          <a:prstGeom prst="line">
            <a:avLst/>
          </a:prstGeom>
          <a:ln w="25400">
            <a:solidFill>
              <a:srgbClr val="4A27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692640" y="2468880"/>
            <a:ext cx="0" cy="548640"/>
          </a:xfrm>
          <a:prstGeom prst="line">
            <a:avLst/>
          </a:prstGeom>
          <a:ln w="25400">
            <a:solidFill>
              <a:srgbClr val="4A27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7315200" y="3611880"/>
            <a:ext cx="822960" cy="0"/>
          </a:xfrm>
          <a:prstGeom prst="line">
            <a:avLst/>
          </a:prstGeom>
          <a:ln w="25400">
            <a:solidFill>
              <a:srgbClr val="4A27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040880" y="3300984"/>
            <a:ext cx="548640" cy="274320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ctr"/>
            <a:r>
              <a:rPr sz="1200" b="0">
                <a:solidFill>
                  <a:srgbClr val="4A2786"/>
                </a:solidFill>
                <a:latin typeface="Hiragino Sans"/>
                <a:ea typeface="Hiragino Sans"/>
                <a:cs typeface="Hiragino Sans"/>
              </a:rPr>
              <a:t>検証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760720" y="4251960"/>
            <a:ext cx="914400" cy="594360"/>
          </a:xfrm>
          <a:prstGeom prst="line">
            <a:avLst/>
          </a:prstGeom>
          <a:ln w="25400">
            <a:solidFill>
              <a:srgbClr val="4A27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4617720" y="2468880"/>
            <a:ext cx="640080" cy="548640"/>
          </a:xfrm>
          <a:prstGeom prst="line">
            <a:avLst/>
          </a:prstGeom>
          <a:ln w="25400">
            <a:solidFill>
              <a:srgbClr val="4A278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160520" y="2514600"/>
            <a:ext cx="1645920" cy="2743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200" b="0">
                <a:solidFill>
                  <a:srgbClr val="4A2786"/>
                </a:solidFill>
                <a:latin typeface="Hiragino Sans"/>
                <a:ea typeface="Hiragino Sans"/>
                <a:cs typeface="Hiragino Sans"/>
              </a:rPr>
              <a:t>足りなければ再挑戦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291840" y="1737360"/>
            <a:ext cx="868680" cy="45720"/>
          </a:xfrm>
          <a:prstGeom prst="line">
            <a:avLst/>
          </a:prstGeom>
          <a:ln w="25400">
            <a:solidFill>
              <a:srgbClr val="4A27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394960" y="6172200"/>
            <a:ext cx="475488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実際に動くPoCを作って検証するので誤検知が少ない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548640"/>
            <a:ext cx="6492240" cy="2880360"/>
          </a:xfrm>
          <a:prstGeom prst="roundRect">
            <a:avLst>
              <a:gd name="adj" fmla="val 3000"/>
            </a:avLst>
          </a:prstGeom>
          <a:solidFill>
            <a:srgbClr val="EFE9FA"/>
          </a:solidFill>
          <a:ln w="25400">
            <a:solidFill>
              <a:srgbClr val="6A3C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0352" y="365759"/>
            <a:ext cx="4480560" cy="365760"/>
          </a:xfrm>
          <a:prstGeom prst="roundRect">
            <a:avLst>
              <a:gd name="adj" fmla="val 25000"/>
            </a:avLst>
          </a:prstGeom>
          <a:solidFill>
            <a:srgbClr val="6A3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Graph of Agents（複数エージェントが連携）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18288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6A3C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4A2786"/>
                </a:solidFill>
                <a:latin typeface="Hiragino Sans"/>
                <a:ea typeface="Hiragino Sans"/>
                <a:cs typeface="Hiragino Sans"/>
              </a:rPr>
              <a:t>偵察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60320" y="1755648"/>
            <a:ext cx="182880" cy="0"/>
          </a:xfrm>
          <a:prstGeom prst="line">
            <a:avLst/>
          </a:prstGeom>
          <a:ln w="25400">
            <a:solidFill>
              <a:srgbClr val="4A2786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743200" y="1234440"/>
            <a:ext cx="18288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6A3C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4A2786"/>
                </a:solidFill>
                <a:latin typeface="Hiragino Sans"/>
                <a:ea typeface="Hiragino Sans"/>
                <a:cs typeface="Hiragino Sans"/>
              </a:rPr>
              <a:t>エクスプロイト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0" y="1755648"/>
            <a:ext cx="182880" cy="0"/>
          </a:xfrm>
          <a:prstGeom prst="line">
            <a:avLst/>
          </a:prstGeom>
          <a:ln w="25400">
            <a:solidFill>
              <a:srgbClr val="4A2786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754880" y="1234440"/>
            <a:ext cx="18288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6A3C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4A2786"/>
                </a:solidFill>
                <a:latin typeface="Hiragino Sans"/>
                <a:ea typeface="Hiragino Sans"/>
                <a:cs typeface="Hiragino Sans"/>
              </a:rPr>
              <a:t>事後侵害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5760720" cy="6400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発見を共有し、脆弱性を連鎖させてレッドチームのように動く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703320"/>
            <a:ext cx="8778240" cy="2651760"/>
          </a:xfrm>
          <a:prstGeom prst="roundRect">
            <a:avLst>
              <a:gd name="adj" fmla="val 3000"/>
            </a:avLst>
          </a:prstGeom>
          <a:solidFill>
            <a:srgbClr val="EFE9FA"/>
          </a:solidFill>
          <a:ln w="25400">
            <a:solidFill>
              <a:srgbClr val="6A3C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30352" y="3520439"/>
            <a:ext cx="4114800" cy="365760"/>
          </a:xfrm>
          <a:prstGeom prst="roundRect">
            <a:avLst>
              <a:gd name="adj" fmla="val 25000"/>
            </a:avLst>
          </a:prstGeom>
          <a:solidFill>
            <a:srgbClr val="6A3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攻撃ツールキット（プロと同じ道具一式）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0624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6A3C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4A2786"/>
                </a:solidFill>
                <a:latin typeface="Hiragino Sans"/>
                <a:ea typeface="Hiragino Sans"/>
                <a:cs typeface="Hiragino Sans"/>
              </a:rPr>
              <a:t>HTTPプロキシ</a:t>
            </a:r>
          </a:p>
          <a:p>
            <a:pPr algn="ctr"/>
            <a:r>
              <a:rPr sz="11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Caido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420624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6A3C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4A2786"/>
                </a:solidFill>
                <a:latin typeface="Hiragino Sans"/>
                <a:ea typeface="Hiragino Sans"/>
                <a:cs typeface="Hiragino Sans"/>
              </a:rPr>
              <a:t>ブラウザ操作</a:t>
            </a:r>
          </a:p>
          <a:p>
            <a:pPr algn="ctr"/>
            <a:r>
              <a:rPr sz="11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XSS・CSRF検証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20624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6A3C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4A2786"/>
                </a:solidFill>
                <a:latin typeface="Hiragino Sans"/>
                <a:ea typeface="Hiragino Sans"/>
                <a:cs typeface="Hiragino Sans"/>
              </a:rPr>
              <a:t>シェル実行</a:t>
            </a:r>
          </a:p>
          <a:p>
            <a:pPr algn="ctr"/>
            <a:r>
              <a:rPr sz="11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対話ターミナル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25780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6A3C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4A2786"/>
                </a:solidFill>
                <a:latin typeface="Hiragino Sans"/>
                <a:ea typeface="Hiragino Sans"/>
                <a:cs typeface="Hiragino Sans"/>
              </a:rPr>
              <a:t>Pythonサンドボックス</a:t>
            </a:r>
          </a:p>
          <a:p>
            <a:pPr algn="ctr"/>
            <a:r>
              <a:rPr sz="11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PoCを書いて検証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0" y="525780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6A3C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4A2786"/>
                </a:solidFill>
                <a:latin typeface="Hiragino Sans"/>
                <a:ea typeface="Hiragino Sans"/>
                <a:cs typeface="Hiragino Sans"/>
              </a:rPr>
              <a:t>SAST + DAST</a:t>
            </a:r>
          </a:p>
          <a:p>
            <a:pPr algn="ctr"/>
            <a:r>
              <a:rPr sz="11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静的・動的解析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525780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6A3C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4A2786"/>
                </a:solidFill>
                <a:latin typeface="Hiragino Sans"/>
                <a:ea typeface="Hiragino Sans"/>
                <a:cs typeface="Hiragino Sans"/>
              </a:rPr>
              <a:t>偵察・OSINT</a:t>
            </a:r>
          </a:p>
          <a:p>
            <a:pPr algn="ctr"/>
            <a:r>
              <a:rPr sz="11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攻撃面マッピング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8320" y="822960"/>
            <a:ext cx="2377440" cy="219456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22225">
            <a:solidFill>
              <a:srgbClr val="BCC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223344"/>
                </a:solidFill>
                <a:latin typeface="Hiragino Sans"/>
                <a:ea typeface="Hiragino Sans"/>
                <a:cs typeface="Hiragino Sans"/>
              </a:rPr>
              <a:t>ローカルWeb
ビューア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結果・エージェントの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動きを手元で確認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（strix view）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58000" y="1920240"/>
            <a:ext cx="2560320" cy="0"/>
          </a:xfrm>
          <a:prstGeom prst="line">
            <a:avLst/>
          </a:prstGeom>
          <a:ln w="25400">
            <a:solidFill>
              <a:srgbClr val="BCC5CC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406640" y="1609344"/>
            <a:ext cx="1463040" cy="274320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結果を書き出す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18320" y="4206240"/>
            <a:ext cx="2377440" cy="1828800"/>
          </a:xfrm>
          <a:prstGeom prst="roundRect">
            <a:avLst>
              <a:gd name="adj" fmla="val 8000"/>
            </a:avLst>
          </a:prstGeom>
          <a:solidFill>
            <a:srgbClr val="EFE9FA"/>
          </a:solidFill>
          <a:ln w="22225">
            <a:solidFill>
              <a:srgbClr val="6A3C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4A2786"/>
                </a:solidFill>
                <a:latin typeface="Hiragino Sans"/>
                <a:ea typeface="Hiragino Sans"/>
                <a:cs typeface="Hiragino Sans"/>
              </a:rPr>
              <a:t>autofix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修正パッチを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PRとして提案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（クラウド版）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