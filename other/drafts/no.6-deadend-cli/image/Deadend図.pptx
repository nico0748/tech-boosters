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697480"/>
            <a:ext cx="1600200" cy="128016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標的Web
アプリ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ローカルで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完結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40280" y="502920"/>
            <a:ext cx="6400800" cy="5852160"/>
          </a:xfrm>
          <a:prstGeom prst="roundRect">
            <a:avLst>
              <a:gd name="adj" fmla="val 3000"/>
            </a:avLst>
          </a:prstGeom>
          <a:solidFill>
            <a:srgbClr val="FCF0E2"/>
          </a:solidFill>
          <a:ln w="25400">
            <a:solidFill>
              <a:srgbClr val="D1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04872" y="320040"/>
            <a:ext cx="3840480" cy="365760"/>
          </a:xfrm>
          <a:prstGeom prst="roundRect">
            <a:avLst>
              <a:gd name="adj" fmla="val 25000"/>
            </a:avLst>
          </a:prstGeom>
          <a:solidFill>
            <a:srgbClr val="D16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フィードバック駆動の反復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14300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D1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9A4C08"/>
                </a:solidFill>
                <a:latin typeface="Hiragino Sans"/>
                <a:ea typeface="Hiragino Sans"/>
                <a:cs typeface="Hiragino Sans"/>
              </a:rPr>
              <a:t>標準ツールで試す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まず既存の道具で挑む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14300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D1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9A4C08"/>
                </a:solidFill>
                <a:latin typeface="Hiragino Sans"/>
                <a:ea typeface="Hiragino Sans"/>
                <a:cs typeface="Hiragino Sans"/>
              </a:rPr>
              <a:t>カスタムPython
ペイロードを生成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通らなければ自作する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65176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D1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9A4C08"/>
                </a:solidFill>
                <a:latin typeface="Hiragino Sans"/>
                <a:ea typeface="Hiragino Sans"/>
                <a:cs typeface="Hiragino Sans"/>
              </a:rPr>
              <a:t>実行して応答を観測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返り方を見る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265176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D1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9A4C08"/>
                </a:solidFill>
                <a:latin typeface="Hiragino Sans"/>
                <a:ea typeface="Hiragino Sans"/>
                <a:cs typeface="Hiragino Sans"/>
              </a:rPr>
              <a:t>信頼度スコアを算出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0〜1.0で手応えを測る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03520" y="1645920"/>
            <a:ext cx="365760" cy="0"/>
          </a:xfrm>
          <a:prstGeom prst="line">
            <a:avLst/>
          </a:prstGeom>
          <a:ln w="25400">
            <a:solidFill>
              <a:srgbClr val="9A4C0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12080" y="1335024"/>
            <a:ext cx="54864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9A4C08"/>
                </a:solidFill>
                <a:latin typeface="Hiragino Sans"/>
                <a:ea typeface="Hiragino Sans"/>
                <a:cs typeface="Hiragino Sans"/>
              </a:rPr>
              <a:t>失敗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95160" y="2148840"/>
            <a:ext cx="0" cy="502920"/>
          </a:xfrm>
          <a:prstGeom prst="line">
            <a:avLst/>
          </a:prstGeom>
          <a:ln w="25400">
            <a:solidFill>
              <a:srgbClr val="9A4C0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303520" y="3154680"/>
            <a:ext cx="365760" cy="0"/>
          </a:xfrm>
          <a:prstGeom prst="line">
            <a:avLst/>
          </a:prstGeom>
          <a:ln w="25400">
            <a:solidFill>
              <a:srgbClr val="9A4C0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977639" y="2148840"/>
            <a:ext cx="0" cy="502920"/>
          </a:xfrm>
          <a:prstGeom prst="line">
            <a:avLst/>
          </a:prstGeom>
          <a:ln w="25400">
            <a:solidFill>
              <a:srgbClr val="9A4C0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69080" y="2258568"/>
            <a:ext cx="64008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9A4C08"/>
                </a:solidFill>
                <a:latin typeface="Hiragino Sans"/>
                <a:ea typeface="Hiragino Sans"/>
                <a:cs typeface="Hiragino Sans"/>
              </a:rPr>
              <a:t>次へ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886200"/>
            <a:ext cx="548640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3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↓　スコアで次の動きを決める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4297680"/>
            <a:ext cx="13258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1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&lt; 20%</a:t>
            </a:r>
          </a:p>
          <a:p>
            <a:pPr algn="ctr"/>
            <a:r>
              <a:rPr sz="1300" b="0">
                <a:solidFill>
                  <a:srgbClr val="9A4C08"/>
                </a:solidFill>
                <a:latin typeface="Menlo"/>
                <a:ea typeface="Menlo"/>
                <a:cs typeface="Menlo"/>
              </a:rPr>
              <a:t>fail</a:t>
            </a:r>
          </a:p>
          <a:p>
            <a:pPr algn="ctr"/>
            <a:r>
              <a:rPr sz="600" b="0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別の経路へ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4297680"/>
            <a:ext cx="13258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1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20〜60%</a:t>
            </a:r>
          </a:p>
          <a:p>
            <a:pPr algn="ctr"/>
            <a:r>
              <a:rPr sz="1300" b="0">
                <a:solidFill>
                  <a:srgbClr val="9A4C08"/>
                </a:solidFill>
                <a:latin typeface="Menlo"/>
                <a:ea typeface="Menlo"/>
                <a:cs typeface="Menlo"/>
              </a:rPr>
              <a:t>expand</a:t>
            </a:r>
          </a:p>
          <a:p>
            <a:pPr algn="ctr"/>
            <a:r>
              <a:rPr sz="600" b="0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探索を広げる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4297680"/>
            <a:ext cx="13258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1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60〜80%</a:t>
            </a:r>
          </a:p>
          <a:p>
            <a:pPr algn="ctr"/>
            <a:r>
              <a:rPr sz="1300" b="0">
                <a:solidFill>
                  <a:srgbClr val="9A4C08"/>
                </a:solidFill>
                <a:latin typeface="Menlo"/>
                <a:ea typeface="Menlo"/>
                <a:cs typeface="Menlo"/>
              </a:rPr>
              <a:t>refine</a:t>
            </a:r>
          </a:p>
          <a:p>
            <a:pPr algn="ctr"/>
            <a:r>
              <a:rPr sz="600" b="0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手法を磨く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4297680"/>
            <a:ext cx="13258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1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&gt; 80%</a:t>
            </a:r>
          </a:p>
          <a:p>
            <a:pPr algn="ctr"/>
            <a:r>
              <a:rPr sz="1300" b="0">
                <a:solidFill>
                  <a:srgbClr val="9A4C08"/>
                </a:solidFill>
                <a:latin typeface="Menlo"/>
                <a:ea typeface="Menlo"/>
                <a:cs typeface="Menlo"/>
              </a:rPr>
              <a:t>validate</a:t>
            </a:r>
          </a:p>
          <a:p>
            <a:pPr algn="ctr"/>
            <a:r>
              <a:rPr sz="600" b="0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脆弱性を確定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965960" y="1645920"/>
            <a:ext cx="685800" cy="1691640"/>
          </a:xfrm>
          <a:prstGeom prst="line">
            <a:avLst/>
          </a:prstGeom>
          <a:ln w="25400">
            <a:solidFill>
              <a:srgbClr val="9A4C0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83080" y="2066544"/>
            <a:ext cx="54864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9A4C08"/>
                </a:solidFill>
                <a:latin typeface="Hiragino Sans"/>
                <a:ea typeface="Hiragino Sans"/>
                <a:cs typeface="Hiragino Sans"/>
              </a:rPr>
              <a:t>挑む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2697480"/>
            <a:ext cx="2880360" cy="128016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モデルは差し替え可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LiteLLMで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Kimi・Claude・GLMなど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41080" y="3337560"/>
            <a:ext cx="274320" cy="0"/>
          </a:xfrm>
          <a:prstGeom prst="line">
            <a:avLst/>
          </a:prstGeom>
          <a:ln w="25400">
            <a:solidFill>
              <a:srgbClr val="BCC5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0" y="640080"/>
            <a:ext cx="3383280" cy="1188720"/>
          </a:xfrm>
          <a:prstGeom prst="roundRect">
            <a:avLst>
              <a:gd name="adj" fmla="val 8000"/>
            </a:avLst>
          </a:prstGeom>
          <a:solidFill>
            <a:srgbClr val="FCF0E2"/>
          </a:solidFill>
          <a:ln w="22225">
            <a:solidFill>
              <a:srgbClr val="D1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9A4C08"/>
                </a:solidFill>
                <a:latin typeface="Hiragino Sans"/>
                <a:ea typeface="Hiragino Sans"/>
                <a:cs typeface="Hiragino Sans"/>
              </a:rPr>
              <a:t>Supervisor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高レベルの目標を保ち、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担当のサブエージェントに委任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2286000"/>
            <a:ext cx="28346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D1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9A4C08"/>
                </a:solidFill>
                <a:latin typeface="Menlo"/>
                <a:ea typeface="Menlo"/>
                <a:cs typeface="Menlo"/>
              </a:rPr>
              <a:t>Requester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HTTPリクエストを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組み立てる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2606040" y="1828800"/>
            <a:ext cx="3474720" cy="457200"/>
          </a:xfrm>
          <a:prstGeom prst="line">
            <a:avLst/>
          </a:prstGeom>
          <a:ln w="25400">
            <a:solidFill>
              <a:srgbClr val="9A4C0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663440" y="2286000"/>
            <a:ext cx="28346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D1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9A4C08"/>
                </a:solidFill>
                <a:latin typeface="Menlo"/>
                <a:ea typeface="Menlo"/>
                <a:cs typeface="Menlo"/>
              </a:rPr>
              <a:t>Shell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コマンドを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実行する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6080759" y="1828800"/>
            <a:ext cx="1" cy="457200"/>
          </a:xfrm>
          <a:prstGeom prst="line">
            <a:avLst/>
          </a:prstGeom>
          <a:ln w="25400">
            <a:solidFill>
              <a:srgbClr val="9A4C0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138160" y="2286000"/>
            <a:ext cx="28346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D1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9A4C08"/>
                </a:solidFill>
                <a:latin typeface="Menlo"/>
                <a:ea typeface="Menlo"/>
                <a:cs typeface="Menlo"/>
              </a:rPr>
              <a:t>Python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ペイロードを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書いて試す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1828800"/>
            <a:ext cx="3474720" cy="457200"/>
          </a:xfrm>
          <a:prstGeom prst="line">
            <a:avLst/>
          </a:prstGeom>
          <a:ln w="25400">
            <a:solidFill>
              <a:srgbClr val="9A4C0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3886200"/>
            <a:ext cx="6675120" cy="2423160"/>
          </a:xfrm>
          <a:prstGeom prst="roundRect">
            <a:avLst>
              <a:gd name="adj" fmla="val 3000"/>
            </a:avLst>
          </a:prstGeom>
          <a:solidFill>
            <a:srgbClr val="FCF0E2"/>
          </a:solidFill>
          <a:ln w="25400">
            <a:solidFill>
              <a:srgbClr val="D1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8992" y="3703320"/>
            <a:ext cx="4572000" cy="365760"/>
          </a:xfrm>
          <a:prstGeom prst="roundRect">
            <a:avLst>
              <a:gd name="adj" fmla="val 25000"/>
            </a:avLst>
          </a:prstGeom>
          <a:solidFill>
            <a:srgbClr val="D16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サンドボックス（隔離して安全に動かす）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434840"/>
            <a:ext cx="19659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D1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9A4C08"/>
                </a:solidFill>
                <a:latin typeface="Hiragino Sans"/>
                <a:ea typeface="Hiragino Sans"/>
                <a:cs typeface="Hiragino Sans"/>
              </a:rPr>
              <a:t>Playwright</a:t>
            </a:r>
          </a:p>
          <a:p>
            <a:pPr algn="ctr"/>
            <a:r>
              <a:rPr sz="11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HTTP生成</a:t>
            </a:r>
          </a:p>
          <a:p>
            <a:pPr algn="ctr"/>
            <a:r>
              <a:rPr sz="11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（ブラウザ同梱）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4434840"/>
            <a:ext cx="19659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D1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9A4C08"/>
                </a:solidFill>
                <a:latin typeface="Hiragino Sans"/>
                <a:ea typeface="Hiragino Sans"/>
                <a:cs typeface="Hiragino Sans"/>
              </a:rPr>
              <a:t>Docker</a:t>
            </a:r>
          </a:p>
          <a:p>
            <a:pPr algn="ctr"/>
            <a:r>
              <a:rPr sz="11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シェルを隔離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4434840"/>
            <a:ext cx="19659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D1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9A4C08"/>
                </a:solidFill>
                <a:latin typeface="Hiragino Sans"/>
                <a:ea typeface="Hiragino Sans"/>
                <a:cs typeface="Hiragino Sans"/>
              </a:rPr>
              <a:t>Pyodide / WASM</a:t>
            </a:r>
          </a:p>
          <a:p>
            <a:pPr algn="ctr"/>
            <a:r>
              <a:rPr sz="11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Pythonサンドボックス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88620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D1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9A4C08"/>
                </a:solidFill>
                <a:latin typeface="Hiragino Sans"/>
                <a:ea typeface="Hiragino Sans"/>
                <a:cs typeface="Hiragino Sans"/>
              </a:rPr>
              <a:t>2フェーズで進める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偵察 → エクスプロイト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521208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すべてローカルで完結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クラウド送信なし・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モデル非依存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