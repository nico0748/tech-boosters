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685800"/>
            <a:ext cx="5486400" cy="571500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2032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48056"/>
            <a:ext cx="3566160" cy="475488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AIエージェントの通信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5273040"/>
            <a:ext cx="1463040" cy="213360"/>
          </a:xfrm>
          <a:prstGeom prst="rect">
            <a:avLst/>
          </a:prstGeom>
          <a:solidFill>
            <a:srgbClr val="C9E8E4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645919"/>
            <a:ext cx="1463040" cy="3840480"/>
          </a:xfrm>
          <a:prstGeom prst="rect">
            <a:avLst/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770120"/>
            <a:ext cx="18288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97279"/>
            <a:ext cx="219456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>
                <a:solidFill>
                  <a:srgbClr val="1E8A82"/>
                </a:solidFill>
                <a:latin typeface="Noto Sans CJK JP"/>
                <a:ea typeface="Noto Sans CJK JP"/>
              </a:rPr>
              <a:t>18倍以上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103120" y="2377440"/>
            <a:ext cx="1417320" cy="2194560"/>
          </a:xfrm>
          <a:prstGeom prst="line">
            <a:avLst/>
          </a:prstGeom>
          <a:ln w="19050">
            <a:solidFill>
              <a:srgbClr val="1E8A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560320"/>
            <a:ext cx="26517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>
                <a:solidFill>
                  <a:srgbClr val="1E8A82"/>
                </a:solidFill>
                <a:latin typeface="Noto Sans CJK JP"/>
                <a:ea typeface="Noto Sans CJK JP"/>
              </a:rPr>
              <a:t>1年で1,700%以上増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5486400"/>
            <a:ext cx="4754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5577840"/>
            <a:ext cx="182880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0">
                <a:solidFill>
                  <a:srgbClr val="1F3A5C"/>
                </a:solidFill>
                <a:latin typeface="Noto Sans CJK JP"/>
                <a:ea typeface="Noto Sans CJK JP"/>
              </a:rPr>
              <a:t>1年前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5577840"/>
            <a:ext cx="182880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0">
                <a:solidFill>
                  <a:srgbClr val="1F3A5C"/>
                </a:solidFill>
                <a:latin typeface="Noto Sans CJK JP"/>
                <a:ea typeface="Noto Sans CJK JP"/>
              </a:rPr>
              <a:t>現在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685800"/>
            <a:ext cx="5486400" cy="5715000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2032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59" y="448056"/>
            <a:ext cx="2743200" cy="475488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人からのアクセス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1645919"/>
            <a:ext cx="1463040" cy="3840480"/>
          </a:xfrm>
          <a:prstGeom prst="rect">
            <a:avLst/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64040" y="3182112"/>
            <a:ext cx="1463040" cy="2304288"/>
          </a:xfrm>
          <a:prstGeom prst="rect">
            <a:avLst/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64040" y="2798064"/>
            <a:ext cx="1463040" cy="384047"/>
          </a:xfrm>
          <a:prstGeom prst="roundRect">
            <a:avLst>
              <a:gd name="adj" fmla="val 0"/>
            </a:avLst>
          </a:prstGeom>
          <a:noFill/>
          <a:ln w="17780">
            <a:solidFill>
              <a:srgbClr val="2E5E8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142999"/>
            <a:ext cx="18288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249424"/>
            <a:ext cx="2194560" cy="50292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>
                <a:solidFill>
                  <a:srgbClr val="C0392B"/>
                </a:solidFill>
                <a:latin typeface="Noto Sans CJK JP"/>
                <a:ea typeface="Noto Sans CJK JP"/>
              </a:rPr>
              <a:t>3〜4割減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5486400"/>
            <a:ext cx="4754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03720" y="5577840"/>
            <a:ext cx="182880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0">
                <a:solidFill>
                  <a:srgbClr val="1F3A5C"/>
                </a:solidFill>
                <a:latin typeface="Noto Sans CJK JP"/>
                <a:ea typeface="Noto Sans CJK JP"/>
              </a:rPr>
              <a:t>以前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5577840"/>
            <a:ext cx="182880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0">
                <a:solidFill>
                  <a:srgbClr val="1F3A5C"/>
                </a:solidFill>
                <a:latin typeface="Noto Sans CJK JP"/>
                <a:ea typeface="Noto Sans CJK JP"/>
              </a:rPr>
              <a:t>現在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783080"/>
            <a:ext cx="219456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コード1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エージェントが作成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200400"/>
            <a:ext cx="219456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コード2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エージェントが作成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4617720"/>
            <a:ext cx="2194560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コード3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エージェントが作成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777240"/>
            <a:ext cx="7543800" cy="5715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20320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59" y="539496"/>
            <a:ext cx="2468880" cy="475488"/>
          </a:xfrm>
          <a:prstGeom prst="roundRect">
            <a:avLst>
              <a:gd name="adj" fmla="val 50000"/>
            </a:avLst>
          </a:prstGeom>
          <a:solidFill>
            <a:srgbClr val="2B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1台のサーバー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325880"/>
            <a:ext cx="6995160" cy="4846320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2032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088136"/>
            <a:ext cx="4023360" cy="475488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ランタイム（1つのプロセス）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783080"/>
            <a:ext cx="3749039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アイソレート1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専用のメモリと変数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217420"/>
            <a:ext cx="21945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846320" y="3200400"/>
            <a:ext cx="3749039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アイソレート2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専用のメモリと変数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634740"/>
            <a:ext cx="21945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46320" y="4617720"/>
            <a:ext cx="3749039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1F3A5C"/>
                </a:solidFill>
                <a:latin typeface="Noto Sans CJK JP"/>
                <a:ea typeface="Noto Sans CJK JP"/>
              </a:rPr>
              <a:t>アイソレート3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専用のメモリと変数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51760" y="5052059"/>
            <a:ext cx="219456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33472" y="1741931"/>
            <a:ext cx="1600200" cy="438912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500" b="1">
                <a:solidFill>
                  <a:srgbClr val="1E8A82"/>
                </a:solidFill>
                <a:latin typeface="Noto Sans CJK JP"/>
                <a:ea typeface="Noto Sans CJK JP"/>
              </a:rPr>
              <a:t>数ミリ秒で作成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715768"/>
            <a:ext cx="3749039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0">
                <a:solidFill>
                  <a:srgbClr val="C0392B"/>
                </a:solidFill>
                <a:latin typeface="Noto Sans CJK JP"/>
                <a:ea typeface="Noto Sans CJK JP"/>
              </a:rPr>
              <a:t>✘ 互いのメモリは見えない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133088"/>
            <a:ext cx="3749039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0">
                <a:solidFill>
                  <a:srgbClr val="C0392B"/>
                </a:solidFill>
                <a:latin typeface="Noto Sans CJK JP"/>
                <a:ea typeface="Noto Sans CJK JP"/>
              </a:rPr>
              <a:t>✘ 互いのメモリは見えない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5532120"/>
            <a:ext cx="3749039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1つのランタイムで数百〜数千個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783080"/>
            <a:ext cx="2011680" cy="3703320"/>
          </a:xfrm>
          <a:prstGeom prst="roundRect">
            <a:avLst>
              <a:gd name="adj" fmla="val 1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V8エンジン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CJK JP"/>
                <a:ea typeface="Noto Sans CJK JP"/>
              </a:rPr>
              <a:t>Chromeと同じ</a:t>
            </a:r>
          </a:p>
          <a:p>
            <a:pPr algn="ctr"/>
            <a:r>
              <a:rPr sz="1600" b="0">
                <a:solidFill>
                  <a:srgbClr val="FFFFFF"/>
                </a:solidFill>
                <a:latin typeface="Noto Sans CJK JP"/>
                <a:ea typeface="Noto Sans CJK JP"/>
              </a:rPr>
              <a:t>みんなで共有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95360" y="2217420"/>
            <a:ext cx="50292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95360" y="3634740"/>
            <a:ext cx="50292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95360" y="5052059"/>
            <a:ext cx="50292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731520"/>
            <a:ext cx="5394960" cy="3977639"/>
          </a:xfrm>
          <a:prstGeom prst="roundRect">
            <a:avLst>
              <a:gd name="adj" fmla="val 5000"/>
            </a:avLst>
          </a:prstGeom>
          <a:solidFill>
            <a:srgbClr val="EEF3F9"/>
          </a:solidFill>
          <a:ln w="2032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93776"/>
            <a:ext cx="1645919" cy="475488"/>
          </a:xfrm>
          <a:prstGeom prst="roundRect">
            <a:avLst>
              <a:gd name="adj" fmla="val 50000"/>
            </a:avLst>
          </a:prstGeom>
          <a:solidFill>
            <a:srgbClr val="2E5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コンテナ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023360"/>
            <a:ext cx="4846320" cy="50292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サーバー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4846320" cy="50292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1600200" cy="214884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07008"/>
            <a:ext cx="160020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>
                <a:solidFill>
                  <a:srgbClr val="2E5E8E"/>
                </a:solidFill>
                <a:latin typeface="Noto Sans CJK JP"/>
                <a:ea typeface="Noto Sans CJK JP"/>
              </a:rPr>
              <a:t>コンテナ1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コード1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ランタイム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1188720"/>
            <a:ext cx="1600200" cy="214884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1207008"/>
            <a:ext cx="160020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>
                <a:solidFill>
                  <a:srgbClr val="2E5E8E"/>
                </a:solidFill>
                <a:latin typeface="Noto Sans CJK JP"/>
                <a:ea typeface="Noto Sans CJK JP"/>
              </a:rPr>
              <a:t>コンテナ2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169164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コード2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51460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ランタイム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188720"/>
            <a:ext cx="1600200" cy="2148840"/>
          </a:xfrm>
          <a:prstGeom prst="roundRect">
            <a:avLst>
              <a:gd name="adj" fmla="val 8000"/>
            </a:avLst>
          </a:prstGeom>
          <a:noFill/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207008"/>
            <a:ext cx="160020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>
                <a:solidFill>
                  <a:srgbClr val="2E5E8E"/>
                </a:solidFill>
                <a:latin typeface="Noto Sans CJK JP"/>
                <a:ea typeface="Noto Sans CJK JP"/>
              </a:rPr>
              <a:t>コンテナ3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69164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コード3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514600"/>
            <a:ext cx="1325880" cy="685800"/>
          </a:xfrm>
          <a:prstGeom prst="roundRect">
            <a:avLst>
              <a:gd name="adj" fmla="val 16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500" b="1">
                <a:solidFill>
                  <a:srgbClr val="1F3A5C"/>
                </a:solidFill>
                <a:latin typeface="Noto Sans CJK JP"/>
                <a:ea typeface="Noto Sans CJK JP"/>
              </a:rPr>
              <a:t>ランタイム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731520"/>
            <a:ext cx="5394960" cy="3977639"/>
          </a:xfrm>
          <a:prstGeom prst="roundRect">
            <a:avLst>
              <a:gd name="adj" fmla="val 5000"/>
            </a:avLst>
          </a:prstGeom>
          <a:solidFill>
            <a:srgbClr val="E8F5F3"/>
          </a:solidFill>
          <a:ln w="2032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29400" y="493776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アイソレート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4023360"/>
            <a:ext cx="4846320" cy="50292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サーバー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29400" y="3429000"/>
            <a:ext cx="4846320" cy="502920"/>
          </a:xfrm>
          <a:prstGeom prst="roundRect">
            <a:avLst>
              <a:gd name="adj" fmla="val 20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1188720"/>
            <a:ext cx="1508760" cy="1280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コード1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アイソレート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188720"/>
            <a:ext cx="1508760" cy="1280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コード2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アイソレート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1188720"/>
            <a:ext cx="1508760" cy="12801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600" b="1">
                <a:solidFill>
                  <a:srgbClr val="1F3A5C"/>
                </a:solidFill>
                <a:latin typeface="Noto Sans CJK JP"/>
                <a:ea typeface="Noto Sans CJK JP"/>
              </a:rPr>
              <a:t>コード3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Noto Sans CJK JP"/>
                <a:ea typeface="Noto Sans CJK JP"/>
              </a:rPr>
              <a:t>アイソレート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606040"/>
            <a:ext cx="4846320" cy="685800"/>
          </a:xfrm>
          <a:prstGeom prst="roundRect">
            <a:avLst>
              <a:gd name="adj" fmla="val 20000"/>
            </a:avLst>
          </a:prstGeom>
          <a:solidFill>
            <a:srgbClr val="1E8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  <a:ea typeface="Noto Sans CJK JP"/>
              </a:rPr>
              <a:t>ランタイム（1つを共有）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29200"/>
            <a:ext cx="260604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000" b="1">
                <a:solidFill>
                  <a:srgbClr val="1F3A5C"/>
                </a:solidFill>
                <a:latin typeface="Noto Sans CJK JP"/>
                <a:ea typeface="Noto Sans CJK JP"/>
              </a:rPr>
              <a:t>数百ミリ秒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起動にかかる時間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6120" y="5029200"/>
            <a:ext cx="260604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2E5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000" b="1">
                <a:solidFill>
                  <a:srgbClr val="1F3A5C"/>
                </a:solidFill>
                <a:latin typeface="Noto Sans CJK JP"/>
                <a:ea typeface="Noto Sans CJK JP"/>
              </a:rPr>
              <a:t>数百MB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動かすのに要るメモリ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5029200"/>
            <a:ext cx="260604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000" b="1">
                <a:solidFill>
                  <a:srgbClr val="1E8A82"/>
                </a:solidFill>
                <a:latin typeface="Noto Sans CJK JP"/>
                <a:ea typeface="Noto Sans CJK JP"/>
              </a:rPr>
              <a:t>数ミリ秒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起動にかかる時間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5029200"/>
            <a:ext cx="260604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7780">
            <a:solidFill>
              <a:srgbClr val="1E8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2000" b="1">
                <a:solidFill>
                  <a:srgbClr val="1E8A82"/>
                </a:solidFill>
                <a:latin typeface="Noto Sans CJK JP"/>
                <a:ea typeface="Noto Sans CJK JP"/>
              </a:rPr>
              <a:t>数MB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CJK JP"/>
                <a:ea typeface="Noto Sans CJK JP"/>
              </a:rPr>
              <a:t>動かすのに要るメモリ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