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685800"/>
            <a:ext cx="6583680" cy="66294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2032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48056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HTTPリクエスト数（1秒あたり）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86630"/>
            <a:ext cx="1828800" cy="1997049"/>
          </a:xfrm>
          <a:prstGeom prst="rect">
            <a:avLst/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0" y="2938272"/>
            <a:ext cx="1828800" cy="3645407"/>
          </a:xfrm>
          <a:prstGeom prst="rect">
            <a:avLst/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06240" y="1828800"/>
            <a:ext cx="1828800" cy="1109472"/>
          </a:xfrm>
          <a:prstGeom prst="roundRect">
            <a:avLst>
              <a:gd name="adj" fmla="val 0"/>
            </a:avLst>
          </a:prstGeom>
          <a:noFill/>
          <a:ln w="17780">
            <a:solidFill>
              <a:srgbClr val="2E5E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037990"/>
            <a:ext cx="2377440" cy="4572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2000" b="1">
                <a:solidFill>
                  <a:srgbClr val="1F3A5C"/>
                </a:solidFill>
                <a:latin typeface="Noto Sans CJK JP"/>
                <a:ea typeface="Noto Sans CJK JP"/>
              </a:rPr>
              <a:t>6,300万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3029712"/>
            <a:ext cx="2194560" cy="4572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CJK JP"/>
                <a:ea typeface="Noto Sans CJK JP"/>
              </a:rPr>
              <a:t>1億1,500万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280160"/>
            <a:ext cx="3108960" cy="4572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2E5E8E"/>
                </a:solidFill>
                <a:latin typeface="Noto Sans CJK JP"/>
                <a:ea typeface="Noto Sans CJK JP"/>
              </a:rPr>
              <a:t>ピーク時 1億5,000万超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291840" y="3395472"/>
            <a:ext cx="822960" cy="1282598"/>
          </a:xfrm>
          <a:prstGeom prst="line">
            <a:avLst/>
          </a:prstGeom>
          <a:ln w="19050">
            <a:solidFill>
              <a:srgbClr val="2E5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377440" y="2801112"/>
            <a:ext cx="1737360" cy="4572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2000" b="1">
                <a:solidFill>
                  <a:srgbClr val="2E5E8E"/>
                </a:solidFill>
                <a:latin typeface="Noto Sans CJK JP"/>
                <a:ea typeface="Noto Sans CJK JP"/>
              </a:rPr>
              <a:t>約1.8倍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583680"/>
            <a:ext cx="5852160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88720" y="6656832"/>
            <a:ext cx="2194560" cy="4114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2024年末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6656832"/>
            <a:ext cx="2194560" cy="4114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2026年9月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685800"/>
            <a:ext cx="4389120" cy="6629400"/>
          </a:xfrm>
          <a:prstGeom prst="roundRect">
            <a:avLst>
              <a:gd name="adj" fmla="val 5000"/>
            </a:avLst>
          </a:prstGeom>
          <a:solidFill>
            <a:srgbClr val="E8F5F3"/>
          </a:solidFill>
          <a:ln w="2032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5240" y="448056"/>
            <a:ext cx="1920240" cy="475488"/>
          </a:xfrm>
          <a:prstGeom prst="roundRect">
            <a:avLst>
              <a:gd name="adj" fmla="val 50000"/>
            </a:avLst>
          </a:prstGeom>
          <a:solidFill>
            <a:srgbClr val="1E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中身の変化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280160"/>
            <a:ext cx="3931920" cy="2011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3000" b="1">
                <a:solidFill>
                  <a:srgbClr val="1E8A82"/>
                </a:solidFill>
                <a:latin typeface="Noto Sans CJK JP"/>
                <a:ea typeface="Noto Sans CJK JP"/>
              </a:rPr>
              <a:t>18倍以上</a:t>
            </a:r>
          </a:p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AIエージェントの</a:t>
            </a:r>
          </a:p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1日あたりリクエスト（1年間）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520440"/>
            <a:ext cx="3931920" cy="17830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3000" b="1">
                <a:solidFill>
                  <a:srgbClr val="C0392B"/>
                </a:solidFill>
                <a:latin typeface="Noto Sans CJK JP"/>
                <a:ea typeface="Noto Sans CJK JP"/>
              </a:rPr>
              <a:t>最大4割減</a:t>
            </a:r>
          </a:p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人からのトラフィック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（業界によっては1年未満で）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5532120"/>
            <a:ext cx="3931920" cy="1554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800" b="1">
                <a:solidFill>
                  <a:srgbClr val="2E5E8E"/>
                </a:solidFill>
                <a:latin typeface="Noto Sans CJK JP"/>
                <a:ea typeface="Noto Sans CJK JP"/>
              </a:rPr>
              <a:t>週5,000億超</a:t>
            </a:r>
          </a:p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身元が確認されたボットの</a:t>
            </a:r>
          </a:p>
          <a:p>
            <a:pPr algn="ctr"/>
            <a:r>
              <a:rPr sz="1600" b="0">
                <a:solidFill>
                  <a:srgbClr val="1F3A5C"/>
                </a:solidFill>
                <a:latin typeface="Noto Sans CJK JP"/>
                <a:ea typeface="Noto Sans CJK JP"/>
              </a:rPr>
              <a:t>リクエスト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834640"/>
            <a:ext cx="1783080" cy="1371600"/>
          </a:xfrm>
          <a:prstGeom prst="roundRect">
            <a:avLst>
              <a:gd name="adj" fmla="val 16000"/>
            </a:avLst>
          </a:prstGeom>
          <a:solidFill>
            <a:srgbClr val="2B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エージェント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Noto Sans CJK JP"/>
                <a:ea typeface="Noto Sans CJK JP"/>
              </a:rPr>
              <a:t>コードを書いた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60320" y="594360"/>
            <a:ext cx="9418320" cy="27432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2032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34639" y="356616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従来：コンテナで隔離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80" y="1051560"/>
            <a:ext cx="4526280" cy="1737360"/>
          </a:xfrm>
          <a:prstGeom prst="roundRect">
            <a:avLst>
              <a:gd name="adj" fmla="val 10000"/>
            </a:avLst>
          </a:prstGeom>
          <a:noFill/>
          <a:ln w="17780">
            <a:solidFill>
              <a:srgbClr val="C039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88920" y="123444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F3A5C"/>
                </a:solidFill>
                <a:latin typeface="Noto Sans CJK JP"/>
                <a:ea typeface="Noto Sans CJK JP"/>
              </a:rPr>
              <a:t>コンテナを作る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OSの環境を用意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23444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F3A5C"/>
                </a:solidFill>
                <a:latin typeface="Noto Sans CJK JP"/>
                <a:ea typeface="Noto Sans CJK JP"/>
              </a:rPr>
              <a:t>ランタイム起動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Node.js など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F3A5C"/>
                </a:solidFill>
                <a:latin typeface="Noto Sans CJK JP"/>
                <a:ea typeface="Noto Sans CJK JP"/>
              </a:rPr>
              <a:t>コードを実行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コンテナの中で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23444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BECEA"/>
          </a:solidFill>
          <a:ln w="1778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C0392B"/>
                </a:solidFill>
                <a:latin typeface="Noto Sans CJK JP"/>
                <a:ea typeface="Noto Sans CJK JP"/>
              </a:rPr>
              <a:t>数百ミリ秒</a:t>
            </a:r>
          </a:p>
          <a:p>
            <a:pPr algn="ctr"/>
            <a:r>
              <a:rPr sz="1500" b="0">
                <a:solidFill>
                  <a:srgbClr val="1F3A5C"/>
                </a:solidFill>
                <a:latin typeface="Noto Sans CJK JP"/>
                <a:ea typeface="Noto Sans CJK JP"/>
              </a:rPr>
              <a:t>メモリ 数百MB</a:t>
            </a:r>
          </a:p>
          <a:p>
            <a:pPr algn="ctr"/>
            <a:r>
              <a:rPr sz="1500" b="0">
                <a:solidFill>
                  <a:srgbClr val="1F3A5C"/>
                </a:solidFill>
                <a:latin typeface="Noto Sans CJK JP"/>
                <a:ea typeface="Noto Sans CJK JP"/>
              </a:rPr>
              <a:t>同時数に上限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834640"/>
            <a:ext cx="4526280" cy="4114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C0392B"/>
                </a:solidFill>
                <a:latin typeface="Noto Sans CJK JP"/>
                <a:ea typeface="Noto Sans CJK JP"/>
              </a:rPr>
              <a:t>依頼のたびに毎回やる準備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3749039"/>
            <a:ext cx="9418320" cy="2880360"/>
          </a:xfrm>
          <a:prstGeom prst="roundRect">
            <a:avLst>
              <a:gd name="adj" fmla="val 5000"/>
            </a:avLst>
          </a:prstGeom>
          <a:solidFill>
            <a:srgbClr val="E8F5F3"/>
          </a:solidFill>
          <a:ln w="2032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39" y="3511296"/>
            <a:ext cx="5852160" cy="475488"/>
          </a:xfrm>
          <a:prstGeom prst="roundRect">
            <a:avLst>
              <a:gd name="adj" fmla="val 50000"/>
            </a:avLst>
          </a:prstGeom>
          <a:solidFill>
            <a:srgbClr val="1E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アイソレートで隔離（Dynamic Workers）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206240"/>
            <a:ext cx="6858000" cy="1737360"/>
          </a:xfrm>
          <a:prstGeom prst="roundRect">
            <a:avLst>
              <a:gd name="adj" fmla="val 10000"/>
            </a:avLst>
          </a:prstGeom>
          <a:noFill/>
          <a:ln w="17780">
            <a:solidFill>
              <a:srgbClr val="1E8A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88920" y="438912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F3A5C"/>
                </a:solidFill>
                <a:latin typeface="Noto Sans CJK JP"/>
                <a:ea typeface="Noto Sans CJK JP"/>
              </a:rPr>
              <a:t>親Worker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エージェント本体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38912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F3A5C"/>
                </a:solidFill>
                <a:latin typeface="Noto Sans CJK JP"/>
                <a:ea typeface="Noto Sans CJK JP"/>
              </a:rPr>
              <a:t>アイソレート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LOADER.load()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38912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F3A5C"/>
                </a:solidFill>
                <a:latin typeface="Noto Sans CJK JP"/>
                <a:ea typeface="Noto Sans CJK JP"/>
              </a:rPr>
              <a:t>コードを実行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権限は親が制限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4389120"/>
            <a:ext cx="2011680" cy="1371600"/>
          </a:xfrm>
          <a:prstGeom prst="roundRect">
            <a:avLst>
              <a:gd name="adj" fmla="val 16000"/>
            </a:avLst>
          </a:prstGeom>
          <a:solidFill>
            <a:srgbClr val="C9E8E4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1E8A82"/>
                </a:solidFill>
                <a:latin typeface="Noto Sans CJK JP"/>
                <a:ea typeface="Noto Sans CJK JP"/>
              </a:rPr>
              <a:t>数ミリ秒</a:t>
            </a:r>
          </a:p>
          <a:p>
            <a:pPr algn="ctr"/>
            <a:r>
              <a:rPr sz="1500" b="0">
                <a:solidFill>
                  <a:srgbClr val="1F3A5C"/>
                </a:solidFill>
                <a:latin typeface="Noto Sans CJK JP"/>
                <a:ea typeface="Noto Sans CJK JP"/>
              </a:rPr>
              <a:t>メモリ 数MB</a:t>
            </a:r>
          </a:p>
          <a:p>
            <a:pPr algn="ctr"/>
            <a:r>
              <a:rPr sz="1500" b="0">
                <a:solidFill>
                  <a:srgbClr val="1F3A5C"/>
                </a:solidFill>
                <a:latin typeface="Noto Sans CJK JP"/>
                <a:ea typeface="Noto Sans CJK JP"/>
              </a:rPr>
              <a:t>依頼ごとに作成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5989320"/>
            <a:ext cx="6858000" cy="4114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1E8A82"/>
                </a:solidFill>
                <a:latin typeface="Noto Sans CJK JP"/>
                <a:ea typeface="Noto Sans CJK JP"/>
              </a:rPr>
              <a:t>すべて同じプロセスの中（ランタイムの準備は1回だけ）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1920240"/>
            <a:ext cx="320040" cy="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132320" y="1920240"/>
            <a:ext cx="320040" cy="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1920240"/>
            <a:ext cx="320040" cy="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00600" y="5074920"/>
            <a:ext cx="320040" cy="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132320" y="5074920"/>
            <a:ext cx="320040" cy="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464040" y="5074920"/>
            <a:ext cx="320040" cy="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103120" y="1920240"/>
            <a:ext cx="685800" cy="132588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3794760"/>
            <a:ext cx="685800" cy="1280160"/>
          </a:xfrm>
          <a:prstGeom prst="line">
            <a:avLst/>
          </a:prstGeom>
          <a:ln w="190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594360"/>
            <a:ext cx="5486400" cy="512064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2032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56616"/>
            <a:ext cx="1645919" cy="475488"/>
          </a:xfrm>
          <a:prstGeom prst="roundRect">
            <a:avLst>
              <a:gd name="adj" fmla="val 50000"/>
            </a:avLst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コンテナ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1554480" cy="2468879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70432"/>
            <a:ext cx="1554480" cy="384048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2E5E8E"/>
                </a:solidFill>
                <a:latin typeface="Noto Sans CJK JP"/>
                <a:ea typeface="Noto Sans CJK JP"/>
              </a:rPr>
              <a:t>コンテナ1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19" y="160020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コード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224028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ランタイム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288036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ライブラリ等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143000"/>
            <a:ext cx="1554480" cy="2468879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1170432"/>
            <a:ext cx="1554480" cy="384048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2E5E8E"/>
                </a:solidFill>
                <a:latin typeface="Noto Sans CJK JP"/>
                <a:ea typeface="Noto Sans CJK JP"/>
              </a:rPr>
              <a:t>コンテナ2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60020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コード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24028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ランタイム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88036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ライブラリ等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59" y="1143000"/>
            <a:ext cx="1554480" cy="2468879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59" y="1170432"/>
            <a:ext cx="1554480" cy="384048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2E5E8E"/>
                </a:solidFill>
                <a:latin typeface="Noto Sans CJK JP"/>
                <a:ea typeface="Noto Sans CJK JP"/>
              </a:rPr>
              <a:t>コンテナ3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9" y="160020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コード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9" y="224028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ランタイム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9" y="288036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ライブラリ等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9476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1F3A5C"/>
                </a:solidFill>
                <a:latin typeface="Noto Sans CJK JP"/>
                <a:ea typeface="Noto Sans CJK JP"/>
              </a:rPr>
              <a:t>コンテナランタイム（containerd など）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8912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1F3A5C"/>
                </a:solidFill>
                <a:latin typeface="Noto Sans CJK JP"/>
                <a:ea typeface="Noto Sans CJK JP"/>
              </a:rPr>
              <a:t>ホストOS（Linuxカーネル）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8348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1F3A5C"/>
                </a:solidFill>
                <a:latin typeface="Noto Sans CJK JP"/>
                <a:ea typeface="Noto Sans CJK JP"/>
              </a:rPr>
              <a:t>ハードウェア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594360"/>
            <a:ext cx="5486400" cy="5120640"/>
          </a:xfrm>
          <a:prstGeom prst="roundRect">
            <a:avLst>
              <a:gd name="adj" fmla="val 5000"/>
            </a:avLst>
          </a:prstGeom>
          <a:solidFill>
            <a:srgbClr val="E8F5F3"/>
          </a:solidFill>
          <a:ln w="2032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29400" y="356616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1E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  <a:ea typeface="Noto Sans CJK JP"/>
              </a:rPr>
              <a:t>アイソレート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143000"/>
            <a:ext cx="1554480" cy="1828799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170432"/>
            <a:ext cx="1554480" cy="384048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1E8A82"/>
                </a:solidFill>
                <a:latin typeface="Noto Sans CJK JP"/>
                <a:ea typeface="Noto Sans CJK JP"/>
              </a:rPr>
              <a:t>アイソレート1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60020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コード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224028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C9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専用のヒープ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1143000"/>
            <a:ext cx="1554480" cy="1828799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170432"/>
            <a:ext cx="1554480" cy="384048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1E8A82"/>
                </a:solidFill>
                <a:latin typeface="Noto Sans CJK JP"/>
                <a:ea typeface="Noto Sans CJK JP"/>
              </a:rPr>
              <a:t>アイソレート2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160020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コード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24028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C9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専用のヒープ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12680" y="1143000"/>
            <a:ext cx="1554480" cy="1828799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1170432"/>
            <a:ext cx="1554480" cy="384048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/>
            <a:r>
              <a:rPr sz="1600" b="1">
                <a:solidFill>
                  <a:srgbClr val="1E8A82"/>
                </a:solidFill>
                <a:latin typeface="Noto Sans CJK JP"/>
                <a:ea typeface="Noto Sans CJK JP"/>
              </a:rPr>
              <a:t>アイソレート3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04119" y="160020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コード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04119" y="2240280"/>
            <a:ext cx="1371600" cy="548640"/>
          </a:xfrm>
          <a:prstGeom prst="roundRect">
            <a:avLst>
              <a:gd name="adj" fmla="val 20000"/>
            </a:avLst>
          </a:prstGeom>
          <a:solidFill>
            <a:srgbClr val="C9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F3A5C"/>
                </a:solidFill>
                <a:latin typeface="Noto Sans CJK JP"/>
                <a:ea typeface="Noto Sans CJK JP"/>
              </a:rPr>
              <a:t>専用のヒープ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29400" y="320040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1E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  <a:ea typeface="Noto Sans CJK JP"/>
              </a:rPr>
              <a:t>V8エンジン（V8サンドボックス）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29400" y="379476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1E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  <a:ea typeface="Noto Sans CJK JP"/>
              </a:rPr>
              <a:t>Workersのランタイム（workerd）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29400" y="438912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1F3A5C"/>
                </a:solidFill>
                <a:latin typeface="Noto Sans CJK JP"/>
                <a:ea typeface="Noto Sans CJK JP"/>
              </a:rPr>
              <a:t>ホストOS（Linuxカーネル）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29400" y="4983480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1F3A5C"/>
                </a:solidFill>
                <a:latin typeface="Noto Sans CJK JP"/>
                <a:ea typeface="Noto Sans CJK JP"/>
              </a:rPr>
              <a:t>ハードウェア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943600"/>
            <a:ext cx="265176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000" b="1">
                <a:solidFill>
                  <a:srgbClr val="1F3A5C"/>
                </a:solidFill>
                <a:latin typeface="Noto Sans CJK JP"/>
                <a:ea typeface="Noto Sans CJK JP"/>
              </a:rPr>
              <a:t>数百ミリ秒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起動にかかる時間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00400" y="5943600"/>
            <a:ext cx="265176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000" b="1">
                <a:solidFill>
                  <a:srgbClr val="1F3A5C"/>
                </a:solidFill>
                <a:latin typeface="Noto Sans CJK JP"/>
                <a:ea typeface="Noto Sans CJK JP"/>
              </a:rPr>
              <a:t>数百MB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動かすのに要るメモリ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5943600"/>
            <a:ext cx="265176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000" b="1">
                <a:solidFill>
                  <a:srgbClr val="1E8A82"/>
                </a:solidFill>
                <a:latin typeface="Noto Sans CJK JP"/>
                <a:ea typeface="Noto Sans CJK JP"/>
              </a:rPr>
              <a:t>数ミリ秒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起動にかかる時間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5943600"/>
            <a:ext cx="265176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000" b="1">
                <a:solidFill>
                  <a:srgbClr val="1E8A82"/>
                </a:solidFill>
                <a:latin typeface="Noto Sans CJK JP"/>
                <a:ea typeface="Noto Sans CJK JP"/>
              </a:rPr>
              <a:t>数MB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CJK JP"/>
                <a:ea typeface="Noto Sans CJK JP"/>
              </a:rPr>
              <a:t>動かすのに要るメモリ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7040880"/>
            <a:ext cx="54864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2E5E8E"/>
                </a:solidFill>
                <a:latin typeface="Noto Sans CJK JP"/>
                <a:ea typeface="Noto Sans CJK JP"/>
              </a:rPr>
              <a:t>隔離：カーネルの名前空間・cgroups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7040880"/>
            <a:ext cx="54864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E8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600" b="1">
                <a:solidFill>
                  <a:srgbClr val="1E8A82"/>
                </a:solidFill>
                <a:latin typeface="Noto Sans CJK JP"/>
                <a:ea typeface="Noto Sans CJK JP"/>
              </a:rPr>
              <a:t>隔離：V8サンドボックス＋2層目のサンドボックス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