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651760"/>
            <a:ext cx="1737360" cy="128016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あなた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next / more /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todo で主導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0" y="548640"/>
            <a:ext cx="5852160" cy="5760720"/>
          </a:xfrm>
          <a:prstGeom prst="roundRect">
            <a:avLst>
              <a:gd name="adj" fmla="val 3000"/>
            </a:avLst>
          </a:prstGeom>
          <a:solidFill>
            <a:srgbClr val="E7EFF9"/>
          </a:solidFill>
          <a:ln w="25400">
            <a:solidFill>
              <a:srgbClr val="1E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907792" y="365759"/>
            <a:ext cx="4937760" cy="365760"/>
          </a:xfrm>
          <a:prstGeom prst="roundRect">
            <a:avLst>
              <a:gd name="adj" fmla="val 25000"/>
            </a:avLst>
          </a:prstGeom>
          <a:solidFill>
            <a:srgbClr val="1E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PentestGPT（対話モード・3つのLLMが協調）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4680" y="11887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E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推論セッション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次の手を考える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27889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E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生成セッション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具体的な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コマンドを作る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4389120"/>
            <a:ext cx="23774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E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解析セッション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出力を読み取り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要約する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2331720"/>
            <a:ext cx="228600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E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PTT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Pentesting Task Tree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攻撃タスクを木構造で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管理・更新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32120" y="1783080"/>
            <a:ext cx="457200" cy="960120"/>
          </a:xfrm>
          <a:prstGeom prst="line">
            <a:avLst/>
          </a:prstGeom>
          <a:ln w="25400">
            <a:solidFill>
              <a:srgbClr val="1444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5532120" y="3291840"/>
            <a:ext cx="457200" cy="91440"/>
          </a:xfrm>
          <a:prstGeom prst="line">
            <a:avLst/>
          </a:prstGeom>
          <a:ln w="25400">
            <a:solidFill>
              <a:srgbClr val="14447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532120" y="3840480"/>
            <a:ext cx="457200" cy="822960"/>
          </a:xfrm>
          <a:prstGeom prst="line">
            <a:avLst/>
          </a:prstGeom>
          <a:ln w="25400">
            <a:solidFill>
              <a:srgbClr val="1444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194560" y="1783080"/>
            <a:ext cx="960120" cy="1234440"/>
          </a:xfrm>
          <a:prstGeom prst="line">
            <a:avLst/>
          </a:prstGeom>
          <a:ln w="25400">
            <a:solidFill>
              <a:srgbClr val="1444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31720" y="2066544"/>
            <a:ext cx="64008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相談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2194560" y="3566160"/>
            <a:ext cx="960120" cy="1417320"/>
          </a:xfrm>
          <a:prstGeom prst="line">
            <a:avLst/>
          </a:prstGeom>
          <a:ln w="25400">
            <a:solidFill>
              <a:srgbClr val="1444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148839" y="4032504"/>
            <a:ext cx="10058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手順提示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651760"/>
            <a:ext cx="2560320" cy="128016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あなたが手で実行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ツールの出力を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貼り戻す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75320" y="3291840"/>
            <a:ext cx="777240" cy="0"/>
          </a:xfrm>
          <a:prstGeom prst="line">
            <a:avLst/>
          </a:prstGeom>
          <a:ln w="25400">
            <a:solidFill>
              <a:srgbClr val="5E6B7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19288" y="2980944"/>
            <a:ext cx="128016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手順⇄結果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CTFモード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E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偵察（recon）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840480" y="1554480"/>
            <a:ext cx="502920" cy="0"/>
          </a:xfrm>
          <a:prstGeom prst="line">
            <a:avLst/>
          </a:prstGeom>
          <a:ln w="25400">
            <a:solidFill>
              <a:srgbClr val="1444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584448" y="1243584"/>
            <a:ext cx="10058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引き継ぐ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0584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E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エクスプロイト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35240" y="1554480"/>
            <a:ext cx="502920" cy="0"/>
          </a:xfrm>
          <a:prstGeom prst="line">
            <a:avLst/>
          </a:prstGeom>
          <a:ln w="25400">
            <a:solidFill>
              <a:srgbClr val="1444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79208" y="1243584"/>
            <a:ext cx="10058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引き継ぐ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00584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E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解法の記録（walkthrough）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10972800" cy="3657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l"/>
            <a:r>
              <a:rPr sz="1500" b="1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ペンテストモード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1752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E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資産の発見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3566160"/>
            <a:ext cx="502920" cy="0"/>
          </a:xfrm>
          <a:prstGeom prst="line">
            <a:avLst/>
          </a:prstGeom>
          <a:ln w="25400">
            <a:solidFill>
              <a:srgbClr val="1444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84448" y="3255264"/>
            <a:ext cx="10058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引き継ぐ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01752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E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脆弱性の特定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3566160"/>
            <a:ext cx="502920" cy="0"/>
          </a:xfrm>
          <a:prstGeom prst="line">
            <a:avLst/>
          </a:prstGeom>
          <a:ln w="25400">
            <a:solidFill>
              <a:srgbClr val="14447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79208" y="3255264"/>
            <a:ext cx="10058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引き継ぐ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017520"/>
            <a:ext cx="32918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E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レポート作成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63440"/>
            <a:ext cx="11247120" cy="1691640"/>
          </a:xfrm>
          <a:prstGeom prst="roundRect">
            <a:avLst>
              <a:gd name="adj" fmla="val 3000"/>
            </a:avLst>
          </a:prstGeom>
          <a:solidFill>
            <a:srgbClr val="E7EFF9"/>
          </a:solidFill>
          <a:ln w="25400">
            <a:solidFill>
              <a:srgbClr val="1E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3232" y="4480559"/>
            <a:ext cx="6035040" cy="365760"/>
          </a:xfrm>
          <a:prstGeom prst="roundRect">
            <a:avLst>
              <a:gd name="adj" fmla="val 25000"/>
            </a:avLst>
          </a:prstGeom>
          <a:solidFill>
            <a:srgbClr val="1E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段階ごとに実行役のコーディングエージェントを駆動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5257800"/>
            <a:ext cx="329184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E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Claude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5257800"/>
            <a:ext cx="3291840" cy="777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1E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14447B"/>
                </a:solidFill>
                <a:latin typeface="Hiragino Sans"/>
                <a:ea typeface="Hiragino Sans"/>
                <a:cs typeface="Hiragino Sans"/>
              </a:rPr>
              <a:t>Codex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