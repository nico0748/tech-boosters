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743200"/>
            <a:ext cx="1417320" cy="11887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2222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ユーザー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目的を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自然文で指示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31720" y="594360"/>
            <a:ext cx="5760720" cy="5760720"/>
          </a:xfrm>
          <a:prstGeom prst="roundRect">
            <a:avLst>
              <a:gd name="adj" fmla="val 3000"/>
            </a:avLst>
          </a:prstGeom>
          <a:solidFill>
            <a:srgbClr val="E4F2EF"/>
          </a:solidFill>
          <a:ln w="25400">
            <a:solidFill>
              <a:srgbClr val="126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96312" y="411480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126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PentAGI（自分のサーバーで自己ホスト）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97480" y="1234440"/>
            <a:ext cx="22860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26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C5048"/>
                </a:solidFill>
                <a:latin typeface="Hiragino Sans"/>
                <a:ea typeface="Hiragino Sans"/>
                <a:cs typeface="Hiragino Sans"/>
              </a:rPr>
              <a:t>オーケストレータ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タスクを分解し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担当を割り振る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97480" y="2743200"/>
            <a:ext cx="22860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26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C5048"/>
                </a:solidFill>
                <a:latin typeface="Hiragino Sans"/>
                <a:ea typeface="Hiragino Sans"/>
                <a:cs typeface="Hiragino Sans"/>
              </a:rPr>
              <a:t>専門エージェント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調査・開発・実行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を分担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4251960"/>
            <a:ext cx="228600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26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C5048"/>
                </a:solidFill>
                <a:latin typeface="Hiragino Sans"/>
                <a:ea typeface="Hiragino Sans"/>
                <a:cs typeface="Hiragino Sans"/>
              </a:rPr>
              <a:t>ベクトルDB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PostgreSQL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+ pgvector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40680" y="2286000"/>
            <a:ext cx="233172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26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0C5048"/>
                </a:solidFill>
                <a:latin typeface="Hiragino Sans"/>
                <a:ea typeface="Hiragino Sans"/>
                <a:cs typeface="Hiragino Sans"/>
              </a:rPr>
              <a:t>ツール実行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Dockerサンドボックス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nmap・sqlmap・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Metasploit ほか20種超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828800" y="1783080"/>
            <a:ext cx="868680" cy="1508760"/>
          </a:xfrm>
          <a:prstGeom prst="line">
            <a:avLst/>
          </a:prstGeom>
          <a:ln w="25400">
            <a:solidFill>
              <a:srgbClr val="0C5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965960" y="2157984"/>
            <a:ext cx="54864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指示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828800" y="3291840"/>
            <a:ext cx="868680" cy="0"/>
          </a:xfrm>
          <a:prstGeom prst="line">
            <a:avLst/>
          </a:prstGeom>
          <a:ln w="25400">
            <a:solidFill>
              <a:srgbClr val="0C5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965960" y="3300984"/>
            <a:ext cx="54864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報告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40480" y="2331720"/>
            <a:ext cx="0" cy="411480"/>
          </a:xfrm>
          <a:prstGeom prst="line">
            <a:avLst/>
          </a:prstGeom>
          <a:ln w="25400">
            <a:solidFill>
              <a:srgbClr val="0C504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931920" y="2404872"/>
            <a:ext cx="64008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0C5048"/>
                </a:solidFill>
                <a:latin typeface="Hiragino Sans"/>
                <a:ea typeface="Hiragino Sans"/>
                <a:cs typeface="Hiragino Sans"/>
              </a:rPr>
              <a:t>委任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40480" y="3840480"/>
            <a:ext cx="0" cy="411480"/>
          </a:xfrm>
          <a:prstGeom prst="line">
            <a:avLst/>
          </a:prstGeom>
          <a:ln w="25400">
            <a:solidFill>
              <a:srgbClr val="0C504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931920" y="3913631"/>
            <a:ext cx="640080" cy="274320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l"/>
            <a:r>
              <a:rPr sz="1200" b="0">
                <a:solidFill>
                  <a:srgbClr val="0C5048"/>
                </a:solidFill>
                <a:latin typeface="Hiragino Sans"/>
                <a:ea typeface="Hiragino Sans"/>
                <a:cs typeface="Hiragino Sans"/>
              </a:rPr>
              <a:t>記憶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3246120"/>
            <a:ext cx="457200" cy="0"/>
          </a:xfrm>
          <a:prstGeom prst="line">
            <a:avLst/>
          </a:prstGeom>
          <a:ln w="25400">
            <a:solidFill>
              <a:srgbClr val="0C504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937760" y="2935224"/>
            <a:ext cx="54864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0C5048"/>
                </a:solidFill>
                <a:latin typeface="Hiragino Sans"/>
                <a:ea typeface="Hiragino Sans"/>
                <a:cs typeface="Hiragino Sans"/>
              </a:rPr>
              <a:t>実行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49640" y="594360"/>
            <a:ext cx="3246120" cy="1737360"/>
          </a:xfrm>
          <a:prstGeom prst="roundRect">
            <a:avLst>
              <a:gd name="adj" fmla="val 3000"/>
            </a:avLst>
          </a:prstGeom>
          <a:solidFill>
            <a:srgbClr val="F1F3F4"/>
          </a:solidFill>
          <a:ln w="25400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41148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BC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外部サービス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23960" y="1005840"/>
            <a:ext cx="269748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LLMプロバイダ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1691640"/>
            <a:ext cx="269748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検索システム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092440" y="1463040"/>
            <a:ext cx="457200" cy="0"/>
          </a:xfrm>
          <a:prstGeom prst="line">
            <a:avLst/>
          </a:prstGeom>
          <a:ln w="25400">
            <a:solidFill>
              <a:srgbClr val="5E6B7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968996" y="1152144"/>
            <a:ext cx="704088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49640" y="2697480"/>
            <a:ext cx="3246120" cy="1417320"/>
          </a:xfrm>
          <a:prstGeom prst="roundRect">
            <a:avLst>
              <a:gd name="adj" fmla="val 3000"/>
            </a:avLst>
          </a:prstGeom>
          <a:solidFill>
            <a:srgbClr val="F1F3F4"/>
          </a:solidFill>
          <a:ln w="25400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714232" y="2514600"/>
            <a:ext cx="1828800" cy="365760"/>
          </a:xfrm>
          <a:prstGeom prst="roundRect">
            <a:avLst>
              <a:gd name="adj" fmla="val 25000"/>
            </a:avLst>
          </a:prstGeom>
          <a:solidFill>
            <a:srgbClr val="BC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標的システム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154680"/>
            <a:ext cx="3017520" cy="82296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3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許可を得た</a:t>
            </a:r>
          </a:p>
          <a:p>
            <a:pPr algn="ctr"/>
            <a:r>
              <a:rPr sz="13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検証環境だけを対象にする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772400" y="3246120"/>
            <a:ext cx="777240" cy="45720"/>
          </a:xfrm>
          <a:prstGeom prst="line">
            <a:avLst/>
          </a:prstGeom>
          <a:ln w="25400">
            <a:solidFill>
              <a:srgbClr val="0C50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549640" y="4526280"/>
            <a:ext cx="3246120" cy="1828800"/>
          </a:xfrm>
          <a:prstGeom prst="roundRect">
            <a:avLst>
              <a:gd name="adj" fmla="val 3000"/>
            </a:avLst>
          </a:prstGeom>
          <a:solidFill>
            <a:srgbClr val="F1F3F4"/>
          </a:solidFill>
          <a:ln w="25400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714232" y="4343400"/>
            <a:ext cx="1737360" cy="365760"/>
          </a:xfrm>
          <a:prstGeom prst="roundRect">
            <a:avLst>
              <a:gd name="adj" fmla="val 25000"/>
            </a:avLst>
          </a:prstGeom>
          <a:solidFill>
            <a:srgbClr val="BCC5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監視・分析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823960" y="4983480"/>
            <a:ext cx="269748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Langfuse（LLM分析）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23960" y="5641848"/>
            <a:ext cx="269748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Grafana（システム監視）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40680" y="4800600"/>
            <a:ext cx="3108960" cy="594360"/>
          </a:xfrm>
          <a:prstGeom prst="line">
            <a:avLst/>
          </a:prstGeom>
          <a:ln w="25400">
            <a:solidFill>
              <a:srgbClr val="BCC5C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46520" y="4946904"/>
            <a:ext cx="1005840" cy="274320"/>
          </a:xfrm>
          <a:prstGeom prst="rect">
            <a:avLst/>
          </a:prstGeom>
          <a:noFill/>
        </p:spPr>
        <p:txBody>
          <a:bodyPr wrap="square" anchor="b" lIns="54864" rIns="54864" tIns="27432" bIns="27432">
            <a:spAutoFit/>
          </a:bodyPr>
          <a:lstStyle/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ログ送信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800600" y="68580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E4F2EF"/>
          </a:solidFill>
          <a:ln w="22225">
            <a:solidFill>
              <a:srgbClr val="126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0C5048"/>
                </a:solidFill>
                <a:latin typeface="Hiragino Sans"/>
                <a:ea typeface="Hiragino Sans"/>
                <a:cs typeface="Hiragino Sans"/>
              </a:rPr>
              <a:t>オーケストレータ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全体を指揮し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担当を決める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840" y="2423160"/>
            <a:ext cx="25603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26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C5048"/>
                </a:solidFill>
                <a:latin typeface="Hiragino Sans"/>
                <a:ea typeface="Hiragino Sans"/>
                <a:cs typeface="Hiragino Sans"/>
              </a:rPr>
              <a:t>調査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情報収集・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脆弱性の下調べ</a:t>
            </a:r>
          </a:p>
        </p:txBody>
      </p:sp>
      <p:cxnSp>
        <p:nvCxnSpPr>
          <p:cNvPr id="4" name="Connector 3"/>
          <p:cNvCxnSpPr/>
          <p:nvPr/>
        </p:nvCxnSpPr>
        <p:spPr>
          <a:xfrm flipH="1">
            <a:off x="2286000" y="1828800"/>
            <a:ext cx="3813048" cy="594360"/>
          </a:xfrm>
          <a:prstGeom prst="line">
            <a:avLst/>
          </a:prstGeom>
          <a:ln w="25400">
            <a:solidFill>
              <a:srgbClr val="0C504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800600" y="2423160"/>
            <a:ext cx="25603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26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C5048"/>
                </a:solidFill>
                <a:latin typeface="Hiragino Sans"/>
                <a:ea typeface="Hiragino Sans"/>
                <a:cs typeface="Hiragino Sans"/>
              </a:rPr>
              <a:t>開発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攻撃コードや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スクリプトを書く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6080760" y="1828800"/>
            <a:ext cx="18288" cy="594360"/>
          </a:xfrm>
          <a:prstGeom prst="line">
            <a:avLst/>
          </a:prstGeom>
          <a:ln w="25400">
            <a:solidFill>
              <a:srgbClr val="0C504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595360" y="2423160"/>
            <a:ext cx="25603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26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0C5048"/>
                </a:solidFill>
                <a:latin typeface="Hiragino Sans"/>
                <a:ea typeface="Hiragino Sans"/>
                <a:cs typeface="Hiragino Sans"/>
              </a:rPr>
              <a:t>実行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ツールを動かし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攻撃を試す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9048" y="1828800"/>
            <a:ext cx="3776472" cy="594360"/>
          </a:xfrm>
          <a:prstGeom prst="line">
            <a:avLst/>
          </a:prstGeom>
          <a:ln w="25400">
            <a:solidFill>
              <a:srgbClr val="0C5048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05840" y="3749039"/>
            <a:ext cx="10058400" cy="320040"/>
          </a:xfrm>
          <a:prstGeom prst="rect">
            <a:avLst/>
          </a:prstGeom>
          <a:noFill/>
        </p:spPr>
        <p:txBody>
          <a:bodyPr wrap="square" anchor="t" lIns="54864" rIns="54864" tIns="27432" bIns="27432">
            <a:spAutoFit/>
          </a:bodyPr>
          <a:lstStyle/>
          <a:p>
            <a:pPr algn="ctr"/>
            <a:r>
              <a:rPr sz="13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↓　補助役がそれぞれを支える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16052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2222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検索役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最新情報を探す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416052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2222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記憶役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過去の成果を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呼び出す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416052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2222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導入役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環境構築・設定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89720" y="416052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 w="22225">
            <a:solidFill>
              <a:srgbClr val="BCC5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223344"/>
                </a:solidFill>
                <a:latin typeface="Hiragino Sans"/>
                <a:ea typeface="Hiragino Sans"/>
                <a:cs typeface="Hiragino Sans"/>
              </a:rPr>
              <a:t>メンター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行き詰まりを</a:t>
            </a:r>
          </a:p>
          <a:p>
            <a:pPr algn="ctr"/>
            <a:r>
              <a:rPr sz="1200" b="0">
                <a:solidFill>
                  <a:srgbClr val="5E6B78"/>
                </a:solidFill>
                <a:latin typeface="Hiragino Sans"/>
                <a:ea typeface="Hiragino Sans"/>
                <a:cs typeface="Hiragino Sans"/>
              </a:rPr>
              <a:t>検知し助言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5623560"/>
            <a:ext cx="4297680" cy="868680"/>
          </a:xfrm>
          <a:prstGeom prst="roundRect">
            <a:avLst>
              <a:gd name="adj" fmla="val 8000"/>
            </a:avLst>
          </a:prstGeom>
          <a:solidFill>
            <a:srgbClr val="E4F2EF"/>
          </a:solidFill>
          <a:ln w="22225">
            <a:solidFill>
              <a:srgbClr val="126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0C5048"/>
                </a:solidFill>
                <a:latin typeface="Hiragino Sans"/>
                <a:ea typeface="Hiragino Sans"/>
                <a:cs typeface="Hiragino Sans"/>
              </a:rPr>
              <a:t>長期メモリ：ベクトルDBに成果を蓄積して次に活かす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